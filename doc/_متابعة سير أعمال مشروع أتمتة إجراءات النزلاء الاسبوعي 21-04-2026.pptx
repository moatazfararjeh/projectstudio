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6"/>
    <p:sldMasterId id="2147483673" r:id="rId7"/>
  </p:sldMasterIdLst>
  <p:notesMasterIdLst>
    <p:notesMasterId r:id="rId24"/>
  </p:notesMasterIdLst>
  <p:handoutMasterIdLst>
    <p:handoutMasterId r:id="rId25"/>
  </p:handoutMasterIdLst>
  <p:sldIdLst>
    <p:sldId id="524" r:id="rId8"/>
    <p:sldId id="261" r:id="rId9"/>
    <p:sldId id="269" r:id="rId10"/>
    <p:sldId id="624" r:id="rId11"/>
    <p:sldId id="649" r:id="rId12"/>
    <p:sldId id="660" r:id="rId13"/>
    <p:sldId id="661" r:id="rId14"/>
    <p:sldId id="662" r:id="rId15"/>
    <p:sldId id="642" r:id="rId16"/>
    <p:sldId id="651" r:id="rId17"/>
    <p:sldId id="644" r:id="rId18"/>
    <p:sldId id="653" r:id="rId19"/>
    <p:sldId id="558" r:id="rId20"/>
    <p:sldId id="575" r:id="rId21"/>
    <p:sldId id="659" r:id="rId22"/>
    <p:sldId id="564" r:id="rId23"/>
  </p:sldIdLst>
  <p:sldSz cx="12192000" cy="6858000"/>
  <p:notesSz cx="7023100" cy="9309100"/>
  <p:embeddedFontLst>
    <p:embeddedFont>
      <p:font typeface="Microsoft Sans Serif" panose="020B0604020202020204" pitchFamily="34" charset="0"/>
      <p:regular r:id="rId26"/>
    </p:embeddedFont>
    <p:embeddedFont>
      <p:font typeface="Sakkal Majalla" panose="02000000000000000000" pitchFamily="2" charset="-78"/>
      <p:regular r:id="rId27"/>
      <p:bold r:id="rId28"/>
    </p:embeddedFont>
    <p:embeddedFont>
      <p:font typeface="Tahoma" panose="020B0604030504040204" pitchFamily="34" charset="0"/>
      <p:regular r:id="rId29"/>
      <p:bold r:id="rId30"/>
    </p:embeddedFont>
    <p:embeddedFont>
      <p:font typeface="Tajawal" panose="020B0604020202020204" charset="-78"/>
      <p:regular r:id="rId31"/>
      <p:bold r:id="rId32"/>
    </p:embeddedFont>
  </p:embeddedFontLst>
  <p:custDataLst>
    <p:tags r:id="rId3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32997AE-031E-0884-9555-02638A0E2F55}" name="Abdallah Mohamed Khalil" initials="AK" userId="S::amkhalil@Netways.com::8b739f67-3b57-461e-9c43-a55b95a0c3e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irij Qureshi" initials="EQ" lastIdx="1" clrIdx="0">
    <p:extLst>
      <p:ext uri="{19B8F6BF-5375-455C-9EA6-DF929625EA0E}">
        <p15:presenceInfo xmlns:p15="http://schemas.microsoft.com/office/powerpoint/2012/main" userId="a871a3c7f7e29ee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  <a:srgbClr val="F04C3E"/>
    <a:srgbClr val="048B96"/>
    <a:srgbClr val="00ABC8"/>
    <a:srgbClr val="92D050"/>
    <a:srgbClr val="A6A6A6"/>
    <a:srgbClr val="FFC000"/>
    <a:srgbClr val="E5E8EC"/>
    <a:srgbClr val="FF0000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791C52-EA02-4037-84A9-78F361EC1C39}" v="26" dt="2026-04-21T06:58:12.5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9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font" Target="fonts/font1.fntdata"/><Relationship Id="rId39" Type="http://schemas.microsoft.com/office/2015/10/relationships/revisionInfo" Target="revisionInfo.xml"/><Relationship Id="rId21" Type="http://schemas.openxmlformats.org/officeDocument/2006/relationships/slide" Target="slides/slide14.xml"/><Relationship Id="rId34" Type="http://schemas.openxmlformats.org/officeDocument/2006/relationships/commentAuthors" Target="commentAuthors.xml"/><Relationship Id="rId7" Type="http://schemas.openxmlformats.org/officeDocument/2006/relationships/slideMaster" Target="slideMasters/slideMaster2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handoutMaster" Target="handoutMasters/handoutMaster1.xml"/><Relationship Id="rId33" Type="http://schemas.openxmlformats.org/officeDocument/2006/relationships/tags" Target="tags/tag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4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7.fntdata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customXml" Target="../customXml/item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font" Target="fonts/font3.fntdata"/><Relationship Id="rId36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font" Target="fonts/font6.fntdata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presProps" Target="presProp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057250223999359"/>
          <c:y val="0.20063765815566328"/>
          <c:w val="0.65722700455861116"/>
          <c:h val="0.7860305465262817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Number</c:v>
                </c:pt>
              </c:strCache>
            </c:strRef>
          </c:tx>
          <c:spPr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</c:spPr>
          <c:explosion val="2"/>
          <c:dPt>
            <c:idx val="0"/>
            <c:bubble3D val="0"/>
            <c:explosion val="0"/>
            <c:spPr>
              <a:solidFill>
                <a:srgbClr val="048B96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</c:spPr>
            <c:extLst>
              <c:ext xmlns:c16="http://schemas.microsoft.com/office/drawing/2014/chart" uri="{C3380CC4-5D6E-409C-BE32-E72D297353CC}">
                <c16:uniqueId val="{00000001-C1A2-492E-9AA2-19129435ACAA}"/>
              </c:ext>
            </c:extLst>
          </c:dPt>
          <c:dPt>
            <c:idx val="1"/>
            <c:bubble3D val="0"/>
            <c:explosion val="12"/>
            <c:spPr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</c:spPr>
            <c:extLst>
              <c:ext xmlns:c16="http://schemas.microsoft.com/office/drawing/2014/chart" uri="{C3380CC4-5D6E-409C-BE32-E72D297353CC}">
                <c16:uniqueId val="{00000003-C1A2-492E-9AA2-19129435ACAA}"/>
              </c:ext>
            </c:extLst>
          </c:dPt>
          <c:dLbls>
            <c:dLbl>
              <c:idx val="0"/>
              <c:layout>
                <c:manualLayout>
                  <c:x val="8.9324257458844297E-3"/>
                  <c:y val="0.2466208335521122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747986745617036"/>
                      <c:h val="0.32277505621717945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C1A2-492E-9AA2-19129435ACAA}"/>
                </c:ext>
              </c:extLst>
            </c:dLbl>
            <c:dLbl>
              <c:idx val="1"/>
              <c:layout>
                <c:manualLayout>
                  <c:x val="-6.9662807328856449E-2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987964213595092"/>
                      <c:h val="0.3555013079394809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C1A2-492E-9AA2-19129435ACA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المنجز</c:v>
                </c:pt>
                <c:pt idx="1">
                  <c:v>المتبقي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</c:v>
                </c:pt>
                <c:pt idx="1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1A2-492E-9AA2-19129435ACAA}"/>
            </c:ext>
          </c:extLst>
        </c:ser>
        <c:ser>
          <c:idx val="1"/>
          <c:order val="1"/>
          <c:tx>
            <c:strRef>
              <c:f>Sheet1!#REF!</c:f>
              <c:strCache>
                <c:ptCount val="1"/>
                <c:pt idx="0">
                  <c:v>#REF!</c:v>
                </c:pt>
              </c:strCache>
            </c:strRef>
          </c:tx>
          <c:spPr>
            <a:ln>
              <a:noFill/>
            </a:ln>
            <a:scene3d>
              <a:camera prst="orthographicFront"/>
              <a:lightRig rig="threePt" dir="t"/>
            </a:scene3d>
          </c:spPr>
          <c:dPt>
            <c:idx val="0"/>
            <c:bubble3D val="0"/>
            <c:spPr>
              <a:solidFill>
                <a:srgbClr val="5EA1BA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</c:spPr>
            <c:extLst>
              <c:ext xmlns:c16="http://schemas.microsoft.com/office/drawing/2014/chart" uri="{C3380CC4-5D6E-409C-BE32-E72D297353CC}">
                <c16:uniqueId val="{00000008-C1A2-492E-9AA2-19129435ACAA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C1A2-492E-9AA2-19129435ACA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المنجز</c:v>
                </c:pt>
                <c:pt idx="1">
                  <c:v>المتبقي</c:v>
                </c:pt>
              </c:strCache>
            </c:str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C1A2-492E-9AA2-19129435ACAA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1586557363895317"/>
          <c:y val="0"/>
          <c:w val="0.7727910988672988"/>
          <c:h val="0.1865313651548395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057250223999359"/>
          <c:y val="0.20063765815566328"/>
          <c:w val="0.65722700455861116"/>
          <c:h val="0.7860305465262817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Number</c:v>
                </c:pt>
              </c:strCache>
            </c:strRef>
          </c:tx>
          <c:spPr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</c:spPr>
          <c:explosion val="2"/>
          <c:dPt>
            <c:idx val="0"/>
            <c:bubble3D val="0"/>
            <c:explosion val="0"/>
            <c:spPr>
              <a:solidFill>
                <a:srgbClr val="048B96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</c:spPr>
            <c:extLst>
              <c:ext xmlns:c16="http://schemas.microsoft.com/office/drawing/2014/chart" uri="{C3380CC4-5D6E-409C-BE32-E72D297353CC}">
                <c16:uniqueId val="{00000001-516E-46FF-95C2-CCF72391F9C5}"/>
              </c:ext>
            </c:extLst>
          </c:dPt>
          <c:dPt>
            <c:idx val="1"/>
            <c:bubble3D val="0"/>
            <c:explosion val="12"/>
            <c:spPr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</c:spPr>
            <c:extLst>
              <c:ext xmlns:c16="http://schemas.microsoft.com/office/drawing/2014/chart" uri="{C3380CC4-5D6E-409C-BE32-E72D297353CC}">
                <c16:uniqueId val="{00000003-516E-46FF-95C2-CCF72391F9C5}"/>
              </c:ext>
            </c:extLst>
          </c:dPt>
          <c:dLbls>
            <c:dLbl>
              <c:idx val="0"/>
              <c:layout>
                <c:manualLayout>
                  <c:x val="-9.5561464399974219E-2"/>
                  <c:y val="0.18103046089010391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197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7FD87B33-8460-4DC2-B1C3-E9ECFB04F958}" type="PERCENTAGE">
                      <a:rPr lang="en-US" smtClean="0"/>
                      <a:pPr>
                        <a:defRPr sz="1197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[PERCENTAGE]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747986745617036"/>
                      <c:h val="0.32277505621717945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516E-46FF-95C2-CCF72391F9C5}"/>
                </c:ext>
              </c:extLst>
            </c:dLbl>
            <c:dLbl>
              <c:idx val="1"/>
              <c:layout>
                <c:manualLayout>
                  <c:x val="-3.1136665505953656E-17"/>
                  <c:y val="5.465930306924633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987964213595092"/>
                      <c:h val="0.3555013079394809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516E-46FF-95C2-CCF72391F9C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المخطط</c:v>
                </c:pt>
                <c:pt idx="1">
                  <c:v>المتبقي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16E-46FF-95C2-CCF72391F9C5}"/>
            </c:ext>
          </c:extLst>
        </c:ser>
        <c:ser>
          <c:idx val="1"/>
          <c:order val="1"/>
          <c:tx>
            <c:strRef>
              <c:f>Sheet1!#REF!</c:f>
              <c:strCache>
                <c:ptCount val="1"/>
                <c:pt idx="0">
                  <c:v>#REF!</c:v>
                </c:pt>
              </c:strCache>
            </c:strRef>
          </c:tx>
          <c:spPr>
            <a:ln>
              <a:noFill/>
            </a:ln>
            <a:scene3d>
              <a:camera prst="orthographicFront"/>
              <a:lightRig rig="threePt" dir="t"/>
            </a:scene3d>
          </c:spPr>
          <c:dPt>
            <c:idx val="0"/>
            <c:bubble3D val="0"/>
            <c:spPr>
              <a:solidFill>
                <a:srgbClr val="5EA1BA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</c:spPr>
            <c:extLst>
              <c:ext xmlns:c16="http://schemas.microsoft.com/office/drawing/2014/chart" uri="{C3380CC4-5D6E-409C-BE32-E72D297353CC}">
                <c16:uniqueId val="{00000006-516E-46FF-95C2-CCF72391F9C5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16E-46FF-95C2-CCF72391F9C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المخطط</c:v>
                </c:pt>
                <c:pt idx="1">
                  <c:v>المتبقي</c:v>
                </c:pt>
              </c:strCache>
            </c:str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516E-46FF-95C2-CCF72391F9C5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1586557363895317"/>
          <c:y val="0"/>
          <c:w val="0.7727910988672988"/>
          <c:h val="0.1865313651548395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291D0DB9-D151-425C-904D-633F731DCF1E}" type="datetimeFigureOut">
              <a:rPr lang="en-US" smtClean="0"/>
              <a:t>21/04/2026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ACD2021D-EF99-4F35-9367-6B955BC9E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1844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674F5CC4-7400-4F83-AF17-37D5320EBF53}" type="datetimeFigureOut">
              <a:rPr lang="en-US" smtClean="0"/>
              <a:t>21/04/2026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15FC0EB6-7143-49CD-A201-6D2F75F291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4634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C0EB6-7143-49CD-A201-6D2F75F2916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3606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7E4A2-A1B9-4569-B266-FF9ACD41944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704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33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33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3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17E4A2-A1B9-4569-B266-FF9ACD41944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32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1282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C0EB6-7143-49CD-A201-6D2F75F2916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543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7C6A0-9C46-42D2-A2A6-141FB2098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0F6D96-91FE-6E08-9FBA-9B22290008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6D10E4-585C-53C8-B349-90AEFF4005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6C45E7A-358F-9581-AD50-4F6F7FEF9CA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41014-5F1F-D37F-1E46-42A3E8060DE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28DA0-5F64-8B03-4DC7-C04D321B2F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C0EB6-7143-49CD-A201-6D2F75F2916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185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FD939-B9D8-D660-AF18-F0586EC35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0CD437-A7F0-514F-0433-B858AF1D4C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B5B0FC-404B-7AD8-B85C-CA4B647C20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AC99A28-2BA0-1D32-B4D7-9507ECE712F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66ED6-6DED-1063-4737-6303BEC921C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4C000-0D65-1C3C-1123-C32FFC0702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C0EB6-7143-49CD-A201-6D2F75F2916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4954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53010-F0E9-83FA-6A7E-25B860964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73B78E-B88F-BACC-9D5E-7728D41D31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24EEFC-AEDE-115E-4B4E-A2DBFBC45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DE066A0-7321-7FDE-1A1A-00DDC64D3DA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316DC-894E-FB76-F79B-3A584A9CC21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67BCF-98B8-4E65-F9CB-5F97AC0C32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C0EB6-7143-49CD-A201-6D2F75F2916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77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47633-53F7-6633-395D-7A6ECE9C9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E60D72-1BE7-BED2-6DF8-D819EC64EF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F624A7-11D2-53D9-1A46-BE2FAFB1E5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AA7E4AA-6FA5-8B6A-475D-A8EB73EBCA7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313D4-BF90-0916-4C38-355C4A059EE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32C38-892C-5AC6-86D2-6C2FB69B4A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C0EB6-7143-49CD-A201-6D2F75F2916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2425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F76B6-9711-F7C8-799D-3924E17A6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5FA2FF-4739-843B-547E-409C7656B3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72B2CE-67C3-B697-B258-CD722DB5D0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DACC83D-02E2-02A3-7E27-5ED74F03E24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33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3A553-BE4C-99D7-E77C-DE8ED615D27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33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F599B-A1CC-E4EA-229E-FD523491EE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3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17E4A2-A1B9-4569-B266-FF9ACD41944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32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04477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86FC9-A259-D288-4338-015BBDC1C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FDD1A2-AA3F-8964-CE91-8739BFFF5E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296397-9F33-3F39-AE0B-FA18D62EB8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466DB94-42ED-D820-62E8-EE1A0AAEE68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D69AF-1920-A1A0-2B70-EAA0FD4710E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63FE8-23EB-5A37-BD62-BA8A59EEA8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C0EB6-7143-49CD-A201-6D2F75F2916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9413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C0EB6-7143-49CD-A201-6D2F75F2916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2930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BC001-0992-1914-E337-1BE352F37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228B15-4BFB-8BE3-F206-77295A1EE6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E0147F-DFBF-F936-A73E-1111EC5F3F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BBE0269-6FC0-D762-71F4-7C95102A389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1CE31-A063-08DB-8CF9-676E5E99D60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34A97-47F5-EEA9-842E-C6790A3A15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C0EB6-7143-49CD-A201-6D2F75F2916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1554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33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33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3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17E4A2-A1B9-4569-B266-FF9ACD41944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32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64276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7E4A2-A1B9-4569-B266-FF9ACD41944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1056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FC370-CBBF-F9E5-B325-B49B6D1DC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E4A775-71EF-33C4-1737-DF18DB3A7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163BBD-9D14-8D1D-1A90-21B9CD92E5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C17831F-D670-C552-277F-AD19D9EE054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E8621-C320-23EB-363E-51028D71ABF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CBF55-83D5-D2AB-B674-EDBA061268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7E4A2-A1B9-4569-B266-FF9ACD41944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9192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33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33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3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17E4A2-A1B9-4569-B266-FF9ACD41944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32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2461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6.png"/><Relationship Id="rId7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7.png"/><Relationship Id="rId10" Type="http://schemas.openxmlformats.org/officeDocument/2006/relationships/image" Target="../media/image5.png"/><Relationship Id="rId4" Type="http://schemas.microsoft.com/office/2007/relationships/hdphoto" Target="../media/hdphoto1.wdp"/><Relationship Id="rId9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7.xml"/><Relationship Id="rId7" Type="http://schemas.openxmlformats.org/officeDocument/2006/relationships/image" Target="../media/image9.emf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12.png"/><Relationship Id="rId5" Type="http://schemas.openxmlformats.org/officeDocument/2006/relationships/slideMaster" Target="../slideMasters/slideMaster1.xml"/><Relationship Id="rId10" Type="http://schemas.openxmlformats.org/officeDocument/2006/relationships/oleObject" Target="../embeddings/oleObject5.bin"/><Relationship Id="rId4" Type="http://schemas.openxmlformats.org/officeDocument/2006/relationships/tags" Target="../tags/tag8.xml"/><Relationship Id="rId9" Type="http://schemas.openxmlformats.org/officeDocument/2006/relationships/image" Target="../media/image11.jpe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7BA58F7-1417-4432-83FE-F47AAC0815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187" t="3486" r="14380" b="10808"/>
          <a:stretch/>
        </p:blipFill>
        <p:spPr>
          <a:xfrm>
            <a:off x="0" y="0"/>
            <a:ext cx="6596109" cy="6858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3126798" y="0"/>
            <a:ext cx="9102147" cy="6858000"/>
          </a:xfrm>
          <a:prstGeom prst="rect">
            <a:avLst/>
          </a:prstGeom>
        </p:spPr>
      </p:pic>
      <p:graphicFrame>
        <p:nvGraphicFramePr>
          <p:cNvPr id="11" name="Object 10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95" imgH="396" progId="TCLayout.ActiveDocument.1">
                  <p:embed/>
                </p:oleObj>
              </mc:Choice>
              <mc:Fallback>
                <p:oleObj name="think-cell Slide" r:id="rId6" imgW="395" imgH="396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04742" y="1801502"/>
            <a:ext cx="5724525" cy="1558119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5500" b="1">
                <a:solidFill>
                  <a:schemeClr val="bg1"/>
                </a:solidFill>
                <a:latin typeface="Tahoma" panose="020B060403050404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304742" y="3990517"/>
            <a:ext cx="5724525" cy="30777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buNone/>
              <a:defRPr sz="2000" b="0">
                <a:solidFill>
                  <a:schemeClr val="accent4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dd/mm/</a:t>
            </a:r>
            <a:r>
              <a:rPr lang="en-US" err="1"/>
              <a:t>yyyy</a:t>
            </a:r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1C3A4879-DCDA-481B-8D06-58579458ADB7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72857" y="63535"/>
            <a:ext cx="1756410" cy="1221850"/>
          </a:xfrm>
          <a:prstGeom prst="rect">
            <a:avLst/>
          </a:prstGeom>
        </p:spPr>
      </p:pic>
      <p:pic>
        <p:nvPicPr>
          <p:cNvPr id="24" name="Picture 2" descr="شعار وزارة الداخلية Download png">
            <a:extLst>
              <a:ext uri="{FF2B5EF4-FFF2-40B4-BE49-F238E27FC236}">
                <a16:creationId xmlns:a16="http://schemas.microsoft.com/office/drawing/2014/main" id="{ABCE5918-4F56-1395-A1B3-555910E91DA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1698" y="-142547"/>
            <a:ext cx="1828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63375F2-EFC1-3589-C783-CE7DA120612C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000" y="63535"/>
            <a:ext cx="1505900" cy="1554480"/>
          </a:xfrm>
          <a:prstGeom prst="rect">
            <a:avLst/>
          </a:prstGeom>
        </p:spPr>
      </p:pic>
      <p:sp>
        <p:nvSpPr>
          <p:cNvPr id="4" name="hcSlideMaster.CoverHeader" descr="Classification: Public ">
            <a:extLst>
              <a:ext uri="{FF2B5EF4-FFF2-40B4-BE49-F238E27FC236}">
                <a16:creationId xmlns:a16="http://schemas.microsoft.com/office/drawing/2014/main" id="{FA01DC9F-8BD9-4A5D-BD15-18D954F3E693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Classification: </a:t>
            </a:r>
            <a:r>
              <a:rPr lang="en-US" sz="1200" b="1" i="0" u="none" strike="noStrike" baseline="0">
                <a:solidFill>
                  <a:srgbClr val="008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</a:t>
            </a:r>
            <a:r>
              <a:rPr lang="en-US" sz="12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871138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ct 15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16" name="Object 1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cSlideMaster.1_BlankHeader" descr="Classification: Public ">
            <a:extLst>
              <a:ext uri="{FF2B5EF4-FFF2-40B4-BE49-F238E27FC236}">
                <a16:creationId xmlns:a16="http://schemas.microsoft.com/office/drawing/2014/main" id="{F38D6CB5-722A-4B1F-9C25-4D51FFA10A78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Classification: </a:t>
            </a:r>
            <a:r>
              <a:rPr lang="en-US" sz="1200" b="1" i="0" u="none" strike="noStrike" baseline="0">
                <a:solidFill>
                  <a:srgbClr val="008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</a:t>
            </a:r>
            <a:r>
              <a:rPr lang="en-US" sz="12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519369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-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918CD55-F38F-4B10-BC00-01294477C7AD}"/>
              </a:ext>
            </a:extLst>
          </p:cNvPr>
          <p:cNvCxnSpPr>
            <a:cxnSpLocks/>
          </p:cNvCxnSpPr>
          <p:nvPr userDrawn="1"/>
        </p:nvCxnSpPr>
        <p:spPr>
          <a:xfrm flipH="1">
            <a:off x="2595705" y="1061792"/>
            <a:ext cx="761091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020A513-DCF5-4584-AF0A-B362F6DF1025}"/>
              </a:ext>
            </a:extLst>
          </p:cNvPr>
          <p:cNvSpPr/>
          <p:nvPr userDrawn="1"/>
        </p:nvSpPr>
        <p:spPr bwMode="auto">
          <a:xfrm>
            <a:off x="3334215" y="635620"/>
            <a:ext cx="6262080" cy="426171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itchFamily="2" charset="2"/>
              <a:buNone/>
              <a:tabLst/>
              <a:defRPr/>
            </a:pP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2" name="hcSlideMaster.Content-EmptyHeader" descr="Classification: Public ">
            <a:extLst>
              <a:ext uri="{FF2B5EF4-FFF2-40B4-BE49-F238E27FC236}">
                <a16:creationId xmlns:a16="http://schemas.microsoft.com/office/drawing/2014/main" id="{CAD2510B-6CE1-483F-8566-DFDAE8996860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Classification: </a:t>
            </a:r>
            <a:r>
              <a:rPr lang="en-US" sz="1200" b="1" i="0" u="none" strike="noStrike" baseline="0">
                <a:solidFill>
                  <a:srgbClr val="008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</a:t>
            </a:r>
            <a:r>
              <a:rPr lang="en-US" sz="12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74628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8006D8AF-13EE-73D3-5187-0BC54B92849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811393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47" imgH="348" progId="TCLayout.ActiveDocument.1">
                  <p:embed/>
                </p:oleObj>
              </mc:Choice>
              <mc:Fallback>
                <p:oleObj name="think-cell Slide" r:id="rId6" imgW="347" imgH="348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8006D8AF-13EE-73D3-5187-0BC54B9284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F4B62E10-79FA-6E50-E12E-7348E2348D13}"/>
              </a:ext>
            </a:extLst>
          </p:cNvPr>
          <p:cNvSpPr/>
          <p:nvPr/>
        </p:nvSpPr>
        <p:spPr>
          <a:xfrm>
            <a:off x="0" y="6238143"/>
            <a:ext cx="12192000" cy="6198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Sakkal Majalla" panose="02000000000000000000" pitchFamily="2" charset="-78"/>
            </a:endParaRP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B096F9D3-4439-BEAD-A067-FAB29027D08B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-2177266" y="0"/>
            <a:ext cx="8420612" cy="6867728"/>
          </a:xfrm>
          <a:custGeom>
            <a:avLst/>
            <a:gdLst>
              <a:gd name="T0" fmla="*/ 11084 w 11515"/>
              <a:gd name="T1" fmla="*/ 9240 h 9428"/>
              <a:gd name="T2" fmla="*/ 11114 w 11515"/>
              <a:gd name="T3" fmla="*/ 9428 h 9428"/>
              <a:gd name="T4" fmla="*/ 11091 w 11515"/>
              <a:gd name="T5" fmla="*/ 9249 h 9428"/>
              <a:gd name="T6" fmla="*/ 11515 w 11515"/>
              <a:gd name="T7" fmla="*/ 9100 h 9428"/>
              <a:gd name="T8" fmla="*/ 1000 w 11515"/>
              <a:gd name="T9" fmla="*/ 0 h 9428"/>
              <a:gd name="T10" fmla="*/ 0 w 11515"/>
              <a:gd name="T11" fmla="*/ 4292 h 9428"/>
              <a:gd name="T12" fmla="*/ 1468 w 11515"/>
              <a:gd name="T13" fmla="*/ 9428 h 9428"/>
              <a:gd name="T14" fmla="*/ 772 w 11515"/>
              <a:gd name="T15" fmla="*/ 8066 h 9428"/>
              <a:gd name="T16" fmla="*/ 848 w 11515"/>
              <a:gd name="T17" fmla="*/ 346 h 9428"/>
              <a:gd name="T18" fmla="*/ 3475 w 11515"/>
              <a:gd name="T19" fmla="*/ 0 h 9428"/>
              <a:gd name="T20" fmla="*/ 3086 w 11515"/>
              <a:gd name="T21" fmla="*/ 602 h 9428"/>
              <a:gd name="T22" fmla="*/ 2634 w 11515"/>
              <a:gd name="T23" fmla="*/ 0 h 9428"/>
              <a:gd name="T24" fmla="*/ 2464 w 11515"/>
              <a:gd name="T25" fmla="*/ 273 h 9428"/>
              <a:gd name="T26" fmla="*/ 2241 w 11515"/>
              <a:gd name="T27" fmla="*/ 0 h 9428"/>
              <a:gd name="T28" fmla="*/ 2162 w 11515"/>
              <a:gd name="T29" fmla="*/ 119 h 9428"/>
              <a:gd name="T30" fmla="*/ 2459 w 11515"/>
              <a:gd name="T31" fmla="*/ 281 h 9428"/>
              <a:gd name="T32" fmla="*/ 1420 w 11515"/>
              <a:gd name="T33" fmla="*/ 4292 h 9428"/>
              <a:gd name="T34" fmla="*/ 2043 w 11515"/>
              <a:gd name="T35" fmla="*/ 9428 h 9428"/>
              <a:gd name="T36" fmla="*/ 2796 w 11515"/>
              <a:gd name="T37" fmla="*/ 8847 h 9428"/>
              <a:gd name="T38" fmla="*/ 2797 w 11515"/>
              <a:gd name="T39" fmla="*/ 8841 h 9428"/>
              <a:gd name="T40" fmla="*/ 1703 w 11515"/>
              <a:gd name="T41" fmla="*/ 2186 h 9428"/>
              <a:gd name="T42" fmla="*/ 3090 w 11515"/>
              <a:gd name="T43" fmla="*/ 615 h 9428"/>
              <a:gd name="T44" fmla="*/ 3475 w 11515"/>
              <a:gd name="T45" fmla="*/ 0 h 9428"/>
              <a:gd name="T46" fmla="*/ 3612 w 11515"/>
              <a:gd name="T47" fmla="*/ 0 h 9428"/>
              <a:gd name="T48" fmla="*/ 2250 w 11515"/>
              <a:gd name="T49" fmla="*/ 4293 h 9428"/>
              <a:gd name="T50" fmla="*/ 4301 w 11515"/>
              <a:gd name="T51" fmla="*/ 9428 h 9428"/>
              <a:gd name="T52" fmla="*/ 3569 w 11515"/>
              <a:gd name="T53" fmla="*/ 8510 h 9428"/>
              <a:gd name="T54" fmla="*/ 2830 w 11515"/>
              <a:gd name="T55" fmla="*/ 1434 h 9428"/>
              <a:gd name="T56" fmla="*/ 7024 w 11515"/>
              <a:gd name="T57" fmla="*/ 0 h 9428"/>
              <a:gd name="T58" fmla="*/ 6308 w 11515"/>
              <a:gd name="T59" fmla="*/ 521 h 9428"/>
              <a:gd name="T60" fmla="*/ 4605 w 11515"/>
              <a:gd name="T61" fmla="*/ 4208 h 9428"/>
              <a:gd name="T62" fmla="*/ 4715 w 11515"/>
              <a:gd name="T63" fmla="*/ 1862 h 9428"/>
              <a:gd name="T64" fmla="*/ 3755 w 11515"/>
              <a:gd name="T65" fmla="*/ 1278 h 9428"/>
              <a:gd name="T66" fmla="*/ 4589 w 11515"/>
              <a:gd name="T67" fmla="*/ 0 h 9428"/>
              <a:gd name="T68" fmla="*/ 3743 w 11515"/>
              <a:gd name="T69" fmla="*/ 1281 h 9428"/>
              <a:gd name="T70" fmla="*/ 4139 w 11515"/>
              <a:gd name="T71" fmla="*/ 4181 h 9428"/>
              <a:gd name="T72" fmla="*/ 3679 w 11515"/>
              <a:gd name="T73" fmla="*/ 3218 h 9428"/>
              <a:gd name="T74" fmla="*/ 3015 w 11515"/>
              <a:gd name="T75" fmla="*/ 3130 h 9428"/>
              <a:gd name="T76" fmla="*/ 4412 w 11515"/>
              <a:gd name="T77" fmla="*/ 0 h 9428"/>
              <a:gd name="T78" fmla="*/ 3004 w 11515"/>
              <a:gd name="T79" fmla="*/ 3138 h 9428"/>
              <a:gd name="T80" fmla="*/ 3586 w 11515"/>
              <a:gd name="T81" fmla="*/ 4155 h 9428"/>
              <a:gd name="T82" fmla="*/ 4139 w 11515"/>
              <a:gd name="T83" fmla="*/ 4191 h 9428"/>
              <a:gd name="T84" fmla="*/ 4577 w 11515"/>
              <a:gd name="T85" fmla="*/ 6458 h 9428"/>
              <a:gd name="T86" fmla="*/ 7539 w 11515"/>
              <a:gd name="T87" fmla="*/ 9420 h 9428"/>
              <a:gd name="T88" fmla="*/ 7584 w 11515"/>
              <a:gd name="T89" fmla="*/ 9428 h 9428"/>
              <a:gd name="T90" fmla="*/ 5777 w 11515"/>
              <a:gd name="T91" fmla="*/ 8220 h 9428"/>
              <a:gd name="T92" fmla="*/ 4147 w 11515"/>
              <a:gd name="T93" fmla="*/ 4292 h 9428"/>
              <a:gd name="T94" fmla="*/ 4615 w 11515"/>
              <a:gd name="T95" fmla="*/ 4218 h 9428"/>
              <a:gd name="T96" fmla="*/ 5067 w 11515"/>
              <a:gd name="T97" fmla="*/ 2227 h 9428"/>
              <a:gd name="T98" fmla="*/ 7024 w 11515"/>
              <a:gd name="T99" fmla="*/ 0 h 94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1515" h="9428">
                <a:moveTo>
                  <a:pt x="11515" y="9100"/>
                </a:moveTo>
                <a:cubicBezTo>
                  <a:pt x="11374" y="9152"/>
                  <a:pt x="11231" y="9199"/>
                  <a:pt x="11084" y="9240"/>
                </a:cubicBezTo>
                <a:cubicBezTo>
                  <a:pt x="11080" y="9242"/>
                  <a:pt x="11080" y="9242"/>
                  <a:pt x="11080" y="9242"/>
                </a:cubicBezTo>
                <a:cubicBezTo>
                  <a:pt x="11114" y="9428"/>
                  <a:pt x="11114" y="9428"/>
                  <a:pt x="11114" y="9428"/>
                </a:cubicBezTo>
                <a:cubicBezTo>
                  <a:pt x="11124" y="9428"/>
                  <a:pt x="11124" y="9428"/>
                  <a:pt x="11124" y="9428"/>
                </a:cubicBezTo>
                <a:cubicBezTo>
                  <a:pt x="11091" y="9249"/>
                  <a:pt x="11091" y="9249"/>
                  <a:pt x="11091" y="9249"/>
                </a:cubicBezTo>
                <a:cubicBezTo>
                  <a:pt x="11235" y="9208"/>
                  <a:pt x="11376" y="9162"/>
                  <a:pt x="11515" y="9110"/>
                </a:cubicBezTo>
                <a:cubicBezTo>
                  <a:pt x="11515" y="9100"/>
                  <a:pt x="11515" y="9100"/>
                  <a:pt x="11515" y="9100"/>
                </a:cubicBezTo>
                <a:moveTo>
                  <a:pt x="1011" y="0"/>
                </a:moveTo>
                <a:cubicBezTo>
                  <a:pt x="1000" y="0"/>
                  <a:pt x="1000" y="0"/>
                  <a:pt x="1000" y="0"/>
                </a:cubicBezTo>
                <a:cubicBezTo>
                  <a:pt x="944" y="113"/>
                  <a:pt x="890" y="227"/>
                  <a:pt x="839" y="342"/>
                </a:cubicBezTo>
                <a:cubicBezTo>
                  <a:pt x="282" y="1588"/>
                  <a:pt x="0" y="2917"/>
                  <a:pt x="0" y="4292"/>
                </a:cubicBezTo>
                <a:cubicBezTo>
                  <a:pt x="0" y="5602"/>
                  <a:pt x="257" y="6873"/>
                  <a:pt x="763" y="8070"/>
                </a:cubicBezTo>
                <a:cubicBezTo>
                  <a:pt x="963" y="8543"/>
                  <a:pt x="1198" y="8996"/>
                  <a:pt x="1468" y="9428"/>
                </a:cubicBezTo>
                <a:cubicBezTo>
                  <a:pt x="1479" y="9428"/>
                  <a:pt x="1479" y="9428"/>
                  <a:pt x="1479" y="9428"/>
                </a:cubicBezTo>
                <a:cubicBezTo>
                  <a:pt x="1209" y="8995"/>
                  <a:pt x="972" y="8541"/>
                  <a:pt x="772" y="8066"/>
                </a:cubicBezTo>
                <a:cubicBezTo>
                  <a:pt x="266" y="6871"/>
                  <a:pt x="10" y="5601"/>
                  <a:pt x="10" y="4292"/>
                </a:cubicBezTo>
                <a:cubicBezTo>
                  <a:pt x="10" y="2918"/>
                  <a:pt x="292" y="1591"/>
                  <a:pt x="848" y="346"/>
                </a:cubicBezTo>
                <a:cubicBezTo>
                  <a:pt x="900" y="229"/>
                  <a:pt x="954" y="114"/>
                  <a:pt x="1011" y="0"/>
                </a:cubicBezTo>
                <a:moveTo>
                  <a:pt x="3475" y="0"/>
                </a:moveTo>
                <a:cubicBezTo>
                  <a:pt x="3463" y="0"/>
                  <a:pt x="3463" y="0"/>
                  <a:pt x="3463" y="0"/>
                </a:cubicBezTo>
                <a:cubicBezTo>
                  <a:pt x="3328" y="194"/>
                  <a:pt x="3203" y="395"/>
                  <a:pt x="3086" y="602"/>
                </a:cubicBezTo>
                <a:cubicBezTo>
                  <a:pt x="2472" y="278"/>
                  <a:pt x="2472" y="278"/>
                  <a:pt x="2472" y="278"/>
                </a:cubicBezTo>
                <a:cubicBezTo>
                  <a:pt x="2524" y="184"/>
                  <a:pt x="2578" y="91"/>
                  <a:pt x="2634" y="0"/>
                </a:cubicBezTo>
                <a:cubicBezTo>
                  <a:pt x="2623" y="0"/>
                  <a:pt x="2623" y="0"/>
                  <a:pt x="2623" y="0"/>
                </a:cubicBezTo>
                <a:cubicBezTo>
                  <a:pt x="2568" y="90"/>
                  <a:pt x="2515" y="181"/>
                  <a:pt x="2464" y="273"/>
                </a:cubicBezTo>
                <a:cubicBezTo>
                  <a:pt x="2173" y="120"/>
                  <a:pt x="2173" y="120"/>
                  <a:pt x="2173" y="120"/>
                </a:cubicBezTo>
                <a:cubicBezTo>
                  <a:pt x="2196" y="80"/>
                  <a:pt x="2218" y="40"/>
                  <a:pt x="2241" y="0"/>
                </a:cubicBezTo>
                <a:cubicBezTo>
                  <a:pt x="2230" y="0"/>
                  <a:pt x="2230" y="0"/>
                  <a:pt x="2230" y="0"/>
                </a:cubicBezTo>
                <a:cubicBezTo>
                  <a:pt x="2207" y="40"/>
                  <a:pt x="2185" y="79"/>
                  <a:pt x="2162" y="119"/>
                </a:cubicBezTo>
                <a:cubicBezTo>
                  <a:pt x="2160" y="123"/>
                  <a:pt x="2160" y="123"/>
                  <a:pt x="2160" y="123"/>
                </a:cubicBezTo>
                <a:cubicBezTo>
                  <a:pt x="2459" y="281"/>
                  <a:pt x="2459" y="281"/>
                  <a:pt x="2459" y="281"/>
                </a:cubicBezTo>
                <a:cubicBezTo>
                  <a:pt x="2126" y="881"/>
                  <a:pt x="1868" y="1521"/>
                  <a:pt x="1694" y="2184"/>
                </a:cubicBezTo>
                <a:cubicBezTo>
                  <a:pt x="1513" y="2868"/>
                  <a:pt x="1421" y="3577"/>
                  <a:pt x="1420" y="4292"/>
                </a:cubicBezTo>
                <a:cubicBezTo>
                  <a:pt x="1423" y="5916"/>
                  <a:pt x="1895" y="7490"/>
                  <a:pt x="2786" y="8843"/>
                </a:cubicBezTo>
                <a:cubicBezTo>
                  <a:pt x="2043" y="9428"/>
                  <a:pt x="2043" y="9428"/>
                  <a:pt x="2043" y="9428"/>
                </a:cubicBezTo>
                <a:cubicBezTo>
                  <a:pt x="2058" y="9428"/>
                  <a:pt x="2058" y="9428"/>
                  <a:pt x="2058" y="9428"/>
                </a:cubicBezTo>
                <a:cubicBezTo>
                  <a:pt x="2796" y="8847"/>
                  <a:pt x="2796" y="8847"/>
                  <a:pt x="2796" y="8847"/>
                </a:cubicBezTo>
                <a:cubicBezTo>
                  <a:pt x="2799" y="8845"/>
                  <a:pt x="2799" y="8845"/>
                  <a:pt x="2799" y="8845"/>
                </a:cubicBezTo>
                <a:cubicBezTo>
                  <a:pt x="2797" y="8841"/>
                  <a:pt x="2797" y="8841"/>
                  <a:pt x="2797" y="8841"/>
                </a:cubicBezTo>
                <a:cubicBezTo>
                  <a:pt x="1905" y="7489"/>
                  <a:pt x="1432" y="5916"/>
                  <a:pt x="1430" y="4292"/>
                </a:cubicBezTo>
                <a:cubicBezTo>
                  <a:pt x="1431" y="3578"/>
                  <a:pt x="1523" y="2870"/>
                  <a:pt x="1703" y="2186"/>
                </a:cubicBezTo>
                <a:cubicBezTo>
                  <a:pt x="1877" y="1525"/>
                  <a:pt x="2135" y="885"/>
                  <a:pt x="2467" y="286"/>
                </a:cubicBezTo>
                <a:cubicBezTo>
                  <a:pt x="3090" y="615"/>
                  <a:pt x="3090" y="615"/>
                  <a:pt x="3090" y="615"/>
                </a:cubicBezTo>
                <a:cubicBezTo>
                  <a:pt x="3092" y="611"/>
                  <a:pt x="3092" y="611"/>
                  <a:pt x="3092" y="611"/>
                </a:cubicBezTo>
                <a:cubicBezTo>
                  <a:pt x="3210" y="401"/>
                  <a:pt x="3338" y="197"/>
                  <a:pt x="3475" y="0"/>
                </a:cubicBezTo>
                <a:moveTo>
                  <a:pt x="3624" y="0"/>
                </a:moveTo>
                <a:cubicBezTo>
                  <a:pt x="3612" y="0"/>
                  <a:pt x="3612" y="0"/>
                  <a:pt x="3612" y="0"/>
                </a:cubicBezTo>
                <a:cubicBezTo>
                  <a:pt x="3297" y="445"/>
                  <a:pt x="3033" y="924"/>
                  <a:pt x="2821" y="1431"/>
                </a:cubicBezTo>
                <a:cubicBezTo>
                  <a:pt x="2442" y="2339"/>
                  <a:pt x="2250" y="3301"/>
                  <a:pt x="2250" y="4293"/>
                </a:cubicBezTo>
                <a:cubicBezTo>
                  <a:pt x="2250" y="5810"/>
                  <a:pt x="2703" y="7271"/>
                  <a:pt x="3561" y="8516"/>
                </a:cubicBezTo>
                <a:cubicBezTo>
                  <a:pt x="3784" y="8839"/>
                  <a:pt x="4031" y="9144"/>
                  <a:pt x="4301" y="9428"/>
                </a:cubicBezTo>
                <a:cubicBezTo>
                  <a:pt x="4314" y="9428"/>
                  <a:pt x="4314" y="9428"/>
                  <a:pt x="4314" y="9428"/>
                </a:cubicBezTo>
                <a:cubicBezTo>
                  <a:pt x="4042" y="9143"/>
                  <a:pt x="3793" y="8836"/>
                  <a:pt x="3569" y="8510"/>
                </a:cubicBezTo>
                <a:cubicBezTo>
                  <a:pt x="2712" y="7267"/>
                  <a:pt x="2260" y="5808"/>
                  <a:pt x="2260" y="4293"/>
                </a:cubicBezTo>
                <a:cubicBezTo>
                  <a:pt x="2260" y="3303"/>
                  <a:pt x="2452" y="2341"/>
                  <a:pt x="2830" y="1434"/>
                </a:cubicBezTo>
                <a:cubicBezTo>
                  <a:pt x="3042" y="926"/>
                  <a:pt x="3308" y="446"/>
                  <a:pt x="3624" y="0"/>
                </a:cubicBezTo>
                <a:moveTo>
                  <a:pt x="7024" y="0"/>
                </a:moveTo>
                <a:cubicBezTo>
                  <a:pt x="7005" y="0"/>
                  <a:pt x="7005" y="0"/>
                  <a:pt x="7005" y="0"/>
                </a:cubicBezTo>
                <a:cubicBezTo>
                  <a:pt x="6760" y="152"/>
                  <a:pt x="6528" y="326"/>
                  <a:pt x="6308" y="521"/>
                </a:cubicBezTo>
                <a:cubicBezTo>
                  <a:pt x="5772" y="1000"/>
                  <a:pt x="5351" y="1573"/>
                  <a:pt x="5058" y="2223"/>
                </a:cubicBezTo>
                <a:cubicBezTo>
                  <a:pt x="4776" y="2849"/>
                  <a:pt x="4623" y="3516"/>
                  <a:pt x="4605" y="4208"/>
                </a:cubicBezTo>
                <a:cubicBezTo>
                  <a:pt x="4149" y="4182"/>
                  <a:pt x="4149" y="4182"/>
                  <a:pt x="4149" y="4182"/>
                </a:cubicBezTo>
                <a:cubicBezTo>
                  <a:pt x="4166" y="3378"/>
                  <a:pt x="4357" y="2598"/>
                  <a:pt x="4715" y="1862"/>
                </a:cubicBezTo>
                <a:cubicBezTo>
                  <a:pt x="4717" y="1858"/>
                  <a:pt x="4717" y="1858"/>
                  <a:pt x="4717" y="1858"/>
                </a:cubicBezTo>
                <a:cubicBezTo>
                  <a:pt x="3755" y="1278"/>
                  <a:pt x="3755" y="1278"/>
                  <a:pt x="3755" y="1278"/>
                </a:cubicBezTo>
                <a:cubicBezTo>
                  <a:pt x="3988" y="820"/>
                  <a:pt x="4272" y="392"/>
                  <a:pt x="4602" y="0"/>
                </a:cubicBezTo>
                <a:cubicBezTo>
                  <a:pt x="4589" y="0"/>
                  <a:pt x="4589" y="0"/>
                  <a:pt x="4589" y="0"/>
                </a:cubicBezTo>
                <a:cubicBezTo>
                  <a:pt x="4260" y="392"/>
                  <a:pt x="3977" y="820"/>
                  <a:pt x="3745" y="1277"/>
                </a:cubicBezTo>
                <a:cubicBezTo>
                  <a:pt x="3743" y="1281"/>
                  <a:pt x="3743" y="1281"/>
                  <a:pt x="3743" y="1281"/>
                </a:cubicBezTo>
                <a:cubicBezTo>
                  <a:pt x="4705" y="1862"/>
                  <a:pt x="4705" y="1862"/>
                  <a:pt x="4705" y="1862"/>
                </a:cubicBezTo>
                <a:cubicBezTo>
                  <a:pt x="4347" y="2597"/>
                  <a:pt x="4156" y="3378"/>
                  <a:pt x="4139" y="4181"/>
                </a:cubicBezTo>
                <a:cubicBezTo>
                  <a:pt x="3595" y="4150"/>
                  <a:pt x="3595" y="4150"/>
                  <a:pt x="3595" y="4150"/>
                </a:cubicBezTo>
                <a:cubicBezTo>
                  <a:pt x="3600" y="3836"/>
                  <a:pt x="3628" y="3522"/>
                  <a:pt x="3679" y="3218"/>
                </a:cubicBezTo>
                <a:cubicBezTo>
                  <a:pt x="3680" y="3213"/>
                  <a:pt x="3680" y="3213"/>
                  <a:pt x="3680" y="3213"/>
                </a:cubicBezTo>
                <a:cubicBezTo>
                  <a:pt x="3015" y="3130"/>
                  <a:pt x="3015" y="3130"/>
                  <a:pt x="3015" y="3130"/>
                </a:cubicBezTo>
                <a:cubicBezTo>
                  <a:pt x="3213" y="1944"/>
                  <a:pt x="3686" y="895"/>
                  <a:pt x="4425" y="0"/>
                </a:cubicBezTo>
                <a:cubicBezTo>
                  <a:pt x="4412" y="0"/>
                  <a:pt x="4412" y="0"/>
                  <a:pt x="4412" y="0"/>
                </a:cubicBezTo>
                <a:cubicBezTo>
                  <a:pt x="3675" y="896"/>
                  <a:pt x="3202" y="1947"/>
                  <a:pt x="3005" y="3133"/>
                </a:cubicBezTo>
                <a:cubicBezTo>
                  <a:pt x="3004" y="3138"/>
                  <a:pt x="3004" y="3138"/>
                  <a:pt x="3004" y="3138"/>
                </a:cubicBezTo>
                <a:cubicBezTo>
                  <a:pt x="3668" y="3221"/>
                  <a:pt x="3668" y="3221"/>
                  <a:pt x="3668" y="3221"/>
                </a:cubicBezTo>
                <a:cubicBezTo>
                  <a:pt x="3618" y="3526"/>
                  <a:pt x="3590" y="3840"/>
                  <a:pt x="3586" y="4155"/>
                </a:cubicBezTo>
                <a:cubicBezTo>
                  <a:pt x="3585" y="4159"/>
                  <a:pt x="3585" y="4159"/>
                  <a:pt x="3585" y="4159"/>
                </a:cubicBezTo>
                <a:cubicBezTo>
                  <a:pt x="4139" y="4191"/>
                  <a:pt x="4139" y="4191"/>
                  <a:pt x="4139" y="4191"/>
                </a:cubicBezTo>
                <a:cubicBezTo>
                  <a:pt x="4138" y="4229"/>
                  <a:pt x="4138" y="4261"/>
                  <a:pt x="4138" y="4292"/>
                </a:cubicBezTo>
                <a:cubicBezTo>
                  <a:pt x="4139" y="5044"/>
                  <a:pt x="4287" y="5772"/>
                  <a:pt x="4577" y="6458"/>
                </a:cubicBezTo>
                <a:cubicBezTo>
                  <a:pt x="4858" y="7121"/>
                  <a:pt x="5259" y="7716"/>
                  <a:pt x="5770" y="8226"/>
                </a:cubicBezTo>
                <a:cubicBezTo>
                  <a:pt x="6281" y="8737"/>
                  <a:pt x="6876" y="9139"/>
                  <a:pt x="7539" y="9420"/>
                </a:cubicBezTo>
                <a:cubicBezTo>
                  <a:pt x="7545" y="9422"/>
                  <a:pt x="7552" y="9425"/>
                  <a:pt x="7559" y="9428"/>
                </a:cubicBezTo>
                <a:cubicBezTo>
                  <a:pt x="7584" y="9428"/>
                  <a:pt x="7584" y="9428"/>
                  <a:pt x="7584" y="9428"/>
                </a:cubicBezTo>
                <a:cubicBezTo>
                  <a:pt x="7570" y="9422"/>
                  <a:pt x="7556" y="9416"/>
                  <a:pt x="7542" y="9411"/>
                </a:cubicBezTo>
                <a:cubicBezTo>
                  <a:pt x="6881" y="9130"/>
                  <a:pt x="6287" y="8730"/>
                  <a:pt x="5777" y="8220"/>
                </a:cubicBezTo>
                <a:cubicBezTo>
                  <a:pt x="5267" y="7710"/>
                  <a:pt x="4867" y="7116"/>
                  <a:pt x="4586" y="6454"/>
                </a:cubicBezTo>
                <a:cubicBezTo>
                  <a:pt x="4296" y="5770"/>
                  <a:pt x="4149" y="5042"/>
                  <a:pt x="4147" y="4292"/>
                </a:cubicBezTo>
                <a:cubicBezTo>
                  <a:pt x="4147" y="4262"/>
                  <a:pt x="4148" y="4229"/>
                  <a:pt x="4149" y="4191"/>
                </a:cubicBezTo>
                <a:cubicBezTo>
                  <a:pt x="4615" y="4218"/>
                  <a:pt x="4615" y="4218"/>
                  <a:pt x="4615" y="4218"/>
                </a:cubicBezTo>
                <a:cubicBezTo>
                  <a:pt x="4615" y="4213"/>
                  <a:pt x="4615" y="4213"/>
                  <a:pt x="4615" y="4213"/>
                </a:cubicBezTo>
                <a:cubicBezTo>
                  <a:pt x="4632" y="3521"/>
                  <a:pt x="4784" y="2853"/>
                  <a:pt x="5067" y="2227"/>
                </a:cubicBezTo>
                <a:cubicBezTo>
                  <a:pt x="5360" y="1578"/>
                  <a:pt x="5780" y="1006"/>
                  <a:pt x="6315" y="528"/>
                </a:cubicBezTo>
                <a:cubicBezTo>
                  <a:pt x="6538" y="330"/>
                  <a:pt x="6774" y="154"/>
                  <a:pt x="7024" y="0"/>
                </a:cubicBezTo>
              </a:path>
            </a:pathLst>
          </a:custGeom>
          <a:solidFill>
            <a:srgbClr val="047C64">
              <a:alpha val="12000"/>
            </a:srgbClr>
          </a:solidFill>
          <a:ln w="38100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Sakkal Majalla" panose="02000000000000000000" pitchFamily="2" charset="-78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A4F4E6-23A3-8787-4406-BF35EC875BF5}"/>
              </a:ext>
            </a:extLst>
          </p:cNvPr>
          <p:cNvSpPr/>
          <p:nvPr/>
        </p:nvSpPr>
        <p:spPr>
          <a:xfrm>
            <a:off x="12090401" y="252991"/>
            <a:ext cx="101600" cy="85093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Sakkal Majalla" panose="02000000000000000000" pitchFamily="2" charset="-78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1FB470D6-DA0D-D44C-0FA9-06B9717B2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836" y="252991"/>
            <a:ext cx="9209266" cy="850933"/>
          </a:xfrm>
        </p:spPr>
        <p:txBody>
          <a:bodyPr vert="horz" anchor="b" anchorCtr="0"/>
          <a:lstStyle/>
          <a:p>
            <a:r>
              <a:rPr lang="en-US"/>
              <a:t>Click to edit Master title style</a:t>
            </a:r>
            <a:endParaRPr lang="en-IN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B297976-534F-8B97-A4D7-CC980A83EE9D}"/>
              </a:ext>
            </a:extLst>
          </p:cNvPr>
          <p:cNvGrpSpPr/>
          <p:nvPr/>
        </p:nvGrpSpPr>
        <p:grpSpPr>
          <a:xfrm>
            <a:off x="375221" y="439489"/>
            <a:ext cx="1106872" cy="477936"/>
            <a:chOff x="375221" y="266203"/>
            <a:chExt cx="1106872" cy="477936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127C5820-FE30-9A7F-A00F-F82717E4223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265" y="266203"/>
              <a:ext cx="494828" cy="477936"/>
            </a:xfrm>
            <a:prstGeom prst="rect">
              <a:avLst/>
            </a:prstGeom>
          </p:spPr>
        </p:pic>
        <p:cxnSp>
          <p:nvCxnSpPr>
            <p:cNvPr id="32" name="رابط مستقيم 7">
              <a:extLst>
                <a:ext uri="{FF2B5EF4-FFF2-40B4-BE49-F238E27FC236}">
                  <a16:creationId xmlns:a16="http://schemas.microsoft.com/office/drawing/2014/main" id="{D79A390A-EF62-960B-F206-41D0C193DE77}"/>
                </a:ext>
              </a:extLst>
            </p:cNvPr>
            <p:cNvCxnSpPr>
              <a:cxnSpLocks/>
            </p:cNvCxnSpPr>
            <p:nvPr/>
          </p:nvCxnSpPr>
          <p:spPr>
            <a:xfrm>
              <a:off x="900201" y="314917"/>
              <a:ext cx="0" cy="380508"/>
            </a:xfrm>
            <a:prstGeom prst="line">
              <a:avLst/>
            </a:prstGeom>
            <a:ln w="19050">
              <a:solidFill>
                <a:srgbClr val="047C6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E90B5F5A-5F38-B12D-8C0F-AD4B3E11645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7117"/>
            <a:stretch/>
          </p:blipFill>
          <p:spPr>
            <a:xfrm>
              <a:off x="375221" y="286706"/>
              <a:ext cx="437916" cy="436930"/>
            </a:xfrm>
            <a:prstGeom prst="rect">
              <a:avLst/>
            </a:prstGeom>
          </p:spPr>
        </p:pic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0B73D710-A32C-9124-BFA4-703A018D26F5}"/>
              </a:ext>
            </a:extLst>
          </p:cNvPr>
          <p:cNvSpPr/>
          <p:nvPr/>
        </p:nvSpPr>
        <p:spPr>
          <a:xfrm>
            <a:off x="443239" y="6238143"/>
            <a:ext cx="502268" cy="6198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Sakkal Majalla" panose="02000000000000000000" pitchFamily="2" charset="-78"/>
            </a:endParaRPr>
          </a:p>
        </p:txBody>
      </p:sp>
      <p:cxnSp>
        <p:nvCxnSpPr>
          <p:cNvPr id="53" name="رابط مستقيم 7">
            <a:extLst>
              <a:ext uri="{FF2B5EF4-FFF2-40B4-BE49-F238E27FC236}">
                <a16:creationId xmlns:a16="http://schemas.microsoft.com/office/drawing/2014/main" id="{FF8BD417-3571-A794-8EDD-0E354664C36E}"/>
              </a:ext>
            </a:extLst>
          </p:cNvPr>
          <p:cNvCxnSpPr>
            <a:cxnSpLocks/>
          </p:cNvCxnSpPr>
          <p:nvPr/>
        </p:nvCxnSpPr>
        <p:spPr>
          <a:xfrm flipH="1">
            <a:off x="442913" y="6839826"/>
            <a:ext cx="502920" cy="0"/>
          </a:xfrm>
          <a:prstGeom prst="line">
            <a:avLst/>
          </a:prstGeom>
          <a:ln w="38100">
            <a:solidFill>
              <a:srgbClr val="CBA4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رابط مستقيم 7">
            <a:extLst>
              <a:ext uri="{FF2B5EF4-FFF2-40B4-BE49-F238E27FC236}">
                <a16:creationId xmlns:a16="http://schemas.microsoft.com/office/drawing/2014/main" id="{0A39054E-46C1-BE4A-ACD3-9C790FC3CA21}"/>
              </a:ext>
            </a:extLst>
          </p:cNvPr>
          <p:cNvCxnSpPr>
            <a:cxnSpLocks/>
          </p:cNvCxnSpPr>
          <p:nvPr/>
        </p:nvCxnSpPr>
        <p:spPr>
          <a:xfrm flipH="1">
            <a:off x="442913" y="6257193"/>
            <a:ext cx="502920" cy="0"/>
          </a:xfrm>
          <a:prstGeom prst="line">
            <a:avLst/>
          </a:prstGeom>
          <a:ln w="38100">
            <a:solidFill>
              <a:srgbClr val="CBA4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DFC237C-2B4D-A5C6-7E00-B7121410E0F7}"/>
              </a:ext>
            </a:extLst>
          </p:cNvPr>
          <p:cNvGrpSpPr/>
          <p:nvPr/>
        </p:nvGrpSpPr>
        <p:grpSpPr>
          <a:xfrm>
            <a:off x="526632" y="6380330"/>
            <a:ext cx="335482" cy="335482"/>
            <a:chOff x="6163975" y="376324"/>
            <a:chExt cx="5896311" cy="5896311"/>
          </a:xfrm>
        </p:grpSpPr>
        <p:sp>
          <p:nvSpPr>
            <p:cNvPr id="57" name="Arc 56">
              <a:extLst>
                <a:ext uri="{FF2B5EF4-FFF2-40B4-BE49-F238E27FC236}">
                  <a16:creationId xmlns:a16="http://schemas.microsoft.com/office/drawing/2014/main" id="{4A3AA2A0-7FD4-0D1E-38E4-6A772D3E8EF5}"/>
                </a:ext>
              </a:extLst>
            </p:cNvPr>
            <p:cNvSpPr/>
            <p:nvPr/>
          </p:nvSpPr>
          <p:spPr>
            <a:xfrm>
              <a:off x="6639941" y="828811"/>
              <a:ext cx="4967858" cy="4967858"/>
            </a:xfrm>
            <a:prstGeom prst="arc">
              <a:avLst>
                <a:gd name="adj1" fmla="val 1258630"/>
                <a:gd name="adj2" fmla="val 1238261"/>
              </a:avLst>
            </a:prstGeom>
            <a:ln w="952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rtl="0"/>
              <a:endParaRPr lang="en-IN">
                <a:latin typeface="Sakkal Majalla" panose="02000000000000000000" pitchFamily="2" charset="-78"/>
              </a:endParaRPr>
            </a:p>
          </p:txBody>
        </p:sp>
        <p:sp>
          <p:nvSpPr>
            <p:cNvPr id="58" name="Arc 57">
              <a:extLst>
                <a:ext uri="{FF2B5EF4-FFF2-40B4-BE49-F238E27FC236}">
                  <a16:creationId xmlns:a16="http://schemas.microsoft.com/office/drawing/2014/main" id="{EB813A5B-B7C5-2F43-21E3-71D0D7175DA2}"/>
                </a:ext>
              </a:extLst>
            </p:cNvPr>
            <p:cNvSpPr/>
            <p:nvPr/>
          </p:nvSpPr>
          <p:spPr>
            <a:xfrm>
              <a:off x="6163975" y="376324"/>
              <a:ext cx="5896311" cy="5896311"/>
            </a:xfrm>
            <a:prstGeom prst="arc">
              <a:avLst>
                <a:gd name="adj1" fmla="val 12903062"/>
                <a:gd name="adj2" fmla="val 4121208"/>
              </a:avLst>
            </a:prstGeom>
            <a:ln w="9525" cap="flat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rtl="0"/>
              <a:endParaRPr lang="en-US">
                <a:latin typeface="Sakkal Majalla" panose="02000000000000000000" pitchFamily="2" charset="-78"/>
              </a:endParaRPr>
            </a:p>
          </p:txBody>
        </p:sp>
        <p:sp>
          <p:nvSpPr>
            <p:cNvPr id="59" name="Arc 58">
              <a:extLst>
                <a:ext uri="{FF2B5EF4-FFF2-40B4-BE49-F238E27FC236}">
                  <a16:creationId xmlns:a16="http://schemas.microsoft.com/office/drawing/2014/main" id="{0136A3DC-242F-8D50-AF43-336A97ACFFE2}"/>
                </a:ext>
              </a:extLst>
            </p:cNvPr>
            <p:cNvSpPr/>
            <p:nvPr/>
          </p:nvSpPr>
          <p:spPr>
            <a:xfrm flipH="1" flipV="1">
              <a:off x="6616462" y="828811"/>
              <a:ext cx="4991337" cy="4991337"/>
            </a:xfrm>
            <a:prstGeom prst="arc">
              <a:avLst>
                <a:gd name="adj1" fmla="val 1447474"/>
                <a:gd name="adj2" fmla="val 4923461"/>
              </a:avLst>
            </a:prstGeom>
            <a:ln w="9525" cap="flat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rtl="0"/>
              <a:endParaRPr lang="en-US">
                <a:latin typeface="Sakkal Majalla" panose="02000000000000000000" pitchFamily="2" charset="-78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1D010E9-D155-5D14-FB99-F5EEDE84749A}"/>
                </a:ext>
              </a:extLst>
            </p:cNvPr>
            <p:cNvSpPr/>
            <p:nvPr/>
          </p:nvSpPr>
          <p:spPr>
            <a:xfrm>
              <a:off x="7112944" y="1302949"/>
              <a:ext cx="4043056" cy="4043056"/>
            </a:xfrm>
            <a:prstGeom prst="ellipse">
              <a:avLst/>
            </a:prstGeom>
            <a:noFill/>
            <a:ln w="952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IN">
                <a:latin typeface="Sakkal Majalla" panose="02000000000000000000" pitchFamily="2" charset="-78"/>
              </a:endParaRPr>
            </a:p>
          </p:txBody>
        </p:sp>
        <p:sp>
          <p:nvSpPr>
            <p:cNvPr id="61" name="Arc 60">
              <a:extLst>
                <a:ext uri="{FF2B5EF4-FFF2-40B4-BE49-F238E27FC236}">
                  <a16:creationId xmlns:a16="http://schemas.microsoft.com/office/drawing/2014/main" id="{794A6821-D411-DD14-AE9A-0F4F6AB87BCA}"/>
                </a:ext>
              </a:extLst>
            </p:cNvPr>
            <p:cNvSpPr/>
            <p:nvPr/>
          </p:nvSpPr>
          <p:spPr>
            <a:xfrm rot="12827436" flipH="1" flipV="1">
              <a:off x="6616459" y="815399"/>
              <a:ext cx="4991335" cy="4991335"/>
            </a:xfrm>
            <a:prstGeom prst="arc">
              <a:avLst>
                <a:gd name="adj1" fmla="val 1526666"/>
                <a:gd name="adj2" fmla="val 4923461"/>
              </a:avLst>
            </a:prstGeom>
            <a:ln w="9525" cap="flat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rtl="0"/>
              <a:endParaRPr lang="en-US">
                <a:latin typeface="Sakkal Majalla" panose="02000000000000000000" pitchFamily="2" charset="-78"/>
              </a:endParaRPr>
            </a:p>
          </p:txBody>
        </p:sp>
        <p:sp>
          <p:nvSpPr>
            <p:cNvPr id="62" name="Arc 61">
              <a:extLst>
                <a:ext uri="{FF2B5EF4-FFF2-40B4-BE49-F238E27FC236}">
                  <a16:creationId xmlns:a16="http://schemas.microsoft.com/office/drawing/2014/main" id="{0C3CDE24-6A66-2537-84BA-88E2D0A677AB}"/>
                </a:ext>
              </a:extLst>
            </p:cNvPr>
            <p:cNvSpPr/>
            <p:nvPr/>
          </p:nvSpPr>
          <p:spPr>
            <a:xfrm rot="5980984" flipH="1" flipV="1">
              <a:off x="6616455" y="760532"/>
              <a:ext cx="4991336" cy="4991335"/>
            </a:xfrm>
            <a:prstGeom prst="arc">
              <a:avLst>
                <a:gd name="adj1" fmla="val 1526666"/>
                <a:gd name="adj2" fmla="val 4923461"/>
              </a:avLst>
            </a:prstGeom>
            <a:ln w="9525" cap="flat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rtl="0"/>
              <a:endParaRPr lang="en-US">
                <a:latin typeface="Sakkal Majalla" panose="02000000000000000000" pitchFamily="2" charset="-78"/>
              </a:endParaRPr>
            </a:p>
          </p:txBody>
        </p:sp>
      </p:grp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3B48B33-DD85-3B25-2033-1B13BC485E5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811393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347" imgH="348" progId="TCLayout.ActiveDocument.1">
                  <p:embed/>
                </p:oleObj>
              </mc:Choice>
              <mc:Fallback>
                <p:oleObj name="think-cell Slide" r:id="rId10" imgW="347" imgH="34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3B48B33-DD85-3B25-2033-1B13BC485E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9516F696-F20E-CE52-CDC7-0ED2B8CD0E1C}"/>
              </a:ext>
            </a:extLst>
          </p:cNvPr>
          <p:cNvSpPr/>
          <p:nvPr userDrawn="1"/>
        </p:nvSpPr>
        <p:spPr>
          <a:xfrm>
            <a:off x="0" y="6238143"/>
            <a:ext cx="12192000" cy="6198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Sakkal Majalla" panose="02000000000000000000" pitchFamily="2" charset="-78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C21AF13-AD08-635A-2FF5-C96D3D7C30F9}"/>
              </a:ext>
            </a:extLst>
          </p:cNvPr>
          <p:cNvSpPr>
            <a:spLocks noEditPoints="1"/>
          </p:cNvSpPr>
          <p:nvPr userDrawn="1"/>
        </p:nvSpPr>
        <p:spPr bwMode="auto">
          <a:xfrm flipH="1">
            <a:off x="-2177266" y="0"/>
            <a:ext cx="8420612" cy="6867728"/>
          </a:xfrm>
          <a:custGeom>
            <a:avLst/>
            <a:gdLst>
              <a:gd name="T0" fmla="*/ 11084 w 11515"/>
              <a:gd name="T1" fmla="*/ 9240 h 9428"/>
              <a:gd name="T2" fmla="*/ 11114 w 11515"/>
              <a:gd name="T3" fmla="*/ 9428 h 9428"/>
              <a:gd name="T4" fmla="*/ 11091 w 11515"/>
              <a:gd name="T5" fmla="*/ 9249 h 9428"/>
              <a:gd name="T6" fmla="*/ 11515 w 11515"/>
              <a:gd name="T7" fmla="*/ 9100 h 9428"/>
              <a:gd name="T8" fmla="*/ 1000 w 11515"/>
              <a:gd name="T9" fmla="*/ 0 h 9428"/>
              <a:gd name="T10" fmla="*/ 0 w 11515"/>
              <a:gd name="T11" fmla="*/ 4292 h 9428"/>
              <a:gd name="T12" fmla="*/ 1468 w 11515"/>
              <a:gd name="T13" fmla="*/ 9428 h 9428"/>
              <a:gd name="T14" fmla="*/ 772 w 11515"/>
              <a:gd name="T15" fmla="*/ 8066 h 9428"/>
              <a:gd name="T16" fmla="*/ 848 w 11515"/>
              <a:gd name="T17" fmla="*/ 346 h 9428"/>
              <a:gd name="T18" fmla="*/ 3475 w 11515"/>
              <a:gd name="T19" fmla="*/ 0 h 9428"/>
              <a:gd name="T20" fmla="*/ 3086 w 11515"/>
              <a:gd name="T21" fmla="*/ 602 h 9428"/>
              <a:gd name="T22" fmla="*/ 2634 w 11515"/>
              <a:gd name="T23" fmla="*/ 0 h 9428"/>
              <a:gd name="T24" fmla="*/ 2464 w 11515"/>
              <a:gd name="T25" fmla="*/ 273 h 9428"/>
              <a:gd name="T26" fmla="*/ 2241 w 11515"/>
              <a:gd name="T27" fmla="*/ 0 h 9428"/>
              <a:gd name="T28" fmla="*/ 2162 w 11515"/>
              <a:gd name="T29" fmla="*/ 119 h 9428"/>
              <a:gd name="T30" fmla="*/ 2459 w 11515"/>
              <a:gd name="T31" fmla="*/ 281 h 9428"/>
              <a:gd name="T32" fmla="*/ 1420 w 11515"/>
              <a:gd name="T33" fmla="*/ 4292 h 9428"/>
              <a:gd name="T34" fmla="*/ 2043 w 11515"/>
              <a:gd name="T35" fmla="*/ 9428 h 9428"/>
              <a:gd name="T36" fmla="*/ 2796 w 11515"/>
              <a:gd name="T37" fmla="*/ 8847 h 9428"/>
              <a:gd name="T38" fmla="*/ 2797 w 11515"/>
              <a:gd name="T39" fmla="*/ 8841 h 9428"/>
              <a:gd name="T40" fmla="*/ 1703 w 11515"/>
              <a:gd name="T41" fmla="*/ 2186 h 9428"/>
              <a:gd name="T42" fmla="*/ 3090 w 11515"/>
              <a:gd name="T43" fmla="*/ 615 h 9428"/>
              <a:gd name="T44" fmla="*/ 3475 w 11515"/>
              <a:gd name="T45" fmla="*/ 0 h 9428"/>
              <a:gd name="T46" fmla="*/ 3612 w 11515"/>
              <a:gd name="T47" fmla="*/ 0 h 9428"/>
              <a:gd name="T48" fmla="*/ 2250 w 11515"/>
              <a:gd name="T49" fmla="*/ 4293 h 9428"/>
              <a:gd name="T50" fmla="*/ 4301 w 11515"/>
              <a:gd name="T51" fmla="*/ 9428 h 9428"/>
              <a:gd name="T52" fmla="*/ 3569 w 11515"/>
              <a:gd name="T53" fmla="*/ 8510 h 9428"/>
              <a:gd name="T54" fmla="*/ 2830 w 11515"/>
              <a:gd name="T55" fmla="*/ 1434 h 9428"/>
              <a:gd name="T56" fmla="*/ 7024 w 11515"/>
              <a:gd name="T57" fmla="*/ 0 h 9428"/>
              <a:gd name="T58" fmla="*/ 6308 w 11515"/>
              <a:gd name="T59" fmla="*/ 521 h 9428"/>
              <a:gd name="T60" fmla="*/ 4605 w 11515"/>
              <a:gd name="T61" fmla="*/ 4208 h 9428"/>
              <a:gd name="T62" fmla="*/ 4715 w 11515"/>
              <a:gd name="T63" fmla="*/ 1862 h 9428"/>
              <a:gd name="T64" fmla="*/ 3755 w 11515"/>
              <a:gd name="T65" fmla="*/ 1278 h 9428"/>
              <a:gd name="T66" fmla="*/ 4589 w 11515"/>
              <a:gd name="T67" fmla="*/ 0 h 9428"/>
              <a:gd name="T68" fmla="*/ 3743 w 11515"/>
              <a:gd name="T69" fmla="*/ 1281 h 9428"/>
              <a:gd name="T70" fmla="*/ 4139 w 11515"/>
              <a:gd name="T71" fmla="*/ 4181 h 9428"/>
              <a:gd name="T72" fmla="*/ 3679 w 11515"/>
              <a:gd name="T73" fmla="*/ 3218 h 9428"/>
              <a:gd name="T74" fmla="*/ 3015 w 11515"/>
              <a:gd name="T75" fmla="*/ 3130 h 9428"/>
              <a:gd name="T76" fmla="*/ 4412 w 11515"/>
              <a:gd name="T77" fmla="*/ 0 h 9428"/>
              <a:gd name="T78" fmla="*/ 3004 w 11515"/>
              <a:gd name="T79" fmla="*/ 3138 h 9428"/>
              <a:gd name="T80" fmla="*/ 3586 w 11515"/>
              <a:gd name="T81" fmla="*/ 4155 h 9428"/>
              <a:gd name="T82" fmla="*/ 4139 w 11515"/>
              <a:gd name="T83" fmla="*/ 4191 h 9428"/>
              <a:gd name="T84" fmla="*/ 4577 w 11515"/>
              <a:gd name="T85" fmla="*/ 6458 h 9428"/>
              <a:gd name="T86" fmla="*/ 7539 w 11515"/>
              <a:gd name="T87" fmla="*/ 9420 h 9428"/>
              <a:gd name="T88" fmla="*/ 7584 w 11515"/>
              <a:gd name="T89" fmla="*/ 9428 h 9428"/>
              <a:gd name="T90" fmla="*/ 5777 w 11515"/>
              <a:gd name="T91" fmla="*/ 8220 h 9428"/>
              <a:gd name="T92" fmla="*/ 4147 w 11515"/>
              <a:gd name="T93" fmla="*/ 4292 h 9428"/>
              <a:gd name="T94" fmla="*/ 4615 w 11515"/>
              <a:gd name="T95" fmla="*/ 4218 h 9428"/>
              <a:gd name="T96" fmla="*/ 5067 w 11515"/>
              <a:gd name="T97" fmla="*/ 2227 h 9428"/>
              <a:gd name="T98" fmla="*/ 7024 w 11515"/>
              <a:gd name="T99" fmla="*/ 0 h 94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1515" h="9428">
                <a:moveTo>
                  <a:pt x="11515" y="9100"/>
                </a:moveTo>
                <a:cubicBezTo>
                  <a:pt x="11374" y="9152"/>
                  <a:pt x="11231" y="9199"/>
                  <a:pt x="11084" y="9240"/>
                </a:cubicBezTo>
                <a:cubicBezTo>
                  <a:pt x="11080" y="9242"/>
                  <a:pt x="11080" y="9242"/>
                  <a:pt x="11080" y="9242"/>
                </a:cubicBezTo>
                <a:cubicBezTo>
                  <a:pt x="11114" y="9428"/>
                  <a:pt x="11114" y="9428"/>
                  <a:pt x="11114" y="9428"/>
                </a:cubicBezTo>
                <a:cubicBezTo>
                  <a:pt x="11124" y="9428"/>
                  <a:pt x="11124" y="9428"/>
                  <a:pt x="11124" y="9428"/>
                </a:cubicBezTo>
                <a:cubicBezTo>
                  <a:pt x="11091" y="9249"/>
                  <a:pt x="11091" y="9249"/>
                  <a:pt x="11091" y="9249"/>
                </a:cubicBezTo>
                <a:cubicBezTo>
                  <a:pt x="11235" y="9208"/>
                  <a:pt x="11376" y="9162"/>
                  <a:pt x="11515" y="9110"/>
                </a:cubicBezTo>
                <a:cubicBezTo>
                  <a:pt x="11515" y="9100"/>
                  <a:pt x="11515" y="9100"/>
                  <a:pt x="11515" y="9100"/>
                </a:cubicBezTo>
                <a:moveTo>
                  <a:pt x="1011" y="0"/>
                </a:moveTo>
                <a:cubicBezTo>
                  <a:pt x="1000" y="0"/>
                  <a:pt x="1000" y="0"/>
                  <a:pt x="1000" y="0"/>
                </a:cubicBezTo>
                <a:cubicBezTo>
                  <a:pt x="944" y="113"/>
                  <a:pt x="890" y="227"/>
                  <a:pt x="839" y="342"/>
                </a:cubicBezTo>
                <a:cubicBezTo>
                  <a:pt x="282" y="1588"/>
                  <a:pt x="0" y="2917"/>
                  <a:pt x="0" y="4292"/>
                </a:cubicBezTo>
                <a:cubicBezTo>
                  <a:pt x="0" y="5602"/>
                  <a:pt x="257" y="6873"/>
                  <a:pt x="763" y="8070"/>
                </a:cubicBezTo>
                <a:cubicBezTo>
                  <a:pt x="963" y="8543"/>
                  <a:pt x="1198" y="8996"/>
                  <a:pt x="1468" y="9428"/>
                </a:cubicBezTo>
                <a:cubicBezTo>
                  <a:pt x="1479" y="9428"/>
                  <a:pt x="1479" y="9428"/>
                  <a:pt x="1479" y="9428"/>
                </a:cubicBezTo>
                <a:cubicBezTo>
                  <a:pt x="1209" y="8995"/>
                  <a:pt x="972" y="8541"/>
                  <a:pt x="772" y="8066"/>
                </a:cubicBezTo>
                <a:cubicBezTo>
                  <a:pt x="266" y="6871"/>
                  <a:pt x="10" y="5601"/>
                  <a:pt x="10" y="4292"/>
                </a:cubicBezTo>
                <a:cubicBezTo>
                  <a:pt x="10" y="2918"/>
                  <a:pt x="292" y="1591"/>
                  <a:pt x="848" y="346"/>
                </a:cubicBezTo>
                <a:cubicBezTo>
                  <a:pt x="900" y="229"/>
                  <a:pt x="954" y="114"/>
                  <a:pt x="1011" y="0"/>
                </a:cubicBezTo>
                <a:moveTo>
                  <a:pt x="3475" y="0"/>
                </a:moveTo>
                <a:cubicBezTo>
                  <a:pt x="3463" y="0"/>
                  <a:pt x="3463" y="0"/>
                  <a:pt x="3463" y="0"/>
                </a:cubicBezTo>
                <a:cubicBezTo>
                  <a:pt x="3328" y="194"/>
                  <a:pt x="3203" y="395"/>
                  <a:pt x="3086" y="602"/>
                </a:cubicBezTo>
                <a:cubicBezTo>
                  <a:pt x="2472" y="278"/>
                  <a:pt x="2472" y="278"/>
                  <a:pt x="2472" y="278"/>
                </a:cubicBezTo>
                <a:cubicBezTo>
                  <a:pt x="2524" y="184"/>
                  <a:pt x="2578" y="91"/>
                  <a:pt x="2634" y="0"/>
                </a:cubicBezTo>
                <a:cubicBezTo>
                  <a:pt x="2623" y="0"/>
                  <a:pt x="2623" y="0"/>
                  <a:pt x="2623" y="0"/>
                </a:cubicBezTo>
                <a:cubicBezTo>
                  <a:pt x="2568" y="90"/>
                  <a:pt x="2515" y="181"/>
                  <a:pt x="2464" y="273"/>
                </a:cubicBezTo>
                <a:cubicBezTo>
                  <a:pt x="2173" y="120"/>
                  <a:pt x="2173" y="120"/>
                  <a:pt x="2173" y="120"/>
                </a:cubicBezTo>
                <a:cubicBezTo>
                  <a:pt x="2196" y="80"/>
                  <a:pt x="2218" y="40"/>
                  <a:pt x="2241" y="0"/>
                </a:cubicBezTo>
                <a:cubicBezTo>
                  <a:pt x="2230" y="0"/>
                  <a:pt x="2230" y="0"/>
                  <a:pt x="2230" y="0"/>
                </a:cubicBezTo>
                <a:cubicBezTo>
                  <a:pt x="2207" y="40"/>
                  <a:pt x="2185" y="79"/>
                  <a:pt x="2162" y="119"/>
                </a:cubicBezTo>
                <a:cubicBezTo>
                  <a:pt x="2160" y="123"/>
                  <a:pt x="2160" y="123"/>
                  <a:pt x="2160" y="123"/>
                </a:cubicBezTo>
                <a:cubicBezTo>
                  <a:pt x="2459" y="281"/>
                  <a:pt x="2459" y="281"/>
                  <a:pt x="2459" y="281"/>
                </a:cubicBezTo>
                <a:cubicBezTo>
                  <a:pt x="2126" y="881"/>
                  <a:pt x="1868" y="1521"/>
                  <a:pt x="1694" y="2184"/>
                </a:cubicBezTo>
                <a:cubicBezTo>
                  <a:pt x="1513" y="2868"/>
                  <a:pt x="1421" y="3577"/>
                  <a:pt x="1420" y="4292"/>
                </a:cubicBezTo>
                <a:cubicBezTo>
                  <a:pt x="1423" y="5916"/>
                  <a:pt x="1895" y="7490"/>
                  <a:pt x="2786" y="8843"/>
                </a:cubicBezTo>
                <a:cubicBezTo>
                  <a:pt x="2043" y="9428"/>
                  <a:pt x="2043" y="9428"/>
                  <a:pt x="2043" y="9428"/>
                </a:cubicBezTo>
                <a:cubicBezTo>
                  <a:pt x="2058" y="9428"/>
                  <a:pt x="2058" y="9428"/>
                  <a:pt x="2058" y="9428"/>
                </a:cubicBezTo>
                <a:cubicBezTo>
                  <a:pt x="2796" y="8847"/>
                  <a:pt x="2796" y="8847"/>
                  <a:pt x="2796" y="8847"/>
                </a:cubicBezTo>
                <a:cubicBezTo>
                  <a:pt x="2799" y="8845"/>
                  <a:pt x="2799" y="8845"/>
                  <a:pt x="2799" y="8845"/>
                </a:cubicBezTo>
                <a:cubicBezTo>
                  <a:pt x="2797" y="8841"/>
                  <a:pt x="2797" y="8841"/>
                  <a:pt x="2797" y="8841"/>
                </a:cubicBezTo>
                <a:cubicBezTo>
                  <a:pt x="1905" y="7489"/>
                  <a:pt x="1432" y="5916"/>
                  <a:pt x="1430" y="4292"/>
                </a:cubicBezTo>
                <a:cubicBezTo>
                  <a:pt x="1431" y="3578"/>
                  <a:pt x="1523" y="2870"/>
                  <a:pt x="1703" y="2186"/>
                </a:cubicBezTo>
                <a:cubicBezTo>
                  <a:pt x="1877" y="1525"/>
                  <a:pt x="2135" y="885"/>
                  <a:pt x="2467" y="286"/>
                </a:cubicBezTo>
                <a:cubicBezTo>
                  <a:pt x="3090" y="615"/>
                  <a:pt x="3090" y="615"/>
                  <a:pt x="3090" y="615"/>
                </a:cubicBezTo>
                <a:cubicBezTo>
                  <a:pt x="3092" y="611"/>
                  <a:pt x="3092" y="611"/>
                  <a:pt x="3092" y="611"/>
                </a:cubicBezTo>
                <a:cubicBezTo>
                  <a:pt x="3210" y="401"/>
                  <a:pt x="3338" y="197"/>
                  <a:pt x="3475" y="0"/>
                </a:cubicBezTo>
                <a:moveTo>
                  <a:pt x="3624" y="0"/>
                </a:moveTo>
                <a:cubicBezTo>
                  <a:pt x="3612" y="0"/>
                  <a:pt x="3612" y="0"/>
                  <a:pt x="3612" y="0"/>
                </a:cubicBezTo>
                <a:cubicBezTo>
                  <a:pt x="3297" y="445"/>
                  <a:pt x="3033" y="924"/>
                  <a:pt x="2821" y="1431"/>
                </a:cubicBezTo>
                <a:cubicBezTo>
                  <a:pt x="2442" y="2339"/>
                  <a:pt x="2250" y="3301"/>
                  <a:pt x="2250" y="4293"/>
                </a:cubicBezTo>
                <a:cubicBezTo>
                  <a:pt x="2250" y="5810"/>
                  <a:pt x="2703" y="7271"/>
                  <a:pt x="3561" y="8516"/>
                </a:cubicBezTo>
                <a:cubicBezTo>
                  <a:pt x="3784" y="8839"/>
                  <a:pt x="4031" y="9144"/>
                  <a:pt x="4301" y="9428"/>
                </a:cubicBezTo>
                <a:cubicBezTo>
                  <a:pt x="4314" y="9428"/>
                  <a:pt x="4314" y="9428"/>
                  <a:pt x="4314" y="9428"/>
                </a:cubicBezTo>
                <a:cubicBezTo>
                  <a:pt x="4042" y="9143"/>
                  <a:pt x="3793" y="8836"/>
                  <a:pt x="3569" y="8510"/>
                </a:cubicBezTo>
                <a:cubicBezTo>
                  <a:pt x="2712" y="7267"/>
                  <a:pt x="2260" y="5808"/>
                  <a:pt x="2260" y="4293"/>
                </a:cubicBezTo>
                <a:cubicBezTo>
                  <a:pt x="2260" y="3303"/>
                  <a:pt x="2452" y="2341"/>
                  <a:pt x="2830" y="1434"/>
                </a:cubicBezTo>
                <a:cubicBezTo>
                  <a:pt x="3042" y="926"/>
                  <a:pt x="3308" y="446"/>
                  <a:pt x="3624" y="0"/>
                </a:cubicBezTo>
                <a:moveTo>
                  <a:pt x="7024" y="0"/>
                </a:moveTo>
                <a:cubicBezTo>
                  <a:pt x="7005" y="0"/>
                  <a:pt x="7005" y="0"/>
                  <a:pt x="7005" y="0"/>
                </a:cubicBezTo>
                <a:cubicBezTo>
                  <a:pt x="6760" y="152"/>
                  <a:pt x="6528" y="326"/>
                  <a:pt x="6308" y="521"/>
                </a:cubicBezTo>
                <a:cubicBezTo>
                  <a:pt x="5772" y="1000"/>
                  <a:pt x="5351" y="1573"/>
                  <a:pt x="5058" y="2223"/>
                </a:cubicBezTo>
                <a:cubicBezTo>
                  <a:pt x="4776" y="2849"/>
                  <a:pt x="4623" y="3516"/>
                  <a:pt x="4605" y="4208"/>
                </a:cubicBezTo>
                <a:cubicBezTo>
                  <a:pt x="4149" y="4182"/>
                  <a:pt x="4149" y="4182"/>
                  <a:pt x="4149" y="4182"/>
                </a:cubicBezTo>
                <a:cubicBezTo>
                  <a:pt x="4166" y="3378"/>
                  <a:pt x="4357" y="2598"/>
                  <a:pt x="4715" y="1862"/>
                </a:cubicBezTo>
                <a:cubicBezTo>
                  <a:pt x="4717" y="1858"/>
                  <a:pt x="4717" y="1858"/>
                  <a:pt x="4717" y="1858"/>
                </a:cubicBezTo>
                <a:cubicBezTo>
                  <a:pt x="3755" y="1278"/>
                  <a:pt x="3755" y="1278"/>
                  <a:pt x="3755" y="1278"/>
                </a:cubicBezTo>
                <a:cubicBezTo>
                  <a:pt x="3988" y="820"/>
                  <a:pt x="4272" y="392"/>
                  <a:pt x="4602" y="0"/>
                </a:cubicBezTo>
                <a:cubicBezTo>
                  <a:pt x="4589" y="0"/>
                  <a:pt x="4589" y="0"/>
                  <a:pt x="4589" y="0"/>
                </a:cubicBezTo>
                <a:cubicBezTo>
                  <a:pt x="4260" y="392"/>
                  <a:pt x="3977" y="820"/>
                  <a:pt x="3745" y="1277"/>
                </a:cubicBezTo>
                <a:cubicBezTo>
                  <a:pt x="3743" y="1281"/>
                  <a:pt x="3743" y="1281"/>
                  <a:pt x="3743" y="1281"/>
                </a:cubicBezTo>
                <a:cubicBezTo>
                  <a:pt x="4705" y="1862"/>
                  <a:pt x="4705" y="1862"/>
                  <a:pt x="4705" y="1862"/>
                </a:cubicBezTo>
                <a:cubicBezTo>
                  <a:pt x="4347" y="2597"/>
                  <a:pt x="4156" y="3378"/>
                  <a:pt x="4139" y="4181"/>
                </a:cubicBezTo>
                <a:cubicBezTo>
                  <a:pt x="3595" y="4150"/>
                  <a:pt x="3595" y="4150"/>
                  <a:pt x="3595" y="4150"/>
                </a:cubicBezTo>
                <a:cubicBezTo>
                  <a:pt x="3600" y="3836"/>
                  <a:pt x="3628" y="3522"/>
                  <a:pt x="3679" y="3218"/>
                </a:cubicBezTo>
                <a:cubicBezTo>
                  <a:pt x="3680" y="3213"/>
                  <a:pt x="3680" y="3213"/>
                  <a:pt x="3680" y="3213"/>
                </a:cubicBezTo>
                <a:cubicBezTo>
                  <a:pt x="3015" y="3130"/>
                  <a:pt x="3015" y="3130"/>
                  <a:pt x="3015" y="3130"/>
                </a:cubicBezTo>
                <a:cubicBezTo>
                  <a:pt x="3213" y="1944"/>
                  <a:pt x="3686" y="895"/>
                  <a:pt x="4425" y="0"/>
                </a:cubicBezTo>
                <a:cubicBezTo>
                  <a:pt x="4412" y="0"/>
                  <a:pt x="4412" y="0"/>
                  <a:pt x="4412" y="0"/>
                </a:cubicBezTo>
                <a:cubicBezTo>
                  <a:pt x="3675" y="896"/>
                  <a:pt x="3202" y="1947"/>
                  <a:pt x="3005" y="3133"/>
                </a:cubicBezTo>
                <a:cubicBezTo>
                  <a:pt x="3004" y="3138"/>
                  <a:pt x="3004" y="3138"/>
                  <a:pt x="3004" y="3138"/>
                </a:cubicBezTo>
                <a:cubicBezTo>
                  <a:pt x="3668" y="3221"/>
                  <a:pt x="3668" y="3221"/>
                  <a:pt x="3668" y="3221"/>
                </a:cubicBezTo>
                <a:cubicBezTo>
                  <a:pt x="3618" y="3526"/>
                  <a:pt x="3590" y="3840"/>
                  <a:pt x="3586" y="4155"/>
                </a:cubicBezTo>
                <a:cubicBezTo>
                  <a:pt x="3585" y="4159"/>
                  <a:pt x="3585" y="4159"/>
                  <a:pt x="3585" y="4159"/>
                </a:cubicBezTo>
                <a:cubicBezTo>
                  <a:pt x="4139" y="4191"/>
                  <a:pt x="4139" y="4191"/>
                  <a:pt x="4139" y="4191"/>
                </a:cubicBezTo>
                <a:cubicBezTo>
                  <a:pt x="4138" y="4229"/>
                  <a:pt x="4138" y="4261"/>
                  <a:pt x="4138" y="4292"/>
                </a:cubicBezTo>
                <a:cubicBezTo>
                  <a:pt x="4139" y="5044"/>
                  <a:pt x="4287" y="5772"/>
                  <a:pt x="4577" y="6458"/>
                </a:cubicBezTo>
                <a:cubicBezTo>
                  <a:pt x="4858" y="7121"/>
                  <a:pt x="5259" y="7716"/>
                  <a:pt x="5770" y="8226"/>
                </a:cubicBezTo>
                <a:cubicBezTo>
                  <a:pt x="6281" y="8737"/>
                  <a:pt x="6876" y="9139"/>
                  <a:pt x="7539" y="9420"/>
                </a:cubicBezTo>
                <a:cubicBezTo>
                  <a:pt x="7545" y="9422"/>
                  <a:pt x="7552" y="9425"/>
                  <a:pt x="7559" y="9428"/>
                </a:cubicBezTo>
                <a:cubicBezTo>
                  <a:pt x="7584" y="9428"/>
                  <a:pt x="7584" y="9428"/>
                  <a:pt x="7584" y="9428"/>
                </a:cubicBezTo>
                <a:cubicBezTo>
                  <a:pt x="7570" y="9422"/>
                  <a:pt x="7556" y="9416"/>
                  <a:pt x="7542" y="9411"/>
                </a:cubicBezTo>
                <a:cubicBezTo>
                  <a:pt x="6881" y="9130"/>
                  <a:pt x="6287" y="8730"/>
                  <a:pt x="5777" y="8220"/>
                </a:cubicBezTo>
                <a:cubicBezTo>
                  <a:pt x="5267" y="7710"/>
                  <a:pt x="4867" y="7116"/>
                  <a:pt x="4586" y="6454"/>
                </a:cubicBezTo>
                <a:cubicBezTo>
                  <a:pt x="4296" y="5770"/>
                  <a:pt x="4149" y="5042"/>
                  <a:pt x="4147" y="4292"/>
                </a:cubicBezTo>
                <a:cubicBezTo>
                  <a:pt x="4147" y="4262"/>
                  <a:pt x="4148" y="4229"/>
                  <a:pt x="4149" y="4191"/>
                </a:cubicBezTo>
                <a:cubicBezTo>
                  <a:pt x="4615" y="4218"/>
                  <a:pt x="4615" y="4218"/>
                  <a:pt x="4615" y="4218"/>
                </a:cubicBezTo>
                <a:cubicBezTo>
                  <a:pt x="4615" y="4213"/>
                  <a:pt x="4615" y="4213"/>
                  <a:pt x="4615" y="4213"/>
                </a:cubicBezTo>
                <a:cubicBezTo>
                  <a:pt x="4632" y="3521"/>
                  <a:pt x="4784" y="2853"/>
                  <a:pt x="5067" y="2227"/>
                </a:cubicBezTo>
                <a:cubicBezTo>
                  <a:pt x="5360" y="1578"/>
                  <a:pt x="5780" y="1006"/>
                  <a:pt x="6315" y="528"/>
                </a:cubicBezTo>
                <a:cubicBezTo>
                  <a:pt x="6538" y="330"/>
                  <a:pt x="6774" y="154"/>
                  <a:pt x="7024" y="0"/>
                </a:cubicBezTo>
              </a:path>
            </a:pathLst>
          </a:custGeom>
          <a:solidFill>
            <a:srgbClr val="047C64">
              <a:alpha val="12000"/>
            </a:srgbClr>
          </a:solidFill>
          <a:ln w="38100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Sakkal Majalla" panose="02000000000000000000" pitchFamily="2" charset="-7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0319E5-5F12-AD0D-0A48-5B4565566C26}"/>
              </a:ext>
            </a:extLst>
          </p:cNvPr>
          <p:cNvSpPr/>
          <p:nvPr userDrawn="1"/>
        </p:nvSpPr>
        <p:spPr>
          <a:xfrm>
            <a:off x="12090401" y="252991"/>
            <a:ext cx="101600" cy="85093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Sakkal Majalla" panose="02000000000000000000" pitchFamily="2" charset="-78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9169B1-BF31-3D56-6C35-7967FA1BBAC9}"/>
              </a:ext>
            </a:extLst>
          </p:cNvPr>
          <p:cNvSpPr/>
          <p:nvPr userDrawn="1"/>
        </p:nvSpPr>
        <p:spPr>
          <a:xfrm>
            <a:off x="443239" y="6238143"/>
            <a:ext cx="502268" cy="6198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Sakkal Majalla" panose="02000000000000000000" pitchFamily="2" charset="-78"/>
            </a:endParaRPr>
          </a:p>
        </p:txBody>
      </p:sp>
      <p:cxnSp>
        <p:nvCxnSpPr>
          <p:cNvPr id="15" name="رابط مستقيم 7">
            <a:extLst>
              <a:ext uri="{FF2B5EF4-FFF2-40B4-BE49-F238E27FC236}">
                <a16:creationId xmlns:a16="http://schemas.microsoft.com/office/drawing/2014/main" id="{69791D7E-621D-F52D-F7FE-F050863E05E2}"/>
              </a:ext>
            </a:extLst>
          </p:cNvPr>
          <p:cNvCxnSpPr>
            <a:cxnSpLocks/>
          </p:cNvCxnSpPr>
          <p:nvPr userDrawn="1"/>
        </p:nvCxnSpPr>
        <p:spPr>
          <a:xfrm flipH="1">
            <a:off x="442913" y="6839826"/>
            <a:ext cx="502920" cy="0"/>
          </a:xfrm>
          <a:prstGeom prst="line">
            <a:avLst/>
          </a:prstGeom>
          <a:ln w="38100">
            <a:solidFill>
              <a:srgbClr val="CBA4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رابط مستقيم 7">
            <a:extLst>
              <a:ext uri="{FF2B5EF4-FFF2-40B4-BE49-F238E27FC236}">
                <a16:creationId xmlns:a16="http://schemas.microsoft.com/office/drawing/2014/main" id="{ADE573F8-4425-2008-AE97-C995433E0291}"/>
              </a:ext>
            </a:extLst>
          </p:cNvPr>
          <p:cNvCxnSpPr>
            <a:cxnSpLocks/>
          </p:cNvCxnSpPr>
          <p:nvPr userDrawn="1"/>
        </p:nvCxnSpPr>
        <p:spPr>
          <a:xfrm flipH="1">
            <a:off x="442913" y="6257193"/>
            <a:ext cx="502920" cy="0"/>
          </a:xfrm>
          <a:prstGeom prst="line">
            <a:avLst/>
          </a:prstGeom>
          <a:ln w="38100">
            <a:solidFill>
              <a:srgbClr val="CBA4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F068AA61-5469-31FF-3CD8-56C74EDC7E79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517690" y="6369696"/>
            <a:ext cx="353365" cy="357627"/>
          </a:xfrm>
          <a:prstGeom prst="rect">
            <a:avLst/>
          </a:prstGeom>
        </p:spPr>
      </p:pic>
      <p:sp>
        <p:nvSpPr>
          <p:cNvPr id="28" name="Slide Number">
            <a:extLst>
              <a:ext uri="{FF2B5EF4-FFF2-40B4-BE49-F238E27FC236}">
                <a16:creationId xmlns:a16="http://schemas.microsoft.com/office/drawing/2014/main" id="{D4522E79-51DA-DDBA-B2CC-8A13AA2409FC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597218" y="6470604"/>
            <a:ext cx="194310" cy="1617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 defTabSz="610753" rtl="1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051" smtClean="0">
                <a:solidFill>
                  <a:srgbClr val="00513C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pPr algn="ctr" defTabSz="610753" rtl="1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051">
              <a:solidFill>
                <a:srgbClr val="00513C"/>
              </a:solidFill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  <p:sp>
        <p:nvSpPr>
          <p:cNvPr id="29" name="Slide Number">
            <a:extLst>
              <a:ext uri="{FF2B5EF4-FFF2-40B4-BE49-F238E27FC236}">
                <a16:creationId xmlns:a16="http://schemas.microsoft.com/office/drawing/2014/main" id="{46A422BD-0996-B5CB-E1F2-D2BAA675E3A8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597218" y="6470604"/>
            <a:ext cx="194310" cy="1617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 defTabSz="610753" rtl="1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051" smtClean="0">
                <a:solidFill>
                  <a:srgbClr val="00513C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pPr algn="ctr" defTabSz="610753" rtl="1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051">
              <a:solidFill>
                <a:srgbClr val="00513C"/>
              </a:solidFill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  <p:sp>
        <p:nvSpPr>
          <p:cNvPr id="8" name="hcSlideMaster.3_Title and ContentHeader" descr="Classification: Public ">
            <a:extLst>
              <a:ext uri="{FF2B5EF4-FFF2-40B4-BE49-F238E27FC236}">
                <a16:creationId xmlns:a16="http://schemas.microsoft.com/office/drawing/2014/main" id="{206CAD04-0D81-46B6-9975-915A0DF08C7A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Classification: </a:t>
            </a:r>
            <a:r>
              <a:rPr lang="en-US" sz="1200" b="1" i="0" u="none" strike="noStrike" baseline="0">
                <a:solidFill>
                  <a:srgbClr val="008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</a:t>
            </a:r>
            <a:r>
              <a:rPr lang="en-US" sz="12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753316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-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06E4DEC-99F3-AB52-0DB2-50A24DDBF4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2525140"/>
            <a:ext cx="4575175" cy="168342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800" b="1">
                <a:solidFill>
                  <a:schemeClr val="accent2"/>
                </a:solidFill>
                <a:effectLst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2" name="hcSlideMaster.Section-TitleHeader" descr="Classification: Public ">
            <a:extLst>
              <a:ext uri="{FF2B5EF4-FFF2-40B4-BE49-F238E27FC236}">
                <a16:creationId xmlns:a16="http://schemas.microsoft.com/office/drawing/2014/main" id="{A8687B4A-07B4-499F-AE9A-D7C3249BE6E2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Classification: </a:t>
            </a:r>
            <a:r>
              <a:rPr lang="en-US" sz="1200" b="1" i="0" u="none" strike="noStrike" baseline="0">
                <a:solidFill>
                  <a:srgbClr val="008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</a:t>
            </a:r>
            <a:r>
              <a:rPr lang="en-US" sz="12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122437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-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06E4DEC-99F3-AB52-0DB2-50A24DDBF4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2525140"/>
            <a:ext cx="4575175" cy="168342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800" b="1">
                <a:solidFill>
                  <a:schemeClr val="accent2"/>
                </a:solidFill>
                <a:effectLst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2" name="hcSlideMaster26.Section-TitleHeader" descr="Classification: Public ">
            <a:extLst>
              <a:ext uri="{FF2B5EF4-FFF2-40B4-BE49-F238E27FC236}">
                <a16:creationId xmlns:a16="http://schemas.microsoft.com/office/drawing/2014/main" id="{21BCF73B-3B29-4EC2-A5A8-456A209B802E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Classification: </a:t>
            </a:r>
            <a:r>
              <a:rPr lang="en-US" sz="1200" b="1" i="0" u="none" strike="noStrike" baseline="0">
                <a:solidFill>
                  <a:srgbClr val="008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</a:t>
            </a:r>
            <a:r>
              <a:rPr lang="en-US" sz="12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555367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7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95" imgH="396" progId="TCLayout.ActiveDocument.1">
                  <p:embed/>
                </p:oleObj>
              </mc:Choice>
              <mc:Fallback>
                <p:oleObj name="think-cell Slide" r:id="rId8" imgW="395" imgH="396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08D27454-458B-403A-BEF8-20275FB1D4B4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382661"/>
            <a:ext cx="12192000" cy="4753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A33969A-6A15-4BF0-ACB1-BADC14D0E1E8}"/>
              </a:ext>
            </a:extLst>
          </p:cNvPr>
          <p:cNvSpPr txBox="1"/>
          <p:nvPr userDrawn="1"/>
        </p:nvSpPr>
        <p:spPr>
          <a:xfrm>
            <a:off x="378909" y="6527541"/>
            <a:ext cx="5537704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0" i="0">
                <a:effectLst/>
                <a:latin typeface="Tahoma" panose="020B0604030504040204" pitchFamily="34" charset="0"/>
              </a:rPr>
              <a:t>​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63B95B6-7D3A-4287-BF15-06FBC71D319A}"/>
              </a:ext>
            </a:extLst>
          </p:cNvPr>
          <p:cNvSpPr txBox="1">
            <a:spLocks/>
          </p:cNvSpPr>
          <p:nvPr userDrawn="1"/>
        </p:nvSpPr>
        <p:spPr>
          <a:xfrm>
            <a:off x="9569264" y="625520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234C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9AA0B3-1231-0F4A-B722-E9200FF4BE8C}" type="slidenum">
              <a:rPr lang="en-US" sz="1400" smtClean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  <a:sym typeface="Arial" panose="020B0604020202020204" pitchFamily="34" charset="0"/>
              </a:rPr>
              <a:pPr/>
              <a:t>‹#›</a:t>
            </a:fld>
            <a:endParaRPr lang="en-US" sz="140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  <a:sym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EEDF83-266E-BCA7-FFDB-5CCBA80F94DF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1294279" y="43269"/>
            <a:ext cx="897721" cy="5286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DAE627-75AA-5D1E-DEDC-3E184910B6A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33813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</a:t>
            </a:r>
          </a:p>
        </p:txBody>
      </p:sp>
      <p:pic>
        <p:nvPicPr>
          <p:cNvPr id="3" name="Picture 2" descr="شعار وزارة الداخلية Download png">
            <a:extLst>
              <a:ext uri="{FF2B5EF4-FFF2-40B4-BE49-F238E27FC236}">
                <a16:creationId xmlns:a16="http://schemas.microsoft.com/office/drawing/2014/main" id="{18ACC741-0DFC-005E-0373-AA416F920C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105"/>
            <a:ext cx="1087644" cy="1087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852E4D-A9ED-254A-8E0D-654FDF0CCCB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364" y="99978"/>
            <a:ext cx="914400" cy="94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435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1" r:id="rId2"/>
    <p:sldLayoutId id="2147483672" r:id="rId3"/>
    <p:sldLayoutId id="2147483675" r:id="rId4"/>
    <p:sldLayoutId id="2147483676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F89B21F-58CF-E43E-841C-645924A4F0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7"/>
          <a:stretch/>
        </p:blipFill>
        <p:spPr>
          <a:xfrm>
            <a:off x="0" y="1666240"/>
            <a:ext cx="12192000" cy="519176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2515478-7985-C190-0C70-737378A43964}"/>
              </a:ext>
            </a:extLst>
          </p:cNvPr>
          <p:cNvSpPr/>
          <p:nvPr userDrawn="1"/>
        </p:nvSpPr>
        <p:spPr>
          <a:xfrm>
            <a:off x="426720" y="5501640"/>
            <a:ext cx="3063240" cy="1099950"/>
          </a:xfrm>
          <a:prstGeom prst="rect">
            <a:avLst/>
          </a:prstGeom>
          <a:solidFill>
            <a:srgbClr val="2750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74C89C-9201-D2BA-FA63-48C8F48D9BE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33813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</a:t>
            </a:r>
          </a:p>
        </p:txBody>
      </p:sp>
      <p:pic>
        <p:nvPicPr>
          <p:cNvPr id="4" name="Picture 2" descr="شعار وزارة الداخلية Download png">
            <a:extLst>
              <a:ext uri="{FF2B5EF4-FFF2-40B4-BE49-F238E27FC236}">
                <a16:creationId xmlns:a16="http://schemas.microsoft.com/office/drawing/2014/main" id="{04495994-4552-EC12-9B70-CC2C5D9579C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28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8CA422-9A86-0F9B-7CCC-5C6EF066C27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232842" y="375921"/>
            <a:ext cx="1828800" cy="10769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275E84-2A4E-209D-4F15-72222D12C08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12087"/>
            <a:ext cx="1505900" cy="155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410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>
          <p15:clr>
            <a:srgbClr val="F26B43"/>
          </p15:clr>
        </p15:guide>
        <p15:guide id="3" pos="384">
          <p15:clr>
            <a:srgbClr val="F26B43"/>
          </p15:clr>
        </p15:guide>
        <p15:guide id="4" pos="7296">
          <p15:clr>
            <a:srgbClr val="F26B43"/>
          </p15:clr>
        </p15:guide>
        <p15:guide id="5" pos="3768">
          <p15:clr>
            <a:srgbClr val="F26B43"/>
          </p15:clr>
        </p15:guide>
        <p15:guide id="6" pos="3840">
          <p15:clr>
            <a:srgbClr val="F26B43"/>
          </p15:clr>
        </p15:guide>
        <p15:guide id="7" pos="3912">
          <p15:clr>
            <a:srgbClr val="F26B43"/>
          </p15:clr>
        </p15:guide>
        <p15:guide id="8" orient="horz" pos="2160">
          <p15:clr>
            <a:srgbClr val="F26B43"/>
          </p15:clr>
        </p15:guide>
        <p15:guide id="9" orient="horz" pos="2232">
          <p15:clr>
            <a:srgbClr val="F26B43"/>
          </p15:clr>
        </p15:guide>
        <p15:guide id="10" orient="horz" pos="2088">
          <p15:clr>
            <a:srgbClr val="F26B43"/>
          </p15:clr>
        </p15:guide>
        <p15:guide id="11" orient="horz" pos="40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086A8-2B44-AEED-A2B8-E6ABDF990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1312" y="2473204"/>
            <a:ext cx="5512538" cy="1186794"/>
          </a:xfrm>
        </p:spPr>
        <p:txBody>
          <a:bodyPr/>
          <a:lstStyle/>
          <a:p>
            <a:pPr algn="r"/>
            <a:r>
              <a:rPr lang="ar-JO" sz="2700" dirty="0">
                <a:latin typeface="Tajawal" panose="00000500000000000000" pitchFamily="2" charset="-78"/>
                <a:cs typeface="Tajawal" panose="00000500000000000000" pitchFamily="2" charset="-78"/>
              </a:rPr>
              <a:t>مشروع اتمتة إجراءات نزلاء السجون</a:t>
            </a:r>
            <a:endParaRPr lang="en-US" sz="27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4B56323-B77C-A57D-06C1-45C22FF0B38C}"/>
              </a:ext>
            </a:extLst>
          </p:cNvPr>
          <p:cNvSpPr txBox="1">
            <a:spLocks/>
          </p:cNvSpPr>
          <p:nvPr/>
        </p:nvSpPr>
        <p:spPr>
          <a:xfrm>
            <a:off x="304237" y="5040086"/>
            <a:ext cx="7624483" cy="562895"/>
          </a:xfrm>
          <a:prstGeom prst="rect">
            <a:avLst/>
          </a:prstGeom>
        </p:spPr>
        <p:txBody>
          <a:bodyPr lIns="0" tIns="0" rIns="0" bIns="0"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500" b="1" kern="1200">
                <a:solidFill>
                  <a:schemeClr val="bg1"/>
                </a:solidFill>
                <a:latin typeface="Tahoma" panose="020B0604030504040204" pitchFamily="34" charset="0"/>
                <a:ea typeface="+mj-ea"/>
                <a:cs typeface="+mj-cs"/>
              </a:defRPr>
            </a:lvl1pPr>
          </a:lstStyle>
          <a:p>
            <a:r>
              <a:rPr lang="en-US" sz="4500"/>
              <a:t> </a:t>
            </a:r>
            <a:r>
              <a:rPr lang="en-US"/>
              <a:t> </a:t>
            </a:r>
            <a:br>
              <a:rPr lang="en-US"/>
            </a:br>
            <a:br>
              <a:rPr lang="en-US" sz="2700"/>
            </a:br>
            <a:endParaRPr lang="en-US" sz="27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79F6D3-8195-0D0E-6BF8-B156228576D7}"/>
              </a:ext>
            </a:extLst>
          </p:cNvPr>
          <p:cNvSpPr txBox="1"/>
          <p:nvPr/>
        </p:nvSpPr>
        <p:spPr>
          <a:xfrm>
            <a:off x="9019309" y="3864178"/>
            <a:ext cx="27345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LB" sz="2000" b="1" dirty="0">
                <a:solidFill>
                  <a:schemeClr val="bg1"/>
                </a:solidFill>
                <a:latin typeface="Tajawal" panose="00000500000000000000" pitchFamily="2" charset="-78"/>
                <a:ea typeface="+mj-ea"/>
                <a:cs typeface="Tajawal" panose="00000500000000000000" pitchFamily="2" charset="-78"/>
              </a:rPr>
              <a:t>21 أبريل 2026</a:t>
            </a:r>
          </a:p>
        </p:txBody>
      </p:sp>
    </p:spTree>
    <p:extLst>
      <p:ext uri="{BB962C8B-B14F-4D97-AF65-F5344CB8AC3E}">
        <p14:creationId xmlns:p14="http://schemas.microsoft.com/office/powerpoint/2010/main" val="750487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08ECF-F67C-1B2C-C7F6-6F71CE55E7A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839380" y="352455"/>
            <a:ext cx="3305160" cy="370559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r>
              <a:rPr lang="ar-JO" sz="3200" dirty="0">
                <a:solidFill>
                  <a:srgbClr val="234C5A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جدول </a:t>
            </a:r>
            <a:r>
              <a:rPr lang="ar-SA" sz="3200" dirty="0">
                <a:solidFill>
                  <a:srgbClr val="234C5A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الأعمال</a:t>
            </a:r>
            <a:r>
              <a:rPr lang="ar-JO" sz="3200" dirty="0">
                <a:solidFill>
                  <a:srgbClr val="234C5A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 </a:t>
            </a:r>
            <a:endParaRPr lang="en-US" sz="3200" dirty="0">
              <a:solidFill>
                <a:srgbClr val="234C5A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EF44A6B-5AA3-91FD-BCA5-8E199A939898}"/>
              </a:ext>
            </a:extLst>
          </p:cNvPr>
          <p:cNvSpPr/>
          <p:nvPr/>
        </p:nvSpPr>
        <p:spPr>
          <a:xfrm>
            <a:off x="3111071" y="1875738"/>
            <a:ext cx="5739533" cy="5732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JO" dirty="0">
                <a:latin typeface="Tajawal" panose="00000500000000000000" pitchFamily="2" charset="-78"/>
                <a:ea typeface="Tahoma" panose="020B0604030504040204" pitchFamily="34" charset="0"/>
                <a:cs typeface="Tajawal" panose="00000500000000000000" pitchFamily="2" charset="-78"/>
              </a:rPr>
              <a:t>01 </a:t>
            </a:r>
            <a:r>
              <a:rPr lang="ar-SA" dirty="0">
                <a:latin typeface="Tajawal" panose="00000500000000000000" pitchFamily="2" charset="-78"/>
                <a:ea typeface="Tahoma" panose="020B0604030504040204" pitchFamily="34" charset="0"/>
                <a:cs typeface="Tajawal" panose="00000500000000000000" pitchFamily="2" charset="-78"/>
              </a:rPr>
              <a:t>ملخص تنفيذي</a:t>
            </a:r>
            <a:r>
              <a:rPr lang="ar-JO" dirty="0">
                <a:latin typeface="Tajawal" panose="00000500000000000000" pitchFamily="2" charset="-78"/>
                <a:ea typeface="Tahoma" panose="020B0604030504040204" pitchFamily="34" charset="0"/>
                <a:cs typeface="Tajawal" panose="00000500000000000000" pitchFamily="2" charset="-78"/>
              </a:rPr>
              <a:t> </a:t>
            </a:r>
            <a:endParaRPr lang="en-US" dirty="0">
              <a:latin typeface="Tajawal" panose="00000500000000000000" pitchFamily="2" charset="-78"/>
              <a:ea typeface="Tahoma" panose="020B0604030504040204" pitchFamily="34" charset="0"/>
              <a:cs typeface="Tajawal" panose="000005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9852178-F566-4D37-EA4C-01703987E823}"/>
              </a:ext>
            </a:extLst>
          </p:cNvPr>
          <p:cNvSpPr/>
          <p:nvPr/>
        </p:nvSpPr>
        <p:spPr>
          <a:xfrm>
            <a:off x="3111071" y="2565029"/>
            <a:ext cx="5739533" cy="5732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JO" dirty="0">
                <a:latin typeface="Tajawal" panose="00000500000000000000" pitchFamily="2" charset="-78"/>
                <a:ea typeface="Tahoma" panose="020B0604030504040204" pitchFamily="34" charset="0"/>
                <a:cs typeface="Tajawal" panose="00000500000000000000" pitchFamily="2" charset="-78"/>
              </a:rPr>
              <a:t>02 </a:t>
            </a:r>
            <a:r>
              <a:rPr lang="ar-SA" dirty="0">
                <a:latin typeface="Tajawal" panose="00000500000000000000" pitchFamily="2" charset="-78"/>
                <a:ea typeface="Tahoma" panose="020B0604030504040204" pitchFamily="34" charset="0"/>
                <a:cs typeface="Tajawal" panose="00000500000000000000" pitchFamily="2" charset="-78"/>
              </a:rPr>
              <a:t>خط سير المشروع والمهام </a:t>
            </a:r>
            <a:endParaRPr lang="en-US" dirty="0">
              <a:latin typeface="Tajawal" panose="00000500000000000000" pitchFamily="2" charset="-78"/>
              <a:ea typeface="Tahoma" panose="020B0604030504040204" pitchFamily="34" charset="0"/>
              <a:cs typeface="Tajawal" panose="000005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F3EBA84-8653-5EA6-22A5-1D211D2130A5}"/>
              </a:ext>
            </a:extLst>
          </p:cNvPr>
          <p:cNvSpPr/>
          <p:nvPr/>
        </p:nvSpPr>
        <p:spPr>
          <a:xfrm>
            <a:off x="3111071" y="3254320"/>
            <a:ext cx="5739533" cy="5732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JO">
                <a:latin typeface="Tajawal" panose="00000500000000000000" pitchFamily="2" charset="-78"/>
                <a:ea typeface="Tahoma" panose="020B0604030504040204" pitchFamily="34" charset="0"/>
                <a:cs typeface="Tajawal" panose="00000500000000000000" pitchFamily="2" charset="-78"/>
              </a:rPr>
              <a:t>03 المخاطر و </a:t>
            </a:r>
            <a:r>
              <a:rPr lang="ar-SA">
                <a:latin typeface="Tajawal" panose="00000500000000000000" pitchFamily="2" charset="-78"/>
                <a:ea typeface="Tahoma" panose="020B0604030504040204" pitchFamily="34" charset="0"/>
                <a:cs typeface="Tajawal" panose="00000500000000000000" pitchFamily="2" charset="-78"/>
              </a:rPr>
              <a:t>التحديات</a:t>
            </a:r>
            <a:endParaRPr lang="en-US">
              <a:latin typeface="Tajawal" panose="00000500000000000000" pitchFamily="2" charset="-78"/>
              <a:ea typeface="Tahoma" panose="020B0604030504040204" pitchFamily="34" charset="0"/>
              <a:cs typeface="Tajawal" panose="000005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41499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057DFA-E24E-A6D6-7201-8D37914255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26000" y="1745572"/>
            <a:ext cx="6756400" cy="1683428"/>
          </a:xfrm>
        </p:spPr>
        <p:txBody>
          <a:bodyPr/>
          <a:lstStyle/>
          <a:p>
            <a:pPr algn="r"/>
            <a:endParaRPr lang="en-GB">
              <a:solidFill>
                <a:schemeClr val="bg1"/>
              </a:solidFill>
              <a:latin typeface="+mj-lt"/>
            </a:endParaRPr>
          </a:p>
          <a:p>
            <a:pPr algn="r"/>
            <a:r>
              <a:rPr lang="ar-JO">
                <a:solidFill>
                  <a:schemeClr val="bg1"/>
                </a:solidFill>
                <a:latin typeface="+mj-lt"/>
              </a:rPr>
              <a:t>ملخص تنفيذي</a:t>
            </a:r>
            <a:endParaRPr lang="en-US">
              <a:solidFill>
                <a:schemeClr val="bg1"/>
              </a:solidFill>
              <a:latin typeface="+mj-lt"/>
            </a:endParaRPr>
          </a:p>
          <a:p>
            <a:pPr algn="r"/>
            <a:endParaRPr lang="en-US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9BEA1B-B78C-C9F9-AA99-F34AF33F7C2D}"/>
              </a:ext>
            </a:extLst>
          </p:cNvPr>
          <p:cNvSpPr txBox="1"/>
          <p:nvPr/>
        </p:nvSpPr>
        <p:spPr>
          <a:xfrm>
            <a:off x="609600" y="4000143"/>
            <a:ext cx="2268570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DIN Next LT Arabic"/>
                <a:ea typeface="+mn-ea"/>
                <a:cs typeface="ntaqa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64328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">
            <a:extLst>
              <a:ext uri="{FF2B5EF4-FFF2-40B4-BE49-F238E27FC236}">
                <a16:creationId xmlns:a16="http://schemas.microsoft.com/office/drawing/2014/main" id="{0D3F8654-9C8D-A8C7-3435-C869C55BB093}"/>
              </a:ext>
            </a:extLst>
          </p:cNvPr>
          <p:cNvSpPr txBox="1">
            <a:spLocks/>
          </p:cNvSpPr>
          <p:nvPr/>
        </p:nvSpPr>
        <p:spPr>
          <a:xfrm>
            <a:off x="4476894" y="470647"/>
            <a:ext cx="3931947" cy="4182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ar-SA" b="1" dirty="0">
                <a:latin typeface="Tajawal" panose="00000500000000000000" pitchFamily="2" charset="-78"/>
                <a:cs typeface="Tajawal" panose="00000500000000000000" pitchFamily="2" charset="-78"/>
              </a:rPr>
              <a:t>ملخص تنفيذي</a:t>
            </a:r>
            <a:endParaRPr lang="en-US" b="1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3BB0C99-6FAA-A109-B1D4-65B88FF85DAE}"/>
              </a:ext>
            </a:extLst>
          </p:cNvPr>
          <p:cNvGrpSpPr/>
          <p:nvPr/>
        </p:nvGrpSpPr>
        <p:grpSpPr>
          <a:xfrm>
            <a:off x="5341730" y="1156283"/>
            <a:ext cx="4402345" cy="4644419"/>
            <a:chOff x="5861005" y="-842013"/>
            <a:chExt cx="4830505" cy="5222105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21FC9E7-36AA-E418-9658-F84FBC2E9058}"/>
                </a:ext>
              </a:extLst>
            </p:cNvPr>
            <p:cNvSpPr/>
            <p:nvPr/>
          </p:nvSpPr>
          <p:spPr>
            <a:xfrm>
              <a:off x="5861005" y="-383936"/>
              <a:ext cx="4830505" cy="4764028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lIns="91440" tIns="45720" rIns="91440" bIns="45720" rtlCol="0" anchor="t" anchorCtr="0"/>
            <a:lstStyle/>
            <a:p>
              <a:pPr marR="228600" algn="r" rtl="1">
                <a:spcBef>
                  <a:spcPts val="500"/>
                </a:spcBef>
                <a:spcAft>
                  <a:spcPts val="500"/>
                </a:spcAft>
                <a:buClr>
                  <a:srgbClr val="D7AD3A"/>
                </a:buClr>
              </a:pPr>
              <a:endParaRPr lang="ar-LB" sz="1100" b="1" kern="100" dirty="0">
                <a:solidFill>
                  <a:srgbClr val="2D2D0E"/>
                </a:solidFill>
                <a:cs typeface="Tajawal" panose="00000500000000000000"/>
              </a:endParaRPr>
            </a:p>
            <a:p>
              <a:pPr marL="342900" marR="228600" indent="-342900" algn="r" rtl="1">
                <a:spcBef>
                  <a:spcPts val="500"/>
                </a:spcBef>
                <a:spcAft>
                  <a:spcPts val="500"/>
                </a:spcAft>
                <a:buClr>
                  <a:srgbClr val="D7AD3A"/>
                </a:buClr>
                <a:buFont typeface="Symbol" panose="05050102010706020507" pitchFamily="18" charset="2"/>
                <a:buChar char=""/>
              </a:pPr>
              <a:r>
                <a:rPr lang="ar-LB" sz="1200" b="1" kern="100" dirty="0">
                  <a:solidFill>
                    <a:srgbClr val="2D2D0E"/>
                  </a:solidFill>
                  <a:cs typeface="Tajawal" panose="00000500000000000000"/>
                </a:rPr>
                <a:t>الأنتهاء</a:t>
              </a:r>
              <a:r>
                <a:rPr lang="ar-SA" sz="1200" b="1" kern="100" dirty="0">
                  <a:solidFill>
                    <a:srgbClr val="2D2D0E"/>
                  </a:solidFill>
                  <a:cs typeface="Tajawal" panose="00000500000000000000"/>
                </a:rPr>
                <a:t> من تطوير خدمات المرحلة الأولى </a:t>
              </a:r>
              <a:r>
                <a:rPr lang="ar-LB" sz="1200" b="1" kern="100" dirty="0">
                  <a:solidFill>
                    <a:srgbClr val="2D2D0E"/>
                  </a:solidFill>
                  <a:cs typeface="Tajawal" panose="00000500000000000000"/>
                </a:rPr>
                <a:t>(</a:t>
              </a:r>
              <a:r>
                <a:rPr lang="en-US" sz="1200" b="1" kern="100" dirty="0">
                  <a:solidFill>
                    <a:srgbClr val="2D2D0E"/>
                  </a:solidFill>
                  <a:cs typeface="Tajawal" panose="00000500000000000000"/>
                </a:rPr>
                <a:t>MVP</a:t>
              </a:r>
              <a:r>
                <a:rPr lang="ar-LB" sz="1200" b="1" kern="100" dirty="0">
                  <a:solidFill>
                    <a:srgbClr val="2D2D0E"/>
                  </a:solidFill>
                  <a:cs typeface="Tajawal" panose="00000500000000000000"/>
                </a:rPr>
                <a:t>)</a:t>
              </a:r>
              <a:endParaRPr lang="en-US" sz="1200" b="1" kern="100" dirty="0">
                <a:solidFill>
                  <a:srgbClr val="2D2D0E"/>
                </a:solidFill>
                <a:cs typeface="Tajawal" panose="00000500000000000000"/>
              </a:endParaRPr>
            </a:p>
            <a:p>
              <a:pPr marL="342900" marR="228600" indent="-342900" algn="r" rtl="1">
                <a:spcBef>
                  <a:spcPts val="500"/>
                </a:spcBef>
                <a:spcAft>
                  <a:spcPts val="500"/>
                </a:spcAft>
                <a:buClr>
                  <a:srgbClr val="D7AD3A"/>
                </a:buClr>
                <a:buFont typeface="Symbol" panose="05050102010706020507" pitchFamily="18" charset="2"/>
                <a:buChar char=""/>
              </a:pPr>
              <a:r>
                <a:rPr lang="ar-LB" sz="1200" b="1" kern="100" dirty="0">
                  <a:solidFill>
                    <a:srgbClr val="2D2D0E"/>
                  </a:solidFill>
                  <a:cs typeface="Tajawal" panose="00000500000000000000"/>
                </a:rPr>
                <a:t>البدء في أختبارت </a:t>
              </a:r>
              <a:r>
                <a:rPr lang="ar-SA" sz="1200" b="1" kern="100" dirty="0">
                  <a:solidFill>
                    <a:srgbClr val="2D2D0E"/>
                  </a:solidFill>
                  <a:cs typeface="Tajawal" panose="00000500000000000000"/>
                </a:rPr>
                <a:t>خدمات المرحلة الأولى </a:t>
              </a:r>
              <a:r>
                <a:rPr lang="ar-LB" sz="1200" b="1" kern="100" dirty="0">
                  <a:solidFill>
                    <a:srgbClr val="2D2D0E"/>
                  </a:solidFill>
                  <a:cs typeface="Tajawal" panose="00000500000000000000"/>
                </a:rPr>
                <a:t>(</a:t>
              </a:r>
              <a:r>
                <a:rPr lang="en-US" sz="1200" b="1" kern="100" dirty="0">
                  <a:solidFill>
                    <a:srgbClr val="2D2D0E"/>
                  </a:solidFill>
                  <a:cs typeface="Tajawal" panose="00000500000000000000"/>
                </a:rPr>
                <a:t>MVP</a:t>
              </a:r>
              <a:r>
                <a:rPr lang="ar-LB" sz="1200" b="1" kern="100" dirty="0">
                  <a:solidFill>
                    <a:srgbClr val="2D2D0E"/>
                  </a:solidFill>
                  <a:cs typeface="Tajawal" panose="00000500000000000000"/>
                </a:rPr>
                <a:t>)</a:t>
              </a:r>
              <a:endParaRPr lang="en-US" sz="1200" b="1" kern="100" dirty="0">
                <a:solidFill>
                  <a:srgbClr val="2D2D0E"/>
                </a:solidFill>
                <a:cs typeface="Tajawal" panose="00000500000000000000"/>
              </a:endParaRPr>
            </a:p>
            <a:p>
              <a:pPr marL="342900" marR="228600" indent="-342900" algn="r" rtl="1">
                <a:spcBef>
                  <a:spcPts val="500"/>
                </a:spcBef>
                <a:spcAft>
                  <a:spcPts val="500"/>
                </a:spcAft>
                <a:buClr>
                  <a:srgbClr val="D7AD3A"/>
                </a:buClr>
                <a:buFont typeface="Symbol" panose="05050102010706020507" pitchFamily="18" charset="2"/>
                <a:buChar char=""/>
              </a:pPr>
              <a:r>
                <a:rPr lang="ar-LB" sz="1200" b="1" kern="100" dirty="0">
                  <a:solidFill>
                    <a:srgbClr val="2D2D0E"/>
                  </a:solidFill>
                  <a:cs typeface="Tajawal" panose="00000500000000000000"/>
                </a:rPr>
                <a:t>عقد أجتماع مع فريق المديرية وفريق سامي و</a:t>
              </a:r>
              <a:r>
                <a:rPr lang="ar-SA" sz="1200" b="1" kern="100" dirty="0">
                  <a:solidFill>
                    <a:srgbClr val="2D2D0E"/>
                  </a:solidFill>
                  <a:cs typeface="Tajawal" panose="00000500000000000000"/>
                </a:rPr>
                <a:t>مناقشة الإطلاق وتطبيق ال</a:t>
              </a:r>
              <a:r>
                <a:rPr lang="ar-LB" sz="1200" b="1" kern="100" dirty="0">
                  <a:solidFill>
                    <a:srgbClr val="2D2D0E"/>
                  </a:solidFill>
                  <a:cs typeface="Tajawal" panose="00000500000000000000"/>
                </a:rPr>
                <a:t>موبايل</a:t>
              </a:r>
            </a:p>
            <a:p>
              <a:pPr marL="342900" marR="228600" indent="-342900" algn="r" rtl="1">
                <a:spcBef>
                  <a:spcPts val="500"/>
                </a:spcBef>
                <a:spcAft>
                  <a:spcPts val="500"/>
                </a:spcAft>
                <a:buClr>
                  <a:srgbClr val="D7AD3A"/>
                </a:buClr>
                <a:buFont typeface="Symbol" panose="05050102010706020507" pitchFamily="18" charset="2"/>
                <a:buChar char=""/>
              </a:pPr>
              <a:r>
                <a:rPr lang="ar-SA" sz="1200" b="1" kern="100" dirty="0">
                  <a:solidFill>
                    <a:srgbClr val="2D2D0E"/>
                  </a:solidFill>
                  <a:cs typeface="Tajawal" panose="00000500000000000000"/>
                </a:rPr>
                <a:t>تقديم عرض توضيحي </a:t>
              </a:r>
              <a:r>
                <a:rPr lang="ar-LB" sz="1200" b="1" kern="100" dirty="0">
                  <a:solidFill>
                    <a:srgbClr val="2D2D0E"/>
                  </a:solidFill>
                  <a:cs typeface="Tajawal" panose="00000500000000000000"/>
                </a:rPr>
                <a:t>(</a:t>
              </a:r>
              <a:r>
                <a:rPr lang="en-US" sz="1200" b="1" kern="100" dirty="0">
                  <a:solidFill>
                    <a:srgbClr val="2D2D0E"/>
                  </a:solidFill>
                  <a:cs typeface="Tajawal" panose="00000500000000000000"/>
                </a:rPr>
                <a:t>Demo</a:t>
              </a:r>
              <a:r>
                <a:rPr lang="ar-LB" sz="1200" b="1" kern="100" dirty="0">
                  <a:solidFill>
                    <a:srgbClr val="2D2D0E"/>
                  </a:solidFill>
                  <a:cs typeface="Tajawal" panose="00000500000000000000"/>
                </a:rPr>
                <a:t>)</a:t>
              </a:r>
              <a:r>
                <a:rPr lang="en-US" sz="1200" b="1" kern="100" dirty="0">
                  <a:solidFill>
                    <a:srgbClr val="2D2D0E"/>
                  </a:solidFill>
                  <a:cs typeface="Tajawal" panose="00000500000000000000"/>
                </a:rPr>
                <a:t> </a:t>
              </a:r>
              <a:r>
                <a:rPr lang="ar-SA" sz="1200" b="1" kern="100" dirty="0">
                  <a:solidFill>
                    <a:srgbClr val="2D2D0E"/>
                  </a:solidFill>
                  <a:cs typeface="Tajawal" panose="00000500000000000000"/>
                </a:rPr>
                <a:t>لخدمات المرحلة الأولى </a:t>
              </a:r>
              <a:r>
                <a:rPr lang="ar-LB" sz="1200" b="1" kern="100" dirty="0">
                  <a:solidFill>
                    <a:srgbClr val="2D2D0E"/>
                  </a:solidFill>
                  <a:cs typeface="Tajawal" panose="00000500000000000000"/>
                </a:rPr>
                <a:t>(</a:t>
              </a:r>
              <a:r>
                <a:rPr lang="en-US" sz="1200" b="1" kern="100" dirty="0">
                  <a:solidFill>
                    <a:srgbClr val="2D2D0E"/>
                  </a:solidFill>
                  <a:cs typeface="Tajawal" panose="00000500000000000000"/>
                </a:rPr>
                <a:t>MVP</a:t>
              </a:r>
              <a:r>
                <a:rPr lang="ar-LB" sz="1200" b="1" kern="100" dirty="0">
                  <a:solidFill>
                    <a:srgbClr val="2D2D0E"/>
                  </a:solidFill>
                  <a:cs typeface="Tajawal" panose="00000500000000000000"/>
                </a:rPr>
                <a:t>) مع فريق سامي والمديرية</a:t>
              </a:r>
              <a:r>
                <a:rPr lang="en-US" sz="1200" b="1" kern="100" dirty="0">
                  <a:solidFill>
                    <a:srgbClr val="2D2D0E"/>
                  </a:solidFill>
                  <a:cs typeface="Tajawal" panose="00000500000000000000"/>
                </a:rPr>
                <a:t> </a:t>
              </a:r>
              <a:r>
                <a:rPr lang="ar-LB" sz="1200" b="1" kern="100" dirty="0">
                  <a:solidFill>
                    <a:srgbClr val="2D2D0E"/>
                  </a:solidFill>
                  <a:cs typeface="Tajawal" panose="00000500000000000000"/>
                </a:rPr>
                <a:t>حيث تم مشاركة بعض التعديلات على أن يتم مناقشتها و تنفيذها من قبل الشركة</a:t>
              </a:r>
              <a:endParaRPr lang="en-US" sz="1200" b="1" kern="100" dirty="0">
                <a:solidFill>
                  <a:srgbClr val="2D2D0E"/>
                </a:solidFill>
                <a:cs typeface="Tajawal" panose="00000500000000000000"/>
              </a:endParaRPr>
            </a:p>
            <a:p>
              <a:pPr marL="342900" marR="228600" indent="-342900" algn="r" rtl="1">
                <a:spcBef>
                  <a:spcPts val="500"/>
                </a:spcBef>
                <a:spcAft>
                  <a:spcPts val="500"/>
                </a:spcAft>
                <a:buClr>
                  <a:srgbClr val="D7AD3A"/>
                </a:buClr>
                <a:buFont typeface="Symbol" panose="05050102010706020507" pitchFamily="18" charset="2"/>
                <a:buChar char=""/>
              </a:pPr>
              <a:r>
                <a:rPr lang="ar-SA" sz="1200" b="1" kern="100" dirty="0">
                  <a:solidFill>
                    <a:srgbClr val="2D2D0E"/>
                  </a:solidFill>
                  <a:cs typeface="Tajawal" panose="00000500000000000000"/>
                </a:rPr>
                <a:t>فتح تذكرة دعم مع شركة </a:t>
              </a:r>
              <a:r>
                <a:rPr lang="ar-LB" sz="1200" b="1" kern="100" dirty="0">
                  <a:solidFill>
                    <a:srgbClr val="2D2D0E"/>
                  </a:solidFill>
                  <a:cs typeface="Tajawal" panose="00000500000000000000"/>
                </a:rPr>
                <a:t>ميكروسوفت</a:t>
              </a:r>
              <a:r>
                <a:rPr lang="en-US" sz="1200" b="1" kern="100" dirty="0">
                  <a:solidFill>
                    <a:srgbClr val="2D2D0E"/>
                  </a:solidFill>
                  <a:cs typeface="Tajawal" panose="00000500000000000000"/>
                </a:rPr>
                <a:t> </a:t>
              </a:r>
              <a:r>
                <a:rPr lang="ar-SA" sz="1200" b="1" kern="100" dirty="0">
                  <a:solidFill>
                    <a:srgbClr val="2D2D0E"/>
                  </a:solidFill>
                  <a:cs typeface="Tajawal" panose="00000500000000000000"/>
                </a:rPr>
                <a:t>فيما يخص </a:t>
              </a:r>
              <a:r>
                <a:rPr lang="ar-LB" sz="1200" b="1" kern="100" dirty="0">
                  <a:solidFill>
                    <a:srgbClr val="2D2D0E"/>
                  </a:solidFill>
                  <a:cs typeface="Tajawal" panose="00000500000000000000"/>
                </a:rPr>
                <a:t>الرخص والمتابعة الدورية مع الشركة</a:t>
              </a:r>
              <a:endParaRPr lang="en-US" sz="1200" b="1" kern="100" dirty="0">
                <a:solidFill>
                  <a:srgbClr val="2D2D0E"/>
                </a:solidFill>
                <a:cs typeface="Tajawal" panose="00000500000000000000"/>
              </a:endParaRPr>
            </a:p>
            <a:p>
              <a:pPr marR="228600" algn="r" rtl="1">
                <a:spcBef>
                  <a:spcPts val="500"/>
                </a:spcBef>
                <a:spcAft>
                  <a:spcPts val="500"/>
                </a:spcAft>
                <a:buClr>
                  <a:srgbClr val="D7AD3A"/>
                </a:buClr>
              </a:pPr>
              <a:endParaRPr lang="ar-LB" sz="1200" b="1" kern="100" dirty="0">
                <a:solidFill>
                  <a:srgbClr val="2D2D0E"/>
                </a:solidFill>
                <a:cs typeface="Tajawal" panose="00000500000000000000"/>
              </a:endParaRPr>
            </a:p>
            <a:p>
              <a:pPr marL="342900" marR="228600" indent="-342900" algn="r" rtl="1">
                <a:spcBef>
                  <a:spcPts val="500"/>
                </a:spcBef>
                <a:spcAft>
                  <a:spcPts val="500"/>
                </a:spcAft>
                <a:buClr>
                  <a:srgbClr val="D7AD3A"/>
                </a:buClr>
                <a:buFont typeface="Symbol" panose="05050102010706020507" pitchFamily="18" charset="2"/>
                <a:buChar char=""/>
              </a:pPr>
              <a:endParaRPr lang="ar-LB" sz="1200" b="1" kern="100" dirty="0">
                <a:solidFill>
                  <a:srgbClr val="2D2D0E"/>
                </a:solidFill>
                <a:cs typeface="Tajawal" panose="00000500000000000000"/>
              </a:endParaRPr>
            </a:p>
            <a:p>
              <a:pPr marL="342900" marR="228600" indent="-342900" algn="r" rtl="1">
                <a:spcBef>
                  <a:spcPts val="500"/>
                </a:spcBef>
                <a:spcAft>
                  <a:spcPts val="500"/>
                </a:spcAft>
                <a:buClr>
                  <a:srgbClr val="D7AD3A"/>
                </a:buClr>
                <a:buFont typeface="Symbol" panose="05050102010706020507" pitchFamily="18" charset="2"/>
                <a:buChar char=""/>
              </a:pPr>
              <a:endParaRPr lang="en-US" sz="1200" b="1" kern="100" dirty="0">
                <a:solidFill>
                  <a:srgbClr val="2D2D0E"/>
                </a:solidFill>
                <a:cs typeface="Tajawal" panose="00000500000000000000"/>
              </a:endParaRPr>
            </a:p>
            <a:p>
              <a:pPr marL="342900" marR="228600" indent="-342900" algn="r" rtl="1">
                <a:spcBef>
                  <a:spcPts val="500"/>
                </a:spcBef>
                <a:spcAft>
                  <a:spcPts val="500"/>
                </a:spcAft>
                <a:buClr>
                  <a:srgbClr val="D7AD3A"/>
                </a:buClr>
                <a:buFont typeface="Symbol" panose="05050102010706020507" pitchFamily="18" charset="2"/>
                <a:buChar char=""/>
              </a:pPr>
              <a:endParaRPr lang="en-US" sz="1200" b="1" kern="100" dirty="0">
                <a:solidFill>
                  <a:srgbClr val="2D2D0E"/>
                </a:solidFill>
                <a:cs typeface="Tajawal" panose="00000500000000000000"/>
              </a:endParaRPr>
            </a:p>
            <a:p>
              <a:pPr marL="342900" marR="228600" indent="-342900" algn="r" rtl="1">
                <a:spcBef>
                  <a:spcPts val="500"/>
                </a:spcBef>
                <a:spcAft>
                  <a:spcPts val="500"/>
                </a:spcAft>
                <a:buClr>
                  <a:srgbClr val="D7AD3A"/>
                </a:buClr>
                <a:buFont typeface="Symbol" panose="05050102010706020507" pitchFamily="18" charset="2"/>
                <a:buChar char=""/>
              </a:pPr>
              <a:endParaRPr lang="ar-LB" sz="1200" b="1" kern="100" dirty="0">
                <a:solidFill>
                  <a:srgbClr val="2D2D0E"/>
                </a:solidFill>
                <a:cs typeface="Tajawal" panose="00000500000000000000"/>
              </a:endParaRPr>
            </a:p>
            <a:p>
              <a:pPr marL="342900" marR="228600" indent="-342900" algn="r" rtl="1">
                <a:spcBef>
                  <a:spcPts val="500"/>
                </a:spcBef>
                <a:spcAft>
                  <a:spcPts val="500"/>
                </a:spcAft>
                <a:buClr>
                  <a:srgbClr val="D7AD3A"/>
                </a:buClr>
                <a:buFont typeface="Symbol" panose="05050102010706020507" pitchFamily="18" charset="2"/>
                <a:buChar char=""/>
              </a:pPr>
              <a:endParaRPr lang="ar-LB" sz="1200" b="1" kern="100" dirty="0">
                <a:solidFill>
                  <a:srgbClr val="2D2D0E"/>
                </a:solidFill>
                <a:cs typeface="Tajawal" panose="00000500000000000000"/>
              </a:endParaRPr>
            </a:p>
            <a:p>
              <a:pPr marL="342900" marR="228600" indent="-342900" algn="r" rtl="1">
                <a:spcBef>
                  <a:spcPts val="500"/>
                </a:spcBef>
                <a:spcAft>
                  <a:spcPts val="500"/>
                </a:spcAft>
                <a:buClr>
                  <a:srgbClr val="D7AD3A"/>
                </a:buClr>
                <a:buFont typeface="Symbol" panose="05050102010706020507" pitchFamily="18" charset="2"/>
                <a:buChar char=""/>
              </a:pPr>
              <a:endParaRPr lang="ar-LB" sz="1200" b="1" kern="100" dirty="0">
                <a:solidFill>
                  <a:srgbClr val="2D2D0E"/>
                </a:solidFill>
                <a:cs typeface="Tajawal" panose="00000500000000000000"/>
              </a:endParaRPr>
            </a:p>
            <a:p>
              <a:pPr marL="342900" marR="228600" indent="-342900" algn="r" rtl="1">
                <a:spcBef>
                  <a:spcPts val="500"/>
                </a:spcBef>
                <a:spcAft>
                  <a:spcPts val="500"/>
                </a:spcAft>
                <a:buClr>
                  <a:srgbClr val="D7AD3A"/>
                </a:buClr>
                <a:buFont typeface="Symbol" panose="05050102010706020507" pitchFamily="18" charset="2"/>
                <a:buChar char=""/>
              </a:pPr>
              <a:endParaRPr lang="en-US" sz="1200" b="1" kern="100" dirty="0">
                <a:solidFill>
                  <a:srgbClr val="2D2D0E"/>
                </a:solidFill>
                <a:cs typeface="Tajawal" panose="00000500000000000000"/>
              </a:endParaRPr>
            </a:p>
            <a:p>
              <a:pPr marL="342900" marR="228600" indent="-342900" algn="r" rtl="1">
                <a:spcBef>
                  <a:spcPts val="500"/>
                </a:spcBef>
                <a:spcAft>
                  <a:spcPts val="500"/>
                </a:spcAft>
                <a:buClr>
                  <a:srgbClr val="D7AD3A"/>
                </a:buClr>
                <a:buFont typeface="Symbol" panose="05050102010706020507" pitchFamily="18" charset="2"/>
                <a:buChar char=""/>
              </a:pPr>
              <a:endParaRPr lang="ar-LB" sz="1200" b="1" kern="100" dirty="0">
                <a:solidFill>
                  <a:srgbClr val="2D2D0E"/>
                </a:solidFill>
                <a:cs typeface="Tajawal" panose="00000500000000000000"/>
              </a:endParaRPr>
            </a:p>
            <a:p>
              <a:pPr marL="342900" marR="228600" indent="-342900" algn="r" rtl="1">
                <a:spcBef>
                  <a:spcPts val="500"/>
                </a:spcBef>
                <a:spcAft>
                  <a:spcPts val="500"/>
                </a:spcAft>
                <a:buClr>
                  <a:srgbClr val="D7AD3A"/>
                </a:buClr>
                <a:buFont typeface="Symbol" panose="05050102010706020507" pitchFamily="18" charset="2"/>
                <a:buChar char=""/>
              </a:pPr>
              <a:endParaRPr lang="en-US" sz="1200" b="1" kern="100" dirty="0">
                <a:solidFill>
                  <a:srgbClr val="2D2D0E"/>
                </a:solidFill>
                <a:cs typeface="Tajawal" panose="00000500000000000000"/>
              </a:endParaRPr>
            </a:p>
            <a:p>
              <a:pPr marL="342900" marR="228600" indent="-342900" algn="r" rtl="1">
                <a:spcBef>
                  <a:spcPts val="500"/>
                </a:spcBef>
                <a:spcAft>
                  <a:spcPts val="500"/>
                </a:spcAft>
                <a:buClr>
                  <a:srgbClr val="D7AD3A"/>
                </a:buClr>
                <a:buFont typeface="Symbol" panose="05050102010706020507" pitchFamily="18" charset="2"/>
                <a:buChar char=""/>
              </a:pPr>
              <a:endParaRPr lang="ar-LB" sz="800" b="1" kern="100" dirty="0">
                <a:solidFill>
                  <a:srgbClr val="2D2D0E"/>
                </a:solidFill>
                <a:cs typeface="Tajawal" panose="0000050000000000000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36FB2B6-5F36-E703-4CB9-9765537734B8}"/>
                </a:ext>
              </a:extLst>
            </p:cNvPr>
            <p:cNvSpPr/>
            <p:nvPr/>
          </p:nvSpPr>
          <p:spPr>
            <a:xfrm>
              <a:off x="5862541" y="-842013"/>
              <a:ext cx="4828969" cy="458078"/>
            </a:xfrm>
            <a:prstGeom prst="rect">
              <a:avLst/>
            </a:prstGeom>
            <a:solidFill>
              <a:srgbClr val="234C5A"/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ar-SA" sz="1400" b="1" kern="0" dirty="0">
                  <a:solidFill>
                    <a:srgbClr val="FFFFFF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ما تم إنجازه في </a:t>
              </a:r>
              <a:r>
                <a:rPr kumimoji="0" lang="ar-JO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</a:rPr>
                <a:t>الفترة </a:t>
              </a:r>
              <a:r>
                <a:rPr kumimoji="0" lang="ar-SA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</a:rPr>
                <a:t>السابقة (أسبوعي)</a:t>
              </a:r>
              <a:endPara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</p:grpSp>
      <p:sp>
        <p:nvSpPr>
          <p:cNvPr id="46" name="Rectangle 42">
            <a:extLst>
              <a:ext uri="{FF2B5EF4-FFF2-40B4-BE49-F238E27FC236}">
                <a16:creationId xmlns:a16="http://schemas.microsoft.com/office/drawing/2014/main" id="{DD9AA7B4-45C2-C5E9-9648-098E19F89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5604" y="148186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47" name="Rectangle 58">
            <a:extLst>
              <a:ext uri="{FF2B5EF4-FFF2-40B4-BE49-F238E27FC236}">
                <a16:creationId xmlns:a16="http://schemas.microsoft.com/office/drawing/2014/main" id="{5D7C67E5-7BD9-8D39-1A77-A02CDF1EF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98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30" name="Rectangle 42">
            <a:extLst>
              <a:ext uri="{FF2B5EF4-FFF2-40B4-BE49-F238E27FC236}">
                <a16:creationId xmlns:a16="http://schemas.microsoft.com/office/drawing/2014/main" id="{C7CE3F65-7856-4DFA-BEC1-EAF6C43BB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5604" y="289380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B40C875-914A-26C5-57A0-AD643C3DCF2D}"/>
              </a:ext>
            </a:extLst>
          </p:cNvPr>
          <p:cNvGrpSpPr/>
          <p:nvPr/>
        </p:nvGrpSpPr>
        <p:grpSpPr>
          <a:xfrm>
            <a:off x="9965093" y="1563686"/>
            <a:ext cx="1458454" cy="3901884"/>
            <a:chOff x="286625" y="1589661"/>
            <a:chExt cx="1869421" cy="3901884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86E3688-BE1C-4FE5-A185-647B0BEBB56E}"/>
                </a:ext>
              </a:extLst>
            </p:cNvPr>
            <p:cNvSpPr/>
            <p:nvPr/>
          </p:nvSpPr>
          <p:spPr bwMode="auto">
            <a:xfrm>
              <a:off x="655481" y="5320288"/>
              <a:ext cx="1386691" cy="171257"/>
            </a:xfrm>
            <a:prstGeom prst="rect">
              <a:avLst/>
            </a:prstGeom>
            <a:solidFill>
              <a:srgbClr val="F04C3E"/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Wingdings" pitchFamily="2" charset="2"/>
                <a:buNone/>
              </a:pPr>
              <a:r>
                <a:rPr lang="en-US" sz="1200" dirty="0">
                  <a:solidFill>
                    <a:srgbClr val="000000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12%</a:t>
              </a:r>
              <a:endParaRPr lang="en-GB" sz="1200" dirty="0">
                <a:solidFill>
                  <a:srgbClr val="000000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549CCBC-6E74-45BD-AFD6-72452F374588}"/>
                </a:ext>
              </a:extLst>
            </p:cNvPr>
            <p:cNvSpPr/>
            <p:nvPr/>
          </p:nvSpPr>
          <p:spPr bwMode="auto">
            <a:xfrm>
              <a:off x="655481" y="5136765"/>
              <a:ext cx="1386692" cy="183523"/>
            </a:xfrm>
            <a:prstGeom prst="rect">
              <a:avLst/>
            </a:prstGeom>
            <a:solidFill>
              <a:srgbClr val="E3E7E9"/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ar-SA" sz="1200" b="1" dirty="0">
                  <a:latin typeface="Tajawal" panose="00000500000000000000" pitchFamily="2" charset="-78"/>
                  <a:cs typeface="Tajawal" panose="00000500000000000000" pitchFamily="2" charset="-78"/>
                </a:rPr>
                <a:t>مؤشر التباين</a:t>
              </a:r>
              <a:endParaRPr lang="en-GB" sz="1200" b="1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DA139573-5691-4981-9A95-BB22FB9D0CC9}"/>
                </a:ext>
              </a:extLst>
            </p:cNvPr>
            <p:cNvGrpSpPr/>
            <p:nvPr/>
          </p:nvGrpSpPr>
          <p:grpSpPr>
            <a:xfrm>
              <a:off x="286625" y="1589661"/>
              <a:ext cx="1869421" cy="1659784"/>
              <a:chOff x="7676423" y="2736728"/>
              <a:chExt cx="1555615" cy="1511379"/>
            </a:xfrm>
          </p:grpSpPr>
          <p:graphicFrame>
            <p:nvGraphicFramePr>
              <p:cNvPr id="51" name="Chart 50">
                <a:extLst>
                  <a:ext uri="{FF2B5EF4-FFF2-40B4-BE49-F238E27FC236}">
                    <a16:creationId xmlns:a16="http://schemas.microsoft.com/office/drawing/2014/main" id="{78C88690-D3DE-4FDE-9DFC-8BA374DA066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928259550"/>
                  </p:ext>
                </p:extLst>
              </p:nvPr>
            </p:nvGraphicFramePr>
            <p:xfrm>
              <a:off x="7676423" y="2736728"/>
              <a:ext cx="1555615" cy="1057877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"/>
              </a:graphicData>
            </a:graphic>
          </p:graphicFrame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25061E-1361-4E65-BF1F-A59DC5BE400A}"/>
                  </a:ext>
                </a:extLst>
              </p:cNvPr>
              <p:cNvSpPr txBox="1"/>
              <p:nvPr/>
            </p:nvSpPr>
            <p:spPr>
              <a:xfrm>
                <a:off x="7787793" y="3827721"/>
                <a:ext cx="1420443" cy="420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ar-SA" sz="1200" b="1" dirty="0">
                    <a:solidFill>
                      <a:prstClr val="black"/>
                    </a:solidFill>
                    <a:latin typeface="Tajawal" panose="00000500000000000000" pitchFamily="2" charset="-78"/>
                    <a:cs typeface="Tajawal" panose="00000500000000000000" pitchFamily="2" charset="-78"/>
                  </a:rPr>
                  <a:t>نسبة الإنجاز الفعلية</a:t>
                </a: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A2294F1-E943-A107-233F-BF03F7FD2964}"/>
                </a:ext>
              </a:extLst>
            </p:cNvPr>
            <p:cNvSpPr txBox="1"/>
            <p:nvPr/>
          </p:nvSpPr>
          <p:spPr>
            <a:xfrm>
              <a:off x="449039" y="4534621"/>
              <a:ext cx="170697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ar-SA" sz="1100" b="1" dirty="0">
                  <a:solidFill>
                    <a:prstClr val="black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نسبة الإنجاز المخططة</a:t>
              </a: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AADA46A-75F8-4B0E-3D69-58D835D79E55}"/>
              </a:ext>
            </a:extLst>
          </p:cNvPr>
          <p:cNvGrpSpPr/>
          <p:nvPr/>
        </p:nvGrpSpPr>
        <p:grpSpPr>
          <a:xfrm>
            <a:off x="267297" y="1156281"/>
            <a:ext cx="4865257" cy="4633938"/>
            <a:chOff x="5874891" y="-487617"/>
            <a:chExt cx="4764954" cy="405043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5EA350C-508C-44B9-6DE8-8884650C1A05}"/>
                </a:ext>
              </a:extLst>
            </p:cNvPr>
            <p:cNvSpPr/>
            <p:nvPr/>
          </p:nvSpPr>
          <p:spPr>
            <a:xfrm>
              <a:off x="5874891" y="-142049"/>
              <a:ext cx="4728551" cy="370487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lIns="91440" tIns="45720" rIns="91440" bIns="45720" rtlCol="0" anchor="ctr" anchorCtr="0"/>
            <a:lstStyle/>
            <a:p>
              <a:pPr marL="342900" marR="228600" indent="-342900" algn="r" rtl="1">
                <a:spcBef>
                  <a:spcPts val="500"/>
                </a:spcBef>
                <a:spcAft>
                  <a:spcPts val="500"/>
                </a:spcAft>
                <a:buClr>
                  <a:srgbClr val="D7AD3A"/>
                </a:buClr>
                <a:buFont typeface="Symbol" panose="05050102010706020507" pitchFamily="18" charset="2"/>
                <a:buChar char=""/>
              </a:pPr>
              <a:r>
                <a:rPr lang="ar-LB" sz="1200" b="1" kern="100" dirty="0">
                  <a:solidFill>
                    <a:srgbClr val="2D2D0E"/>
                  </a:solidFill>
                  <a:cs typeface="Tajawal" panose="00000500000000000000"/>
                </a:rPr>
                <a:t>مشاركة واستكمال جميع المتطلبات التقنية من قبل المديرية والتي تشمل ( تجهيز خادم </a:t>
              </a:r>
              <a:r>
                <a:rPr lang="en-US" sz="1200" b="1" kern="100" dirty="0">
                  <a:solidFill>
                    <a:srgbClr val="2D2D0E"/>
                  </a:solidFill>
                  <a:cs typeface="Tajawal" panose="00000500000000000000"/>
                </a:rPr>
                <a:t>ADFS، </a:t>
              </a:r>
              <a:r>
                <a:rPr lang="ar-LB" sz="1200" b="1" kern="100" dirty="0">
                  <a:solidFill>
                    <a:srgbClr val="2D2D0E"/>
                  </a:solidFill>
                  <a:cs typeface="Tajawal" panose="00000500000000000000"/>
                </a:rPr>
                <a:t>إعدادات </a:t>
              </a:r>
              <a:r>
                <a:rPr lang="en-US" sz="1200" b="1" kern="100" dirty="0">
                  <a:solidFill>
                    <a:srgbClr val="2D2D0E"/>
                  </a:solidFill>
                  <a:cs typeface="Tajawal" panose="00000500000000000000"/>
                </a:rPr>
                <a:t>SPN، </a:t>
              </a:r>
              <a:r>
                <a:rPr lang="ar-LB" sz="1200" b="1" kern="100" dirty="0">
                  <a:solidFill>
                    <a:srgbClr val="2D2D0E"/>
                  </a:solidFill>
                  <a:cs typeface="Tajawal" panose="00000500000000000000"/>
                </a:rPr>
                <a:t>وتجهيز المنافذ) لجميع البيئات </a:t>
              </a:r>
              <a:endParaRPr lang="en-US" sz="1200" b="1" kern="100" dirty="0">
                <a:solidFill>
                  <a:srgbClr val="2D2D0E"/>
                </a:solidFill>
                <a:cs typeface="Tajawal" panose="00000500000000000000"/>
              </a:endParaRPr>
            </a:p>
            <a:p>
              <a:pPr marL="342900" marR="228600" indent="-342900" algn="r" rtl="1">
                <a:spcBef>
                  <a:spcPts val="500"/>
                </a:spcBef>
                <a:spcAft>
                  <a:spcPts val="500"/>
                </a:spcAft>
                <a:buClr>
                  <a:srgbClr val="D7AD3A"/>
                </a:buClr>
                <a:buFont typeface="Symbol" panose="05050102010706020507" pitchFamily="18" charset="2"/>
                <a:buChar char=""/>
              </a:pPr>
              <a:r>
                <a:rPr lang="ar-LB" sz="1200" b="1" kern="100" dirty="0">
                  <a:solidFill>
                    <a:srgbClr val="2D2D0E"/>
                  </a:solidFill>
                  <a:cs typeface="Tajawal" panose="00000500000000000000"/>
                </a:rPr>
                <a:t>أستكمال أختبارت </a:t>
              </a:r>
              <a:r>
                <a:rPr lang="ar-SA" sz="1200" b="1" kern="100" dirty="0">
                  <a:solidFill>
                    <a:srgbClr val="2D2D0E"/>
                  </a:solidFill>
                  <a:cs typeface="Tajawal" panose="00000500000000000000"/>
                </a:rPr>
                <a:t>خدمات المرحلة الأولى </a:t>
              </a:r>
              <a:r>
                <a:rPr lang="ar-LB" sz="1200" b="1" kern="100" dirty="0">
                  <a:solidFill>
                    <a:srgbClr val="2D2D0E"/>
                  </a:solidFill>
                  <a:cs typeface="Tajawal" panose="00000500000000000000"/>
                </a:rPr>
                <a:t>(</a:t>
              </a:r>
              <a:r>
                <a:rPr lang="en-US" sz="1200" b="1" kern="100" dirty="0">
                  <a:solidFill>
                    <a:srgbClr val="2D2D0E"/>
                  </a:solidFill>
                  <a:cs typeface="Tajawal" panose="00000500000000000000"/>
                </a:rPr>
                <a:t>MVP</a:t>
              </a:r>
              <a:r>
                <a:rPr lang="ar-LB" sz="1200" b="1" kern="100" dirty="0">
                  <a:solidFill>
                    <a:srgbClr val="2D2D0E"/>
                  </a:solidFill>
                  <a:cs typeface="Tajawal" panose="00000500000000000000"/>
                </a:rPr>
                <a:t>)</a:t>
              </a:r>
              <a:endParaRPr lang="en-US" sz="1200" b="1" kern="100" dirty="0">
                <a:solidFill>
                  <a:srgbClr val="2D2D0E"/>
                </a:solidFill>
                <a:cs typeface="Tajawal" panose="00000500000000000000"/>
              </a:endParaRPr>
            </a:p>
            <a:p>
              <a:pPr marL="342900" marR="228600" indent="-342900" algn="r" rtl="1">
                <a:spcBef>
                  <a:spcPts val="500"/>
                </a:spcBef>
                <a:spcAft>
                  <a:spcPts val="500"/>
                </a:spcAft>
                <a:buClr>
                  <a:srgbClr val="D7AD3A"/>
                </a:buClr>
                <a:buFont typeface="Symbol" panose="05050102010706020507" pitchFamily="18" charset="2"/>
                <a:buChar char=""/>
              </a:pPr>
              <a:r>
                <a:rPr lang="ar-LB" sz="1200" b="1" kern="100" dirty="0">
                  <a:solidFill>
                    <a:srgbClr val="2D2D0E"/>
                  </a:solidFill>
                  <a:cs typeface="Tajawal" panose="00000500000000000000"/>
                </a:rPr>
                <a:t>تفعيل رخص</a:t>
              </a:r>
              <a:r>
                <a:rPr lang="en-US" sz="1200" b="1" kern="100" dirty="0">
                  <a:solidFill>
                    <a:srgbClr val="2D2D0E"/>
                  </a:solidFill>
                  <a:cs typeface="Tajawal" panose="00000500000000000000"/>
                </a:rPr>
                <a:t>Microsoft </a:t>
              </a:r>
              <a:r>
                <a:rPr lang="ar-LB" sz="1200" b="1" kern="100" dirty="0">
                  <a:solidFill>
                    <a:srgbClr val="2D2D0E"/>
                  </a:solidFill>
                  <a:cs typeface="Tajawal" panose="00000500000000000000"/>
                </a:rPr>
                <a:t> والبدء في تثبيت نظام </a:t>
              </a:r>
              <a:r>
                <a:rPr lang="en-US" sz="1200" b="1" kern="100" dirty="0">
                  <a:solidFill>
                    <a:srgbClr val="2D2D0E"/>
                  </a:solidFill>
                  <a:cs typeface="Tajawal" panose="00000500000000000000"/>
                </a:rPr>
                <a:t>Microsoft Dynamics CRM</a:t>
              </a:r>
              <a:r>
                <a:rPr lang="ar-LB" sz="1200" b="1" kern="100" dirty="0">
                  <a:solidFill>
                    <a:srgbClr val="2D2D0E"/>
                  </a:solidFill>
                  <a:cs typeface="Tajawal" panose="00000500000000000000"/>
                </a:rPr>
                <a:t> من قبل الشركة</a:t>
              </a:r>
              <a:endParaRPr lang="en-US" sz="1200" b="1" kern="100" dirty="0">
                <a:solidFill>
                  <a:srgbClr val="2D2D0E"/>
                </a:solidFill>
                <a:cs typeface="Tajawal" panose="00000500000000000000"/>
              </a:endParaRPr>
            </a:p>
            <a:p>
              <a:pPr marL="342900" marR="228600" indent="-342900" algn="r" rtl="1">
                <a:spcBef>
                  <a:spcPts val="500"/>
                </a:spcBef>
                <a:spcAft>
                  <a:spcPts val="500"/>
                </a:spcAft>
                <a:buClr>
                  <a:srgbClr val="D7AD3A"/>
                </a:buClr>
                <a:buFont typeface="Symbol" panose="05050102010706020507" pitchFamily="18" charset="2"/>
                <a:buChar char=""/>
              </a:pPr>
              <a:r>
                <a:rPr lang="ar-LB" sz="1200" b="1" kern="100" dirty="0">
                  <a:solidFill>
                    <a:srgbClr val="2D2D0E"/>
                  </a:solidFill>
                  <a:cs typeface="Tajawal" panose="00000500000000000000"/>
                </a:rPr>
                <a:t>عقد أجتماع مع فريق البنية التحتية و</a:t>
              </a:r>
              <a:r>
                <a:rPr lang="ar-LB" sz="1200" b="1" kern="100" dirty="0">
                  <a:solidFill>
                    <a:srgbClr val="2D2D0E"/>
                  </a:solidFill>
                  <a:latin typeface="Sakkal Majalla" panose="02000000000000000000" pitchFamily="2" charset="-78"/>
                  <a:cs typeface="Tajawal" panose="00000500000000000000"/>
                </a:rPr>
                <a:t>توفير المتطلبات التقنية للتكامل والبصمة من قبل المديرية</a:t>
              </a:r>
              <a:endParaRPr lang="en-US" sz="1200" b="1" kern="100" dirty="0">
                <a:solidFill>
                  <a:srgbClr val="2D2D0E"/>
                </a:solidFill>
                <a:latin typeface="Sakkal Majalla" panose="02000000000000000000" pitchFamily="2" charset="-78"/>
                <a:cs typeface="Tajawal" panose="00000500000000000000"/>
              </a:endParaRPr>
            </a:p>
            <a:p>
              <a:pPr marL="342900" marR="228600" indent="-342900" algn="r" rtl="1">
                <a:spcBef>
                  <a:spcPts val="500"/>
                </a:spcBef>
                <a:spcAft>
                  <a:spcPts val="500"/>
                </a:spcAft>
                <a:buClr>
                  <a:srgbClr val="D7AD3A"/>
                </a:buClr>
                <a:buFont typeface="Symbol" panose="05050102010706020507" pitchFamily="18" charset="2"/>
                <a:buChar char=""/>
              </a:pPr>
              <a:r>
                <a:rPr lang="ar-LB" sz="1200" b="1" kern="100" dirty="0">
                  <a:solidFill>
                    <a:srgbClr val="2D2D0E"/>
                  </a:solidFill>
                  <a:cs typeface="Tajawal" panose="00000500000000000000"/>
                </a:rPr>
                <a:t>إجراء التعديلات المطلوبة على خدمات المرحلة الأولى (</a:t>
              </a:r>
              <a:r>
                <a:rPr lang="en-US" sz="1200" b="1" kern="100" dirty="0">
                  <a:solidFill>
                    <a:srgbClr val="2D2D0E"/>
                  </a:solidFill>
                  <a:cs typeface="Tajawal" panose="00000500000000000000"/>
                </a:rPr>
                <a:t>MVP</a:t>
              </a:r>
              <a:r>
                <a:rPr lang="ar-LB" sz="1200" b="1" kern="100" dirty="0">
                  <a:solidFill>
                    <a:srgbClr val="2D2D0E"/>
                  </a:solidFill>
                  <a:cs typeface="Tajawal" panose="00000500000000000000"/>
                </a:rPr>
                <a:t>)</a:t>
              </a:r>
              <a:endParaRPr lang="en-US" sz="1200" b="1" kern="100" dirty="0">
                <a:solidFill>
                  <a:srgbClr val="2D2D0E"/>
                </a:solidFill>
                <a:cs typeface="Tajawal" panose="00000500000000000000"/>
              </a:endParaRPr>
            </a:p>
            <a:p>
              <a:pPr marL="342900" marR="228600" indent="-342900" algn="r" rtl="1">
                <a:spcBef>
                  <a:spcPts val="500"/>
                </a:spcBef>
                <a:spcAft>
                  <a:spcPts val="500"/>
                </a:spcAft>
                <a:buClr>
                  <a:srgbClr val="D7AD3A"/>
                </a:buClr>
                <a:buFont typeface="Symbol" panose="05050102010706020507" pitchFamily="18" charset="2"/>
                <a:buChar char=""/>
              </a:pPr>
              <a:r>
                <a:rPr lang="ar-LB" sz="1200" b="1" kern="100" dirty="0">
                  <a:solidFill>
                    <a:srgbClr val="2D2D0E"/>
                  </a:solidFill>
                  <a:cs typeface="Tajawal" panose="00000500000000000000"/>
                </a:rPr>
                <a:t>عقد إجتماع مع الأدارة المعنية في المديرية لخدمات الزيارة المرئية والزيارة العامة</a:t>
              </a:r>
              <a:endParaRPr lang="en-US" sz="1200" b="1" kern="100" dirty="0">
                <a:solidFill>
                  <a:srgbClr val="2D2D0E"/>
                </a:solidFill>
                <a:cs typeface="Tajawal" panose="00000500000000000000"/>
              </a:endParaRPr>
            </a:p>
            <a:p>
              <a:pPr marR="228600" algn="r" rtl="1">
                <a:spcBef>
                  <a:spcPts val="500"/>
                </a:spcBef>
                <a:spcAft>
                  <a:spcPts val="500"/>
                </a:spcAft>
                <a:buClr>
                  <a:srgbClr val="D7AD3A"/>
                </a:buClr>
              </a:pPr>
              <a:endParaRPr lang="en-US" sz="1200" b="1" kern="100" dirty="0">
                <a:solidFill>
                  <a:srgbClr val="2D2D0E"/>
                </a:solidFill>
                <a:cs typeface="Tajawal" panose="00000500000000000000"/>
              </a:endParaRPr>
            </a:p>
            <a:p>
              <a:pPr marL="342900" marR="228600" indent="-342900" algn="r" rtl="1">
                <a:spcBef>
                  <a:spcPts val="500"/>
                </a:spcBef>
                <a:spcAft>
                  <a:spcPts val="500"/>
                </a:spcAft>
                <a:buClr>
                  <a:srgbClr val="D7AD3A"/>
                </a:buClr>
                <a:buFont typeface="Symbol" panose="05050102010706020507" pitchFamily="18" charset="2"/>
                <a:buChar char=""/>
              </a:pPr>
              <a:endParaRPr lang="en-US" sz="1200" b="1" kern="100" dirty="0">
                <a:solidFill>
                  <a:srgbClr val="2D2D0E"/>
                </a:solidFill>
                <a:cs typeface="Tajawal" panose="00000500000000000000"/>
              </a:endParaRPr>
            </a:p>
            <a:p>
              <a:pPr marR="228600" algn="r" rtl="1">
                <a:spcBef>
                  <a:spcPts val="500"/>
                </a:spcBef>
                <a:spcAft>
                  <a:spcPts val="500"/>
                </a:spcAft>
                <a:buClr>
                  <a:srgbClr val="D7AD3A"/>
                </a:buClr>
              </a:pPr>
              <a:endParaRPr lang="ar-LB" sz="1000" b="1" kern="100" dirty="0">
                <a:solidFill>
                  <a:srgbClr val="2D2D0E"/>
                </a:solidFill>
                <a:cs typeface="Tajawal" panose="0000050000000000000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8D0917F-3E80-D190-9FE0-3C48306538BB}"/>
                </a:ext>
              </a:extLst>
            </p:cNvPr>
            <p:cNvSpPr/>
            <p:nvPr/>
          </p:nvSpPr>
          <p:spPr>
            <a:xfrm>
              <a:off x="5912831" y="-487617"/>
              <a:ext cx="4727014" cy="365597"/>
            </a:xfrm>
            <a:prstGeom prst="rect">
              <a:avLst/>
            </a:prstGeom>
            <a:solidFill>
              <a:srgbClr val="234C5A"/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ar-SA" sz="1400" b="1" kern="0" dirty="0">
                  <a:solidFill>
                    <a:srgbClr val="FFFFFF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المهام المخطط إنجازها في الفترة القادمة (أسبوعي)</a:t>
              </a:r>
              <a:endPara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910E0AE-5B61-A5FE-57C1-ED6E64A73C0D}"/>
              </a:ext>
            </a:extLst>
          </p:cNvPr>
          <p:cNvSpPr/>
          <p:nvPr/>
        </p:nvSpPr>
        <p:spPr bwMode="auto">
          <a:xfrm flipH="1">
            <a:off x="5171293" y="1166763"/>
            <a:ext cx="65148" cy="4633939"/>
          </a:xfrm>
          <a:prstGeom prst="rect">
            <a:avLst/>
          </a:prstGeom>
          <a:solidFill>
            <a:srgbClr val="67818A"/>
          </a:solidFill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Wingdings" pitchFamily="2" charset="2"/>
              <a:buNone/>
            </a:pPr>
            <a:endParaRPr lang="en-US" sz="1200">
              <a:solidFill>
                <a:srgbClr val="0000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E1DC03-9809-A1D0-87DF-7119E4AE3F0C}"/>
              </a:ext>
            </a:extLst>
          </p:cNvPr>
          <p:cNvGrpSpPr/>
          <p:nvPr/>
        </p:nvGrpSpPr>
        <p:grpSpPr>
          <a:xfrm>
            <a:off x="6267541" y="5931537"/>
            <a:ext cx="3588834" cy="365307"/>
            <a:chOff x="6647658" y="5843797"/>
            <a:chExt cx="3588834" cy="365307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9EA03C9-FEE5-EC54-07DC-CC73D3FA44CF}"/>
                </a:ext>
              </a:extLst>
            </p:cNvPr>
            <p:cNvSpPr/>
            <p:nvPr/>
          </p:nvSpPr>
          <p:spPr>
            <a:xfrm>
              <a:off x="6647658" y="5854243"/>
              <a:ext cx="864184" cy="160966"/>
            </a:xfrm>
            <a:prstGeom prst="rect">
              <a:avLst/>
            </a:prstGeom>
            <a:solidFill>
              <a:srgbClr val="F04C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SA" sz="1050" dirty="0">
                  <a:latin typeface="Tajawal" panose="00000500000000000000" pitchFamily="2" charset="-78"/>
                  <a:cs typeface="Tajawal" panose="00000500000000000000" pitchFamily="2" charset="-78"/>
                </a:rPr>
                <a:t>متأخر</a:t>
              </a:r>
              <a:endParaRPr lang="en-US" sz="1050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C6C2144-5186-93FE-512C-40B14298D51E}"/>
                </a:ext>
              </a:extLst>
            </p:cNvPr>
            <p:cNvSpPr/>
            <p:nvPr/>
          </p:nvSpPr>
          <p:spPr>
            <a:xfrm>
              <a:off x="8632224" y="5843797"/>
              <a:ext cx="829454" cy="17157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LB" sz="1050" dirty="0">
                  <a:latin typeface="Tajawal" panose="00000500000000000000" pitchFamily="2" charset="-78"/>
                  <a:cs typeface="Tajawal" panose="00000500000000000000" pitchFamily="2" charset="-78"/>
                </a:rPr>
                <a:t>على المسار</a:t>
              </a:r>
              <a:endParaRPr lang="en-US" sz="1050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14AAAB0-9E9A-48CB-17B3-4D5731BB38D6}"/>
                </a:ext>
              </a:extLst>
            </p:cNvPr>
            <p:cNvSpPr/>
            <p:nvPr/>
          </p:nvSpPr>
          <p:spPr>
            <a:xfrm>
              <a:off x="7579741" y="5854243"/>
              <a:ext cx="989472" cy="16096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LB" sz="1050" dirty="0">
                  <a:latin typeface="Tajawal" panose="00000500000000000000" pitchFamily="2" charset="-78"/>
                  <a:cs typeface="Tajawal" panose="00000500000000000000" pitchFamily="2" charset="-78"/>
                </a:rPr>
                <a:t>مخاطر محتملة</a:t>
              </a:r>
              <a:endParaRPr lang="en-US" sz="1050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C190A5F-0CED-EB72-EC6A-637A49E5BE6A}"/>
                </a:ext>
              </a:extLst>
            </p:cNvPr>
            <p:cNvSpPr txBox="1"/>
            <p:nvPr/>
          </p:nvSpPr>
          <p:spPr>
            <a:xfrm>
              <a:off x="7584475" y="5955188"/>
              <a:ext cx="98947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ajawal" panose="00000500000000000000" pitchFamily="2" charset="-78"/>
                  <a:cs typeface="Tajawal" panose="00000500000000000000" pitchFamily="2" charset="-78"/>
                </a:rPr>
                <a:t>2 &lt; Delay % &lt;</a:t>
              </a:r>
              <a:r>
                <a:rPr lang="ar-LB" sz="1000" dirty="0">
                  <a:latin typeface="Tajawal" panose="00000500000000000000" pitchFamily="2" charset="-78"/>
                  <a:cs typeface="Tajawal" panose="00000500000000000000" pitchFamily="2" charset="-78"/>
                </a:rPr>
                <a:t>5</a:t>
              </a:r>
              <a:endParaRPr lang="en-US" sz="1000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58D76F7-F323-1D22-B6C7-380D5B719F7B}"/>
                </a:ext>
              </a:extLst>
            </p:cNvPr>
            <p:cNvSpPr txBox="1"/>
            <p:nvPr/>
          </p:nvSpPr>
          <p:spPr>
            <a:xfrm>
              <a:off x="6662013" y="5955188"/>
              <a:ext cx="83547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ajawal" panose="00000500000000000000" pitchFamily="2" charset="-78"/>
                  <a:cs typeface="Tajawal" panose="00000500000000000000" pitchFamily="2" charset="-78"/>
                </a:rPr>
                <a:t>Delay % &gt; </a:t>
              </a:r>
              <a:r>
                <a:rPr lang="ar-LB" sz="1000" dirty="0">
                  <a:latin typeface="Tajawal" panose="00000500000000000000" pitchFamily="2" charset="-78"/>
                  <a:cs typeface="Tajawal" panose="00000500000000000000" pitchFamily="2" charset="-78"/>
                </a:rPr>
                <a:t>5</a:t>
              </a:r>
              <a:endParaRPr lang="en-US" sz="1000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C8D82CF-1473-DB70-1A53-D3A357465B7E}"/>
                </a:ext>
              </a:extLst>
            </p:cNvPr>
            <p:cNvSpPr txBox="1"/>
            <p:nvPr/>
          </p:nvSpPr>
          <p:spPr>
            <a:xfrm>
              <a:off x="8586629" y="5955188"/>
              <a:ext cx="98947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ajawal" panose="00000500000000000000" pitchFamily="2" charset="-78"/>
                  <a:cs typeface="Tajawal" panose="00000500000000000000" pitchFamily="2" charset="-78"/>
                </a:rPr>
                <a:t>2 &gt; Delay % = 0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5BAAD36-2431-3E14-323C-7860C9B95849}"/>
                </a:ext>
              </a:extLst>
            </p:cNvPr>
            <p:cNvSpPr/>
            <p:nvPr/>
          </p:nvSpPr>
          <p:spPr>
            <a:xfrm>
              <a:off x="9461678" y="5889942"/>
              <a:ext cx="774814" cy="17018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Aft>
                  <a:spcPts val="600"/>
                </a:spcAft>
                <a:buClr>
                  <a:srgbClr val="FFE600"/>
                </a:buClr>
                <a:buSzPct val="70000"/>
              </a:pPr>
              <a:r>
                <a:rPr lang="ar-SA" sz="1100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الدليل</a:t>
              </a:r>
              <a:r>
                <a:rPr lang="ar-LB" sz="1050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 </a:t>
              </a:r>
              <a:endParaRPr lang="en-US" sz="1050" b="1" dirty="0">
                <a:solidFill>
                  <a:schemeClr val="tx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</p:grp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2977242-2C13-8FA0-6DAB-DF38233914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5592683"/>
              </p:ext>
            </p:extLst>
          </p:nvPr>
        </p:nvGraphicFramePr>
        <p:xfrm>
          <a:off x="9982849" y="3276401"/>
          <a:ext cx="1458454" cy="1161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907069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587E5-8F53-F7B9-4D56-BD56328CD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2">
            <a:extLst>
              <a:ext uri="{FF2B5EF4-FFF2-40B4-BE49-F238E27FC236}">
                <a16:creationId xmlns:a16="http://schemas.microsoft.com/office/drawing/2014/main" id="{9FF104D2-55DA-776D-5FE0-4CC92E878F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5604" y="143792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7" name="Rectangle 58">
            <a:extLst>
              <a:ext uri="{FF2B5EF4-FFF2-40B4-BE49-F238E27FC236}">
                <a16:creationId xmlns:a16="http://schemas.microsoft.com/office/drawing/2014/main" id="{5ADD00D3-E360-2DFA-6114-6D24EEA92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064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EDED0CB-BA55-C719-03E7-2D0714D232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535397"/>
              </p:ext>
            </p:extLst>
          </p:nvPr>
        </p:nvGraphicFramePr>
        <p:xfrm>
          <a:off x="285425" y="1391986"/>
          <a:ext cx="11323320" cy="46024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29050">
                  <a:extLst>
                    <a:ext uri="{9D8B030D-6E8A-4147-A177-3AD203B41FA5}">
                      <a16:colId xmlns:a16="http://schemas.microsoft.com/office/drawing/2014/main" val="440369287"/>
                    </a:ext>
                  </a:extLst>
                </a:gridCol>
                <a:gridCol w="872933">
                  <a:extLst>
                    <a:ext uri="{9D8B030D-6E8A-4147-A177-3AD203B41FA5}">
                      <a16:colId xmlns:a16="http://schemas.microsoft.com/office/drawing/2014/main" val="3786283060"/>
                    </a:ext>
                  </a:extLst>
                </a:gridCol>
                <a:gridCol w="789255">
                  <a:extLst>
                    <a:ext uri="{9D8B030D-6E8A-4147-A177-3AD203B41FA5}">
                      <a16:colId xmlns:a16="http://schemas.microsoft.com/office/drawing/2014/main" val="1766651830"/>
                    </a:ext>
                  </a:extLst>
                </a:gridCol>
                <a:gridCol w="869067">
                  <a:extLst>
                    <a:ext uri="{9D8B030D-6E8A-4147-A177-3AD203B41FA5}">
                      <a16:colId xmlns:a16="http://schemas.microsoft.com/office/drawing/2014/main" val="597392431"/>
                    </a:ext>
                  </a:extLst>
                </a:gridCol>
                <a:gridCol w="727178">
                  <a:extLst>
                    <a:ext uri="{9D8B030D-6E8A-4147-A177-3AD203B41FA5}">
                      <a16:colId xmlns:a16="http://schemas.microsoft.com/office/drawing/2014/main" val="1080070471"/>
                    </a:ext>
                  </a:extLst>
                </a:gridCol>
                <a:gridCol w="1179744">
                  <a:extLst>
                    <a:ext uri="{9D8B030D-6E8A-4147-A177-3AD203B41FA5}">
                      <a16:colId xmlns:a16="http://schemas.microsoft.com/office/drawing/2014/main" val="53463299"/>
                    </a:ext>
                  </a:extLst>
                </a:gridCol>
                <a:gridCol w="993219">
                  <a:extLst>
                    <a:ext uri="{9D8B030D-6E8A-4147-A177-3AD203B41FA5}">
                      <a16:colId xmlns:a16="http://schemas.microsoft.com/office/drawing/2014/main" val="3091525918"/>
                    </a:ext>
                  </a:extLst>
                </a:gridCol>
                <a:gridCol w="1152844">
                  <a:extLst>
                    <a:ext uri="{9D8B030D-6E8A-4147-A177-3AD203B41FA5}">
                      <a16:colId xmlns:a16="http://schemas.microsoft.com/office/drawing/2014/main" val="3287169623"/>
                    </a:ext>
                  </a:extLst>
                </a:gridCol>
                <a:gridCol w="815858">
                  <a:extLst>
                    <a:ext uri="{9D8B030D-6E8A-4147-A177-3AD203B41FA5}">
                      <a16:colId xmlns:a16="http://schemas.microsoft.com/office/drawing/2014/main" val="94745673"/>
                    </a:ext>
                  </a:extLst>
                </a:gridCol>
                <a:gridCol w="590847">
                  <a:extLst>
                    <a:ext uri="{9D8B030D-6E8A-4147-A177-3AD203B41FA5}">
                      <a16:colId xmlns:a16="http://schemas.microsoft.com/office/drawing/2014/main" val="3770179118"/>
                    </a:ext>
                  </a:extLst>
                </a:gridCol>
                <a:gridCol w="1596132">
                  <a:extLst>
                    <a:ext uri="{9D8B030D-6E8A-4147-A177-3AD203B41FA5}">
                      <a16:colId xmlns:a16="http://schemas.microsoft.com/office/drawing/2014/main" val="261331466"/>
                    </a:ext>
                  </a:extLst>
                </a:gridCol>
                <a:gridCol w="507193">
                  <a:extLst>
                    <a:ext uri="{9D8B030D-6E8A-4147-A177-3AD203B41FA5}">
                      <a16:colId xmlns:a16="http://schemas.microsoft.com/office/drawing/2014/main" val="3125799418"/>
                    </a:ext>
                  </a:extLst>
                </a:gridCol>
              </a:tblGrid>
              <a:tr h="469223">
                <a:tc>
                  <a:txBody>
                    <a:bodyPr/>
                    <a:lstStyle/>
                    <a:p>
                      <a:pPr algn="ctr" fontAlgn="base"/>
                      <a:r>
                        <a:rPr lang="ar-SA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ملاحظات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r-LB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الأنحراف الزمني (أيام)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r-SA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مؤشر التباين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r-SA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%الإنجاز الفعلي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r-SA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%الإنجاز المخطط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التاريخ الفعلي للانتهاء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r-LB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التاريخ الفعلي للبدء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r-LB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التاريخ المخطط لل</a:t>
                      </a:r>
                      <a:r>
                        <a:rPr lang="ar-SA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</a:t>
                      </a:r>
                      <a:r>
                        <a:rPr lang="ar-LB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نتهاء 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r-LB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التاريخ المخطط للبدء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r-LB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الحالة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الشرح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#</a:t>
                      </a: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01215"/>
                  </a:ext>
                </a:extLst>
              </a:tr>
              <a:tr h="599563"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+19 يوم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10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10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2</a:t>
                      </a: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5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/01/2026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21/12/2025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06/01/2026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16/12/2025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kern="1200" noProof="0" dirty="0">
                        <a:solidFill>
                          <a:schemeClr val="tx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340" rtl="1" eaLnBrk="1" fontAlgn="base" latinLnBrk="0" hangingPunct="1"/>
                      <a:r>
                        <a:rPr lang="ar-SA" sz="1000" b="0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تحديد نطاق المرحلة الأولى (َ</a:t>
                      </a:r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MVP Scope</a:t>
                      </a:r>
                      <a:r>
                        <a:rPr lang="ar-SA" sz="1000" b="0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) وتحديث خطة المشروع التفصيلية (البدء والتصور)</a:t>
                      </a:r>
                      <a:endParaRPr lang="en-US" sz="1000" b="0" i="0" kern="1200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40" rtl="0" eaLnBrk="1" fontAlgn="base" latinLnBrk="0" hangingPunct="1"/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534618"/>
                  </a:ext>
                </a:extLst>
              </a:tr>
              <a:tr h="729903"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تم أعدادها من بواسطة سامي وأعتمادها من المديرية وتسليمها الى فريق عمل نتويز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 يوم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10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10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14/01/2026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30/12/202</a:t>
                      </a: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5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14/01/2026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30/12/2025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kern="1200" noProof="0" dirty="0">
                        <a:solidFill>
                          <a:schemeClr val="tx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الانتهاء من اعداد وثيقة الوضع المستقبلي تجربة المستفيد</a:t>
                      </a:r>
                      <a:r>
                        <a:rPr kumimoji="0" lang="ar-SA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 (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MVP</a:t>
                      </a:r>
                      <a:r>
                        <a:rPr kumimoji="0" lang="ar-SA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)</a:t>
                      </a: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 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*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180014"/>
                  </a:ext>
                </a:extLst>
              </a:tr>
              <a:tr h="729903"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تم أعدادها من بواسطة سامي وأعتمادها من المديرية وتسليمها الى فريق </a:t>
                      </a:r>
                      <a:r>
                        <a:rPr kumimoji="0" lang="ar-LB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عمل نتويز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 يوم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10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10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14/01/2026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30/12/2026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25/02/2026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15/01/2026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kern="1200" noProof="0" dirty="0">
                        <a:solidFill>
                          <a:schemeClr val="tx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الانتهاء من اعداد وثيقة الوضع المستقبلي تجربة المستفيد</a:t>
                      </a:r>
                      <a:r>
                        <a:rPr kumimoji="0" lang="ar-SA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 (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Full Scope</a:t>
                      </a:r>
                      <a:r>
                        <a:rPr kumimoji="0" lang="ar-SA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)</a:t>
                      </a: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 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*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base" latinLnBrk="0" hangingPunct="1"/>
                      <a:r>
                        <a:rPr lang="en-US" sz="1000" b="1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410081"/>
                  </a:ext>
                </a:extLst>
              </a:tr>
              <a:tr h="469223"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+71 يوم 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69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31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100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-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08/02/2026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03/02/2026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05/01/2026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40" rtl="0" eaLnBrk="1" fontAlgn="base" latinLnBrk="0" hangingPunct="1"/>
                      <a:endParaRPr lang="en-US" sz="1000" b="0" kern="1200" dirty="0">
                        <a:solidFill>
                          <a:schemeClr val="tx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تجهيز بيئات العمل التطويرية والتشغيلية وتفعيل رخص المنصة</a:t>
                      </a:r>
                      <a:endParaRPr lang="en-US" sz="1000" b="0" i="0" kern="1200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841558"/>
                  </a:ext>
                </a:extLst>
              </a:tr>
              <a:tr h="469223"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+37 يوم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10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10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26/02/2026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15/02/2026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20/01/2026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13/01/2026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40" rtl="0" eaLnBrk="1" fontAlgn="base" latinLnBrk="0" hangingPunct="1"/>
                      <a:endParaRPr lang="en-US" sz="1000" b="0" kern="1200" dirty="0">
                        <a:solidFill>
                          <a:schemeClr val="tx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1000" b="0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تصميم نظام إجراءات نزلاء السجون</a:t>
                      </a:r>
                      <a:r>
                        <a:rPr lang="ar-SA" sz="1000" b="0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 (</a:t>
                      </a:r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UI/UX &amp; Story Board for MVP Services</a:t>
                      </a:r>
                      <a:r>
                        <a:rPr lang="ar-SA" sz="1000" b="0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)</a:t>
                      </a:r>
                      <a:endParaRPr lang="en-US" sz="1000" b="0" i="0" kern="1200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7926"/>
                  </a:ext>
                </a:extLst>
              </a:tr>
              <a:tr h="469223"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19 يوم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100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100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29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/0</a:t>
                      </a: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3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26/02/2026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10/03/2026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20/01/2026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40" rtl="0" eaLnBrk="1" fontAlgn="base" latinLnBrk="0" hangingPunct="1"/>
                      <a:endParaRPr lang="en-US" sz="1000" b="0" kern="1200" dirty="0">
                        <a:solidFill>
                          <a:schemeClr val="tx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1000" b="0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تصميم نظام إجراءات نزلاء السجون</a:t>
                      </a:r>
                      <a:r>
                        <a:rPr lang="ar-SA" sz="1000" b="0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 (</a:t>
                      </a:r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UI/UX &amp; Story Board for Full Scope</a:t>
                      </a:r>
                      <a:r>
                        <a:rPr lang="ar-SA" sz="1000" b="0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)</a:t>
                      </a:r>
                      <a:endParaRPr lang="en-US" sz="1000" b="0" i="0" kern="1200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4095596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06B6460F-41B2-5AF6-1165-824C1F3FD0D1}"/>
              </a:ext>
            </a:extLst>
          </p:cNvPr>
          <p:cNvSpPr/>
          <p:nvPr/>
        </p:nvSpPr>
        <p:spPr>
          <a:xfrm>
            <a:off x="152400" y="1316740"/>
            <a:ext cx="11525556" cy="4747515"/>
          </a:xfrm>
          <a:prstGeom prst="rect">
            <a:avLst/>
          </a:prstGeom>
          <a:noFill/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  <a:latin typeface="Sakkal Majalla" panose="02000000000000000000" pitchFamily="2" charset="-78"/>
              <a:cs typeface="Tajawal" panose="0000050000000000000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ECB620-A773-61EC-9605-F2E49FD5F05C}"/>
              </a:ext>
            </a:extLst>
          </p:cNvPr>
          <p:cNvSpPr txBox="1"/>
          <p:nvPr/>
        </p:nvSpPr>
        <p:spPr>
          <a:xfrm>
            <a:off x="8504958" y="1143613"/>
            <a:ext cx="2844389" cy="215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indent="117475" algn="ctr" rtl="1"/>
            <a:r>
              <a:rPr lang="ar-SA" sz="1400" b="1" dirty="0">
                <a:solidFill>
                  <a:schemeClr val="accent1"/>
                </a:solidFill>
                <a:latin typeface="Sakkal Majalla" panose="02000000000000000000" pitchFamily="2" charset="-78"/>
                <a:cs typeface="Tajawal" panose="00000500000000000000"/>
              </a:rPr>
              <a:t>المعالم الرئيسية (</a:t>
            </a:r>
            <a:r>
              <a:rPr lang="en-US" sz="1400" b="1" dirty="0">
                <a:solidFill>
                  <a:schemeClr val="accent1"/>
                </a:solidFill>
                <a:latin typeface="Sakkal Majalla" panose="02000000000000000000" pitchFamily="2" charset="-78"/>
                <a:cs typeface="Tajawal" panose="00000500000000000000"/>
              </a:rPr>
              <a:t>CRM &amp; Portals</a:t>
            </a:r>
            <a:r>
              <a:rPr lang="ar-SA" sz="1400" b="1" dirty="0">
                <a:solidFill>
                  <a:schemeClr val="accent1"/>
                </a:solidFill>
                <a:latin typeface="Sakkal Majalla" panose="02000000000000000000" pitchFamily="2" charset="-78"/>
                <a:cs typeface="Tajawal" panose="00000500000000000000"/>
              </a:rPr>
              <a:t>)</a:t>
            </a:r>
            <a:endParaRPr lang="en-US" sz="1400" b="1" dirty="0">
              <a:solidFill>
                <a:schemeClr val="accent1"/>
              </a:solidFill>
              <a:latin typeface="Sakkal Majalla" panose="02000000000000000000" pitchFamily="2" charset="-78"/>
              <a:cs typeface="Tajawal" panose="0000050000000000000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BF3D92C-7CAF-AF7E-6682-1FC9E923F847}"/>
              </a:ext>
            </a:extLst>
          </p:cNvPr>
          <p:cNvGrpSpPr/>
          <p:nvPr/>
        </p:nvGrpSpPr>
        <p:grpSpPr>
          <a:xfrm>
            <a:off x="6096000" y="6100425"/>
            <a:ext cx="5447395" cy="342223"/>
            <a:chOff x="6647658" y="5843797"/>
            <a:chExt cx="5447395" cy="34222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B50D789-33BF-7269-78BD-5D203A02D3C5}"/>
                </a:ext>
              </a:extLst>
            </p:cNvPr>
            <p:cNvSpPr/>
            <p:nvPr/>
          </p:nvSpPr>
          <p:spPr>
            <a:xfrm>
              <a:off x="6647658" y="5854243"/>
              <a:ext cx="864184" cy="160966"/>
            </a:xfrm>
            <a:prstGeom prst="rect">
              <a:avLst/>
            </a:prstGeom>
            <a:solidFill>
              <a:srgbClr val="F04C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SA" sz="1000" dirty="0">
                  <a:latin typeface="Tajawal" panose="00000500000000000000" pitchFamily="2" charset="-78"/>
                  <a:cs typeface="Tajawal" panose="00000500000000000000" pitchFamily="2" charset="-78"/>
                </a:rPr>
                <a:t>متأخر</a:t>
              </a:r>
              <a:endParaRPr lang="en-US" sz="1000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BAF6820-0FC5-C340-587A-C568F480107A}"/>
                </a:ext>
              </a:extLst>
            </p:cNvPr>
            <p:cNvSpPr/>
            <p:nvPr/>
          </p:nvSpPr>
          <p:spPr>
            <a:xfrm>
              <a:off x="8632224" y="5843797"/>
              <a:ext cx="829454" cy="17157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LB" sz="1000" dirty="0">
                  <a:latin typeface="Tajawal" panose="00000500000000000000" pitchFamily="2" charset="-78"/>
                  <a:cs typeface="Tajawal" panose="00000500000000000000" pitchFamily="2" charset="-78"/>
                </a:rPr>
                <a:t>على المسار</a:t>
              </a:r>
              <a:endParaRPr lang="en-US" sz="1000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1AD73F8-1CE0-9FD7-1689-B97A7718DFBC}"/>
                </a:ext>
              </a:extLst>
            </p:cNvPr>
            <p:cNvSpPr/>
            <p:nvPr/>
          </p:nvSpPr>
          <p:spPr>
            <a:xfrm>
              <a:off x="9519419" y="5843797"/>
              <a:ext cx="868030" cy="171579"/>
            </a:xfrm>
            <a:prstGeom prst="rect">
              <a:avLst/>
            </a:prstGeom>
            <a:solidFill>
              <a:srgbClr val="00AB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LB" sz="1000" dirty="0">
                  <a:latin typeface="Tajawal" panose="00000500000000000000" pitchFamily="2" charset="-78"/>
                  <a:cs typeface="Tajawal" panose="00000500000000000000" pitchFamily="2" charset="-78"/>
                </a:rPr>
                <a:t>مكتملة</a:t>
              </a:r>
              <a:endParaRPr lang="en-US" sz="1000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BA7934D-92DC-AA4D-97D4-3BFF0DED5A1D}"/>
                </a:ext>
              </a:extLst>
            </p:cNvPr>
            <p:cNvSpPr/>
            <p:nvPr/>
          </p:nvSpPr>
          <p:spPr>
            <a:xfrm>
              <a:off x="7579741" y="5854243"/>
              <a:ext cx="989472" cy="16096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LB" sz="1000" dirty="0">
                  <a:latin typeface="Tajawal" panose="00000500000000000000" pitchFamily="2" charset="-78"/>
                  <a:cs typeface="Tajawal" panose="00000500000000000000" pitchFamily="2" charset="-78"/>
                </a:rPr>
                <a:t>مخاطر محتملة</a:t>
              </a:r>
              <a:endParaRPr lang="en-US" sz="1000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8FC335F-3B1B-936D-7EE4-91A20A85EA2C}"/>
                </a:ext>
              </a:extLst>
            </p:cNvPr>
            <p:cNvSpPr txBox="1"/>
            <p:nvPr/>
          </p:nvSpPr>
          <p:spPr>
            <a:xfrm>
              <a:off x="7584475" y="5955188"/>
              <a:ext cx="98947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Tajawal" panose="00000500000000000000" pitchFamily="2" charset="-78"/>
                  <a:cs typeface="Tajawal" panose="00000500000000000000" pitchFamily="2" charset="-78"/>
                </a:rPr>
                <a:t>2 &lt; Delay % &lt;</a:t>
              </a:r>
              <a:r>
                <a:rPr lang="ar-LB" sz="900" dirty="0">
                  <a:latin typeface="Tajawal" panose="00000500000000000000" pitchFamily="2" charset="-78"/>
                  <a:cs typeface="Tajawal" panose="00000500000000000000" pitchFamily="2" charset="-78"/>
                </a:rPr>
                <a:t>5</a:t>
              </a:r>
              <a:endParaRPr lang="en-US" sz="900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7580D49-A0DC-E2E0-C976-CA7D903A342D}"/>
                </a:ext>
              </a:extLst>
            </p:cNvPr>
            <p:cNvSpPr txBox="1"/>
            <p:nvPr/>
          </p:nvSpPr>
          <p:spPr>
            <a:xfrm>
              <a:off x="6662013" y="5955188"/>
              <a:ext cx="83547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Tajawal" panose="00000500000000000000" pitchFamily="2" charset="-78"/>
                  <a:cs typeface="Tajawal" panose="00000500000000000000" pitchFamily="2" charset="-78"/>
                </a:rPr>
                <a:t>Delay % &gt; </a:t>
              </a:r>
              <a:r>
                <a:rPr lang="ar-LB" sz="900" dirty="0">
                  <a:latin typeface="Tajawal" panose="00000500000000000000" pitchFamily="2" charset="-78"/>
                  <a:cs typeface="Tajawal" panose="00000500000000000000" pitchFamily="2" charset="-78"/>
                </a:rPr>
                <a:t>5</a:t>
              </a:r>
              <a:endParaRPr lang="en-US" sz="900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6D62BA5-7153-9F9C-8CBE-94F1202ADBF0}"/>
                </a:ext>
              </a:extLst>
            </p:cNvPr>
            <p:cNvSpPr txBox="1"/>
            <p:nvPr/>
          </p:nvSpPr>
          <p:spPr>
            <a:xfrm>
              <a:off x="8586629" y="5955188"/>
              <a:ext cx="98947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Tajawal" panose="00000500000000000000" pitchFamily="2" charset="-78"/>
                  <a:cs typeface="Tajawal" panose="00000500000000000000" pitchFamily="2" charset="-78"/>
                </a:rPr>
                <a:t>2 &gt; Delay % = 0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6C90F66-3A39-8ED2-27C5-0FAB2C787283}"/>
                </a:ext>
              </a:extLst>
            </p:cNvPr>
            <p:cNvSpPr/>
            <p:nvPr/>
          </p:nvSpPr>
          <p:spPr>
            <a:xfrm>
              <a:off x="11320239" y="5860590"/>
              <a:ext cx="774814" cy="17018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Aft>
                  <a:spcPts val="600"/>
                </a:spcAft>
                <a:buClr>
                  <a:srgbClr val="FFE600"/>
                </a:buClr>
                <a:buSzPct val="70000"/>
              </a:pPr>
              <a:r>
                <a:rPr lang="ar-SA" sz="1000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الدليل</a:t>
              </a:r>
              <a:r>
                <a:rPr lang="ar-LB" sz="1000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 </a:t>
              </a:r>
              <a:endParaRPr lang="en-US" sz="1000" b="1" dirty="0">
                <a:solidFill>
                  <a:schemeClr val="tx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44F1A97-243A-518E-60ED-14A70790EDFB}"/>
                </a:ext>
              </a:extLst>
            </p:cNvPr>
            <p:cNvSpPr/>
            <p:nvPr/>
          </p:nvSpPr>
          <p:spPr>
            <a:xfrm>
              <a:off x="10455348" y="5849502"/>
              <a:ext cx="796992" cy="161134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SA" sz="1000" dirty="0">
                  <a:latin typeface="Tajawal" panose="00000500000000000000" pitchFamily="2" charset="-78"/>
                  <a:cs typeface="Tajawal" panose="00000500000000000000" pitchFamily="2" charset="-78"/>
                </a:rPr>
                <a:t>لم تبدأ</a:t>
              </a:r>
              <a:endParaRPr lang="en-US" sz="1000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9C68C2E7-E0E4-FD3C-5F97-484D58AACCE0}"/>
              </a:ext>
            </a:extLst>
          </p:cNvPr>
          <p:cNvSpPr/>
          <p:nvPr/>
        </p:nvSpPr>
        <p:spPr>
          <a:xfrm>
            <a:off x="9143133" y="2231516"/>
            <a:ext cx="182880" cy="182880"/>
          </a:xfrm>
          <a:prstGeom prst="ellipse">
            <a:avLst/>
          </a:prstGeom>
          <a:solidFill>
            <a:srgbClr val="00AB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B0E5C9D-2D29-9354-2D93-A640AA4D65B7}"/>
              </a:ext>
            </a:extLst>
          </p:cNvPr>
          <p:cNvSpPr/>
          <p:nvPr/>
        </p:nvSpPr>
        <p:spPr>
          <a:xfrm>
            <a:off x="9131685" y="2991948"/>
            <a:ext cx="182880" cy="182880"/>
          </a:xfrm>
          <a:prstGeom prst="ellipse">
            <a:avLst/>
          </a:prstGeom>
          <a:solidFill>
            <a:srgbClr val="00AB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2B37840-7DD7-3ACD-7BAA-463CF25AD39B}"/>
              </a:ext>
            </a:extLst>
          </p:cNvPr>
          <p:cNvSpPr/>
          <p:nvPr/>
        </p:nvSpPr>
        <p:spPr>
          <a:xfrm>
            <a:off x="9143133" y="3853356"/>
            <a:ext cx="182880" cy="182880"/>
          </a:xfrm>
          <a:prstGeom prst="ellipse">
            <a:avLst/>
          </a:prstGeom>
          <a:solidFill>
            <a:srgbClr val="00AB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8184CDE-1077-39C5-7D66-DA741B3E1ACC}"/>
              </a:ext>
            </a:extLst>
          </p:cNvPr>
          <p:cNvSpPr/>
          <p:nvPr/>
        </p:nvSpPr>
        <p:spPr>
          <a:xfrm>
            <a:off x="9147981" y="4519774"/>
            <a:ext cx="182880" cy="1828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787BB2B-6B36-008D-11EB-9B7CF814CFB7}"/>
              </a:ext>
            </a:extLst>
          </p:cNvPr>
          <p:cNvSpPr/>
          <p:nvPr/>
        </p:nvSpPr>
        <p:spPr>
          <a:xfrm>
            <a:off x="9131685" y="5039043"/>
            <a:ext cx="182880" cy="182880"/>
          </a:xfrm>
          <a:prstGeom prst="ellipse">
            <a:avLst/>
          </a:prstGeom>
          <a:solidFill>
            <a:srgbClr val="00AB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DCEA5AC-A28F-EF39-9A44-42CA043BE849}"/>
              </a:ext>
            </a:extLst>
          </p:cNvPr>
          <p:cNvSpPr/>
          <p:nvPr/>
        </p:nvSpPr>
        <p:spPr>
          <a:xfrm>
            <a:off x="9131685" y="5590644"/>
            <a:ext cx="182880" cy="182880"/>
          </a:xfrm>
          <a:prstGeom prst="ellipse">
            <a:avLst/>
          </a:prstGeom>
          <a:solidFill>
            <a:srgbClr val="00AB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3022E0-D319-7C97-E8E6-B68DA458D4A1}"/>
              </a:ext>
            </a:extLst>
          </p:cNvPr>
          <p:cNvSpPr txBox="1"/>
          <p:nvPr/>
        </p:nvSpPr>
        <p:spPr>
          <a:xfrm>
            <a:off x="1293722" y="6064255"/>
            <a:ext cx="3730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* تشير إلى المعالم الرئيسية المرتبطة </a:t>
            </a:r>
            <a:endParaRPr lang="en-US" sz="1400" dirty="0"/>
          </a:p>
        </p:txBody>
      </p:sp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1FF687B3-B599-6945-71E9-2641C924580A}"/>
              </a:ext>
            </a:extLst>
          </p:cNvPr>
          <p:cNvSpPr txBox="1">
            <a:spLocks/>
          </p:cNvSpPr>
          <p:nvPr/>
        </p:nvSpPr>
        <p:spPr>
          <a:xfrm>
            <a:off x="4283180" y="470647"/>
            <a:ext cx="3931947" cy="4182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ar-SA" b="1" dirty="0">
                <a:latin typeface="Tajawal" panose="00000500000000000000" pitchFamily="2" charset="-78"/>
                <a:cs typeface="Tajawal" panose="00000500000000000000" pitchFamily="2" charset="-78"/>
              </a:rPr>
              <a:t>ملخص تنفيذي</a:t>
            </a:r>
            <a:endParaRPr lang="en-US" b="1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11130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5BEDC-F707-29D4-94A4-A839D766A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2">
            <a:extLst>
              <a:ext uri="{FF2B5EF4-FFF2-40B4-BE49-F238E27FC236}">
                <a16:creationId xmlns:a16="http://schemas.microsoft.com/office/drawing/2014/main" id="{AB0F24AB-D093-6715-9E0E-F05C94940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5604" y="143792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7" name="Rectangle 58">
            <a:extLst>
              <a:ext uri="{FF2B5EF4-FFF2-40B4-BE49-F238E27FC236}">
                <a16:creationId xmlns:a16="http://schemas.microsoft.com/office/drawing/2014/main" id="{F0D2804A-0200-E1AB-F907-07F396130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064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BEA4B28-6DCA-33B6-C0C7-F033F04A35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3149715"/>
              </p:ext>
            </p:extLst>
          </p:nvPr>
        </p:nvGraphicFramePr>
        <p:xfrm>
          <a:off x="253518" y="1433518"/>
          <a:ext cx="11323320" cy="4506541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29050">
                  <a:extLst>
                    <a:ext uri="{9D8B030D-6E8A-4147-A177-3AD203B41FA5}">
                      <a16:colId xmlns:a16="http://schemas.microsoft.com/office/drawing/2014/main" val="440369287"/>
                    </a:ext>
                  </a:extLst>
                </a:gridCol>
                <a:gridCol w="872933">
                  <a:extLst>
                    <a:ext uri="{9D8B030D-6E8A-4147-A177-3AD203B41FA5}">
                      <a16:colId xmlns:a16="http://schemas.microsoft.com/office/drawing/2014/main" val="3786283060"/>
                    </a:ext>
                  </a:extLst>
                </a:gridCol>
                <a:gridCol w="789255">
                  <a:extLst>
                    <a:ext uri="{9D8B030D-6E8A-4147-A177-3AD203B41FA5}">
                      <a16:colId xmlns:a16="http://schemas.microsoft.com/office/drawing/2014/main" val="1766651830"/>
                    </a:ext>
                  </a:extLst>
                </a:gridCol>
                <a:gridCol w="869067">
                  <a:extLst>
                    <a:ext uri="{9D8B030D-6E8A-4147-A177-3AD203B41FA5}">
                      <a16:colId xmlns:a16="http://schemas.microsoft.com/office/drawing/2014/main" val="597392431"/>
                    </a:ext>
                  </a:extLst>
                </a:gridCol>
                <a:gridCol w="727178">
                  <a:extLst>
                    <a:ext uri="{9D8B030D-6E8A-4147-A177-3AD203B41FA5}">
                      <a16:colId xmlns:a16="http://schemas.microsoft.com/office/drawing/2014/main" val="1080070471"/>
                    </a:ext>
                  </a:extLst>
                </a:gridCol>
                <a:gridCol w="1179744">
                  <a:extLst>
                    <a:ext uri="{9D8B030D-6E8A-4147-A177-3AD203B41FA5}">
                      <a16:colId xmlns:a16="http://schemas.microsoft.com/office/drawing/2014/main" val="53463299"/>
                    </a:ext>
                  </a:extLst>
                </a:gridCol>
                <a:gridCol w="993219">
                  <a:extLst>
                    <a:ext uri="{9D8B030D-6E8A-4147-A177-3AD203B41FA5}">
                      <a16:colId xmlns:a16="http://schemas.microsoft.com/office/drawing/2014/main" val="3091525918"/>
                    </a:ext>
                  </a:extLst>
                </a:gridCol>
                <a:gridCol w="1152844">
                  <a:extLst>
                    <a:ext uri="{9D8B030D-6E8A-4147-A177-3AD203B41FA5}">
                      <a16:colId xmlns:a16="http://schemas.microsoft.com/office/drawing/2014/main" val="3287169623"/>
                    </a:ext>
                  </a:extLst>
                </a:gridCol>
                <a:gridCol w="930985">
                  <a:extLst>
                    <a:ext uri="{9D8B030D-6E8A-4147-A177-3AD203B41FA5}">
                      <a16:colId xmlns:a16="http://schemas.microsoft.com/office/drawing/2014/main" val="94745673"/>
                    </a:ext>
                  </a:extLst>
                </a:gridCol>
                <a:gridCol w="475720">
                  <a:extLst>
                    <a:ext uri="{9D8B030D-6E8A-4147-A177-3AD203B41FA5}">
                      <a16:colId xmlns:a16="http://schemas.microsoft.com/office/drawing/2014/main" val="3770179118"/>
                    </a:ext>
                  </a:extLst>
                </a:gridCol>
                <a:gridCol w="1596132">
                  <a:extLst>
                    <a:ext uri="{9D8B030D-6E8A-4147-A177-3AD203B41FA5}">
                      <a16:colId xmlns:a16="http://schemas.microsoft.com/office/drawing/2014/main" val="261331466"/>
                    </a:ext>
                  </a:extLst>
                </a:gridCol>
                <a:gridCol w="507193">
                  <a:extLst>
                    <a:ext uri="{9D8B030D-6E8A-4147-A177-3AD203B41FA5}">
                      <a16:colId xmlns:a16="http://schemas.microsoft.com/office/drawing/2014/main" val="3125799418"/>
                    </a:ext>
                  </a:extLst>
                </a:gridCol>
              </a:tblGrid>
              <a:tr h="563658">
                <a:tc>
                  <a:txBody>
                    <a:bodyPr/>
                    <a:lstStyle/>
                    <a:p>
                      <a:pPr algn="ctr" fontAlgn="base"/>
                      <a:r>
                        <a:rPr lang="ar-SA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ملاحظات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r-LB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الأنحراف الزمني (أيام)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r-SA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مؤشر التباين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r-SA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%الإنجاز الفعلي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r-SA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%الإنجاز المخطط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التاريخ الفعلي للانتهاء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r-LB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التاريخ الفعلي للبدء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r-LB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التاريخ المخطط لل</a:t>
                      </a:r>
                      <a:r>
                        <a:rPr lang="ar-SA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</a:t>
                      </a:r>
                      <a:r>
                        <a:rPr lang="ar-LB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نتهاء 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r-LB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التاريخ المخطط للبدء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r-LB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الحالة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الشرح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#</a:t>
                      </a: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01215"/>
                  </a:ext>
                </a:extLst>
              </a:tr>
              <a:tr h="615975"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المتوقع الأنتهاء من التطوير بتاريخ 15 أبريل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6 يوم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17%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83%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100%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-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01/03/2026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30/03/2026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21/01/2026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kern="1200" noProof="0" dirty="0">
                        <a:solidFill>
                          <a:schemeClr val="tx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تطوير</a:t>
                      </a:r>
                      <a:r>
                        <a:rPr lang="ar-LB" sz="1000" b="0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 نظام إجراءات نزلاء السجون</a:t>
                      </a:r>
                      <a:r>
                        <a:rPr lang="ar-SA" sz="1000" b="0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 (</a:t>
                      </a:r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MVP</a:t>
                      </a:r>
                      <a:r>
                        <a:rPr lang="ar-SA" sz="1000" b="0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)</a:t>
                      </a:r>
                      <a:endParaRPr lang="en-US" sz="1000" b="0" i="0" kern="1200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ea typeface="+mn-ea"/>
                        <a:cs typeface="Tajawal" panose="00000500000000000000"/>
                        <a:sym typeface="Cairo" pitchFamily="2" charset="-78"/>
                      </a:endParaRP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534618"/>
                  </a:ext>
                </a:extLst>
              </a:tr>
              <a:tr h="749882"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 يوم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-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-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21/10/2026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21/04/2026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kern="1200" noProof="0" dirty="0">
                        <a:solidFill>
                          <a:schemeClr val="tx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تطوير</a:t>
                      </a:r>
                      <a:r>
                        <a:rPr lang="ar-LB" sz="1000" b="0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 نظام إجراءات نزلاء السجون</a:t>
                      </a:r>
                      <a:r>
                        <a:rPr lang="ar-SA" sz="1000" b="0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 (</a:t>
                      </a:r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Full Scope</a:t>
                      </a:r>
                      <a:r>
                        <a:rPr lang="ar-SA" sz="1000" b="0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)</a:t>
                      </a:r>
                      <a:endParaRPr lang="en-US" sz="1000" b="0" i="0" kern="1200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ea typeface="+mn-ea"/>
                        <a:cs typeface="Tajawal" panose="00000500000000000000"/>
                        <a:sym typeface="Cairo" pitchFamily="2" charset="-78"/>
                      </a:endParaRP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base" latinLnBrk="0" hangingPunct="1"/>
                      <a:r>
                        <a:rPr lang="en-US" sz="1000" b="1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180014"/>
                  </a:ext>
                </a:extLst>
              </a:tr>
              <a:tr h="749882"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تاريخ بداية أعمال الربط غير دقيق ويعتمد على تحديد نطاق المرحلة الأولى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 يوم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-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-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21/10/2026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15/09/2026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kern="1200" noProof="0" dirty="0">
                        <a:solidFill>
                          <a:schemeClr val="tx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الانتهاء من ربط نظام إجراءات نزلاء السجون مع الجهات داخل وزارة الداخلية (عدد 6 جهات)*</a:t>
                      </a:r>
                      <a:endParaRPr lang="en-US" sz="1000" b="0" i="0" kern="1200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410081"/>
                  </a:ext>
                </a:extLst>
              </a:tr>
              <a:tr h="720229"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تاريخ بداية أعمال الربط غير دقيق ويعتمد على تحديد نطاق المرحلة الأولى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 يوم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-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-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21/10/2026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15/09/2026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40" rtl="0" eaLnBrk="1" fontAlgn="base" latinLnBrk="0" hangingPunct="1"/>
                      <a:endParaRPr lang="en-US" sz="1000" b="0" kern="1200" dirty="0">
                        <a:solidFill>
                          <a:schemeClr val="tx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الانتهاء من ربط نظام إجراءات نزلاء السجون مع الجهات خارج وزارة الداخلية (عدد 4 جهات)</a:t>
                      </a:r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*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841558"/>
                  </a:ext>
                </a:extLst>
              </a:tr>
              <a:tr h="482067"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 يوم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-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-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26/10/2026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15/09/2026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40" rtl="0" eaLnBrk="1" fontAlgn="base" latinLnBrk="0" hangingPunct="1"/>
                      <a:endParaRPr lang="en-US" sz="1000" b="0" kern="1200" dirty="0">
                        <a:solidFill>
                          <a:schemeClr val="tx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الانتهاء من تصميم وبناء نظام عرض البيانات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*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1000" b="1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11</a:t>
                      </a:r>
                      <a:endParaRPr lang="en-US" sz="1000" b="1" i="0" kern="1200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7926"/>
                  </a:ext>
                </a:extLst>
              </a:tr>
              <a:tr h="624848"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 يوم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66%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28%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94%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-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13/04/2026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21/04/2026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31/03/2026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kern="1200" noProof="0" dirty="0">
                        <a:solidFill>
                          <a:schemeClr val="tx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340" rtl="1" eaLnBrk="1" fontAlgn="base" latinLnBrk="0" hangingPunct="1"/>
                      <a:r>
                        <a:rPr lang="ar-SA" sz="1000" b="0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الانتهاء من اختبارات المرحلة الأولى وقبول المستخدم (</a:t>
                      </a:r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MVP</a:t>
                      </a:r>
                      <a:r>
                        <a:rPr lang="ar-SA" sz="1000" b="0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)</a:t>
                      </a:r>
                      <a:endParaRPr lang="en-US" sz="1000" b="0" i="0" kern="1200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56193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0DF0A6B7-3149-A0B1-A75D-316F1527D21C}"/>
              </a:ext>
            </a:extLst>
          </p:cNvPr>
          <p:cNvSpPr/>
          <p:nvPr/>
        </p:nvSpPr>
        <p:spPr>
          <a:xfrm>
            <a:off x="152400" y="1316740"/>
            <a:ext cx="11525556" cy="4747515"/>
          </a:xfrm>
          <a:prstGeom prst="rect">
            <a:avLst/>
          </a:prstGeom>
          <a:noFill/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  <a:latin typeface="Sakkal Majalla" panose="02000000000000000000" pitchFamily="2" charset="-78"/>
              <a:cs typeface="Tajawal" panose="0000050000000000000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2C5704-0794-8A00-9A56-A58D765B64CF}"/>
              </a:ext>
            </a:extLst>
          </p:cNvPr>
          <p:cNvSpPr txBox="1"/>
          <p:nvPr/>
        </p:nvSpPr>
        <p:spPr>
          <a:xfrm>
            <a:off x="8504958" y="1143613"/>
            <a:ext cx="2844389" cy="215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indent="117475" algn="ctr" rtl="1"/>
            <a:r>
              <a:rPr lang="ar-SA" sz="1400" b="1" dirty="0">
                <a:solidFill>
                  <a:schemeClr val="accent1"/>
                </a:solidFill>
                <a:latin typeface="Sakkal Majalla" panose="02000000000000000000" pitchFamily="2" charset="-78"/>
                <a:cs typeface="Tajawal" panose="00000500000000000000"/>
              </a:rPr>
              <a:t>المعالم الرئيسية (</a:t>
            </a:r>
            <a:r>
              <a:rPr lang="en-US" sz="1400" b="1" dirty="0">
                <a:solidFill>
                  <a:schemeClr val="accent1"/>
                </a:solidFill>
                <a:latin typeface="Sakkal Majalla" panose="02000000000000000000" pitchFamily="2" charset="-78"/>
                <a:cs typeface="Tajawal" panose="00000500000000000000"/>
              </a:rPr>
              <a:t>CRM &amp; Portals</a:t>
            </a:r>
            <a:r>
              <a:rPr lang="ar-SA" sz="1400" b="1" dirty="0">
                <a:solidFill>
                  <a:schemeClr val="accent1"/>
                </a:solidFill>
                <a:latin typeface="Sakkal Majalla" panose="02000000000000000000" pitchFamily="2" charset="-78"/>
                <a:cs typeface="Tajawal" panose="00000500000000000000"/>
              </a:rPr>
              <a:t>)</a:t>
            </a:r>
            <a:endParaRPr lang="en-US" sz="1400" b="1" dirty="0">
              <a:solidFill>
                <a:schemeClr val="accent1"/>
              </a:solidFill>
              <a:latin typeface="Sakkal Majalla" panose="02000000000000000000" pitchFamily="2" charset="-78"/>
              <a:cs typeface="Tajawal" panose="0000050000000000000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C8C4A84-1558-AF56-1488-4CBBA8F9DDF8}"/>
              </a:ext>
            </a:extLst>
          </p:cNvPr>
          <p:cNvGrpSpPr/>
          <p:nvPr/>
        </p:nvGrpSpPr>
        <p:grpSpPr>
          <a:xfrm>
            <a:off x="6096000" y="6100425"/>
            <a:ext cx="5447395" cy="342223"/>
            <a:chOff x="6647658" y="5843797"/>
            <a:chExt cx="5447395" cy="34222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8C3B09-4CB8-6975-A363-80B5677130DB}"/>
                </a:ext>
              </a:extLst>
            </p:cNvPr>
            <p:cNvSpPr/>
            <p:nvPr/>
          </p:nvSpPr>
          <p:spPr>
            <a:xfrm>
              <a:off x="6647658" y="5854243"/>
              <a:ext cx="864184" cy="160966"/>
            </a:xfrm>
            <a:prstGeom prst="rect">
              <a:avLst/>
            </a:prstGeom>
            <a:solidFill>
              <a:srgbClr val="F04C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SA" sz="1000" dirty="0">
                  <a:latin typeface="Tajawal" panose="00000500000000000000" pitchFamily="2" charset="-78"/>
                  <a:cs typeface="Tajawal" panose="00000500000000000000" pitchFamily="2" charset="-78"/>
                </a:rPr>
                <a:t>متأخر</a:t>
              </a:r>
              <a:endParaRPr lang="en-US" sz="1000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A8225FD-E273-34A0-FD61-C76689045782}"/>
                </a:ext>
              </a:extLst>
            </p:cNvPr>
            <p:cNvSpPr/>
            <p:nvPr/>
          </p:nvSpPr>
          <p:spPr>
            <a:xfrm>
              <a:off x="8632224" y="5843797"/>
              <a:ext cx="829454" cy="17157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LB" sz="1000" dirty="0">
                  <a:latin typeface="Tajawal" panose="00000500000000000000" pitchFamily="2" charset="-78"/>
                  <a:cs typeface="Tajawal" panose="00000500000000000000" pitchFamily="2" charset="-78"/>
                </a:rPr>
                <a:t>على المسار</a:t>
              </a:r>
              <a:endParaRPr lang="en-US" sz="1000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0AE234F-40B2-1CD1-025D-8B42C4A8F63C}"/>
                </a:ext>
              </a:extLst>
            </p:cNvPr>
            <p:cNvSpPr/>
            <p:nvPr/>
          </p:nvSpPr>
          <p:spPr>
            <a:xfrm>
              <a:off x="9519419" y="5843797"/>
              <a:ext cx="868030" cy="171579"/>
            </a:xfrm>
            <a:prstGeom prst="rect">
              <a:avLst/>
            </a:prstGeom>
            <a:solidFill>
              <a:srgbClr val="00AB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LB" sz="1000" dirty="0">
                  <a:latin typeface="Tajawal" panose="00000500000000000000" pitchFamily="2" charset="-78"/>
                  <a:cs typeface="Tajawal" panose="00000500000000000000" pitchFamily="2" charset="-78"/>
                </a:rPr>
                <a:t>مكتملة</a:t>
              </a:r>
              <a:endParaRPr lang="en-US" sz="1000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6FAEF4F-AF67-7C10-8F9C-2C925B108629}"/>
                </a:ext>
              </a:extLst>
            </p:cNvPr>
            <p:cNvSpPr/>
            <p:nvPr/>
          </p:nvSpPr>
          <p:spPr>
            <a:xfrm>
              <a:off x="7579741" y="5854243"/>
              <a:ext cx="989472" cy="16096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LB" sz="1000" dirty="0">
                  <a:latin typeface="Tajawal" panose="00000500000000000000" pitchFamily="2" charset="-78"/>
                  <a:cs typeface="Tajawal" panose="00000500000000000000" pitchFamily="2" charset="-78"/>
                </a:rPr>
                <a:t>مخاطر محتملة</a:t>
              </a:r>
              <a:endParaRPr lang="en-US" sz="1000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EBCBB38-3D5A-A0E2-9375-5C4D5BCF7BCF}"/>
                </a:ext>
              </a:extLst>
            </p:cNvPr>
            <p:cNvSpPr txBox="1"/>
            <p:nvPr/>
          </p:nvSpPr>
          <p:spPr>
            <a:xfrm>
              <a:off x="7584475" y="5955188"/>
              <a:ext cx="98947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Tajawal" panose="00000500000000000000" pitchFamily="2" charset="-78"/>
                  <a:cs typeface="Tajawal" panose="00000500000000000000" pitchFamily="2" charset="-78"/>
                </a:rPr>
                <a:t>2 &lt; Delay % &lt;</a:t>
              </a:r>
              <a:r>
                <a:rPr lang="ar-LB" sz="900" dirty="0">
                  <a:latin typeface="Tajawal" panose="00000500000000000000" pitchFamily="2" charset="-78"/>
                  <a:cs typeface="Tajawal" panose="00000500000000000000" pitchFamily="2" charset="-78"/>
                </a:rPr>
                <a:t>5</a:t>
              </a:r>
              <a:endParaRPr lang="en-US" sz="900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2D11945-8F94-203D-125B-10B0032AEFD2}"/>
                </a:ext>
              </a:extLst>
            </p:cNvPr>
            <p:cNvSpPr txBox="1"/>
            <p:nvPr/>
          </p:nvSpPr>
          <p:spPr>
            <a:xfrm>
              <a:off x="6662013" y="5955188"/>
              <a:ext cx="83547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Tajawal" panose="00000500000000000000" pitchFamily="2" charset="-78"/>
                  <a:cs typeface="Tajawal" panose="00000500000000000000" pitchFamily="2" charset="-78"/>
                </a:rPr>
                <a:t>Delay % &gt; </a:t>
              </a:r>
              <a:r>
                <a:rPr lang="ar-LB" sz="900" dirty="0">
                  <a:latin typeface="Tajawal" panose="00000500000000000000" pitchFamily="2" charset="-78"/>
                  <a:cs typeface="Tajawal" panose="00000500000000000000" pitchFamily="2" charset="-78"/>
                </a:rPr>
                <a:t>5</a:t>
              </a:r>
              <a:endParaRPr lang="en-US" sz="900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AEA4892-2506-277F-A69E-B5AFE257DE4E}"/>
                </a:ext>
              </a:extLst>
            </p:cNvPr>
            <p:cNvSpPr txBox="1"/>
            <p:nvPr/>
          </p:nvSpPr>
          <p:spPr>
            <a:xfrm>
              <a:off x="8586629" y="5955188"/>
              <a:ext cx="98947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Tajawal" panose="00000500000000000000" pitchFamily="2" charset="-78"/>
                  <a:cs typeface="Tajawal" panose="00000500000000000000" pitchFamily="2" charset="-78"/>
                </a:rPr>
                <a:t>2 &gt; Delay % = 0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B2A79A0-BC40-1F62-8223-31D2BDFB4E2A}"/>
                </a:ext>
              </a:extLst>
            </p:cNvPr>
            <p:cNvSpPr/>
            <p:nvPr/>
          </p:nvSpPr>
          <p:spPr>
            <a:xfrm>
              <a:off x="11320239" y="5860590"/>
              <a:ext cx="774814" cy="17018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Aft>
                  <a:spcPts val="600"/>
                </a:spcAft>
                <a:buClr>
                  <a:srgbClr val="FFE600"/>
                </a:buClr>
                <a:buSzPct val="70000"/>
              </a:pPr>
              <a:r>
                <a:rPr lang="ar-SA" sz="1000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الدليل</a:t>
              </a:r>
              <a:r>
                <a:rPr lang="ar-LB" sz="1000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 </a:t>
              </a:r>
              <a:endParaRPr lang="en-US" sz="1000" b="1" dirty="0">
                <a:solidFill>
                  <a:schemeClr val="tx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9C4571C-C191-B178-E803-331B5E069D5D}"/>
                </a:ext>
              </a:extLst>
            </p:cNvPr>
            <p:cNvSpPr/>
            <p:nvPr/>
          </p:nvSpPr>
          <p:spPr>
            <a:xfrm>
              <a:off x="10455348" y="5849502"/>
              <a:ext cx="796992" cy="161134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SA" sz="1000" dirty="0">
                  <a:latin typeface="Tajawal" panose="00000500000000000000" pitchFamily="2" charset="-78"/>
                  <a:cs typeface="Tajawal" panose="00000500000000000000" pitchFamily="2" charset="-78"/>
                </a:rPr>
                <a:t>لم تبدأ</a:t>
              </a:r>
              <a:endParaRPr lang="en-US" sz="1000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1089DA82-28CC-7BF1-051F-CFDF98D2F9D3}"/>
              </a:ext>
            </a:extLst>
          </p:cNvPr>
          <p:cNvSpPr/>
          <p:nvPr/>
        </p:nvSpPr>
        <p:spPr>
          <a:xfrm>
            <a:off x="9143133" y="2204005"/>
            <a:ext cx="182880" cy="1828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A7AB50C-4D44-7266-B7AA-8E17B1667723}"/>
              </a:ext>
            </a:extLst>
          </p:cNvPr>
          <p:cNvSpPr/>
          <p:nvPr/>
        </p:nvSpPr>
        <p:spPr>
          <a:xfrm>
            <a:off x="9143133" y="2920894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4D21160-4820-F380-F850-910AB6B67AC5}"/>
              </a:ext>
            </a:extLst>
          </p:cNvPr>
          <p:cNvSpPr/>
          <p:nvPr/>
        </p:nvSpPr>
        <p:spPr>
          <a:xfrm>
            <a:off x="9147981" y="3668149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18BA176-B721-1819-3EFF-2205ECC04E35}"/>
              </a:ext>
            </a:extLst>
          </p:cNvPr>
          <p:cNvSpPr/>
          <p:nvPr/>
        </p:nvSpPr>
        <p:spPr>
          <a:xfrm>
            <a:off x="9143133" y="4352678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5930611-4AAD-6487-EA82-65A6175049B8}"/>
              </a:ext>
            </a:extLst>
          </p:cNvPr>
          <p:cNvSpPr/>
          <p:nvPr/>
        </p:nvSpPr>
        <p:spPr>
          <a:xfrm>
            <a:off x="9168936" y="4949413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4EDD2F-D611-C367-8547-B61545B6AF50}"/>
              </a:ext>
            </a:extLst>
          </p:cNvPr>
          <p:cNvSpPr txBox="1"/>
          <p:nvPr/>
        </p:nvSpPr>
        <p:spPr>
          <a:xfrm>
            <a:off x="1293722" y="6064255"/>
            <a:ext cx="3730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* تشير إلى المعالم الرئيسية المرتبطة </a:t>
            </a:r>
            <a:endParaRPr lang="en-US" sz="1400" dirty="0"/>
          </a:p>
        </p:txBody>
      </p:sp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AB19F5EC-38EA-01C9-5CCD-A0B756514E72}"/>
              </a:ext>
            </a:extLst>
          </p:cNvPr>
          <p:cNvSpPr txBox="1">
            <a:spLocks/>
          </p:cNvSpPr>
          <p:nvPr/>
        </p:nvSpPr>
        <p:spPr>
          <a:xfrm>
            <a:off x="4283180" y="470647"/>
            <a:ext cx="3931947" cy="4182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ar-SA" b="1" dirty="0">
                <a:latin typeface="Tajawal" panose="00000500000000000000" pitchFamily="2" charset="-78"/>
                <a:cs typeface="Tajawal" panose="00000500000000000000" pitchFamily="2" charset="-78"/>
              </a:rPr>
              <a:t>ملخص تنفيذي</a:t>
            </a:r>
            <a:endParaRPr lang="en-US" b="1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B77A4CA-83C2-E9A3-3982-AB695A3C320A}"/>
              </a:ext>
            </a:extLst>
          </p:cNvPr>
          <p:cNvSpPr/>
          <p:nvPr/>
        </p:nvSpPr>
        <p:spPr>
          <a:xfrm>
            <a:off x="9168936" y="5531507"/>
            <a:ext cx="182880" cy="1828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2516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10E94-606F-DD34-17E7-CE8C2C4D2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2">
            <a:extLst>
              <a:ext uri="{FF2B5EF4-FFF2-40B4-BE49-F238E27FC236}">
                <a16:creationId xmlns:a16="http://schemas.microsoft.com/office/drawing/2014/main" id="{B33293A7-FCFA-F022-51C5-523A13A94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5604" y="143792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7" name="Rectangle 58">
            <a:extLst>
              <a:ext uri="{FF2B5EF4-FFF2-40B4-BE49-F238E27FC236}">
                <a16:creationId xmlns:a16="http://schemas.microsoft.com/office/drawing/2014/main" id="{B0FBA251-C1C7-CDD5-629A-56EE9BE7A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064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E4DBB4C-7A93-5526-ECB1-C922EE3B3E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197546"/>
              </p:ext>
            </p:extLst>
          </p:nvPr>
        </p:nvGraphicFramePr>
        <p:xfrm>
          <a:off x="285425" y="1391986"/>
          <a:ext cx="11323320" cy="4564318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29050">
                  <a:extLst>
                    <a:ext uri="{9D8B030D-6E8A-4147-A177-3AD203B41FA5}">
                      <a16:colId xmlns:a16="http://schemas.microsoft.com/office/drawing/2014/main" val="440369287"/>
                    </a:ext>
                  </a:extLst>
                </a:gridCol>
                <a:gridCol w="872933">
                  <a:extLst>
                    <a:ext uri="{9D8B030D-6E8A-4147-A177-3AD203B41FA5}">
                      <a16:colId xmlns:a16="http://schemas.microsoft.com/office/drawing/2014/main" val="3786283060"/>
                    </a:ext>
                  </a:extLst>
                </a:gridCol>
                <a:gridCol w="789255">
                  <a:extLst>
                    <a:ext uri="{9D8B030D-6E8A-4147-A177-3AD203B41FA5}">
                      <a16:colId xmlns:a16="http://schemas.microsoft.com/office/drawing/2014/main" val="1766651830"/>
                    </a:ext>
                  </a:extLst>
                </a:gridCol>
                <a:gridCol w="869067">
                  <a:extLst>
                    <a:ext uri="{9D8B030D-6E8A-4147-A177-3AD203B41FA5}">
                      <a16:colId xmlns:a16="http://schemas.microsoft.com/office/drawing/2014/main" val="597392431"/>
                    </a:ext>
                  </a:extLst>
                </a:gridCol>
                <a:gridCol w="727178">
                  <a:extLst>
                    <a:ext uri="{9D8B030D-6E8A-4147-A177-3AD203B41FA5}">
                      <a16:colId xmlns:a16="http://schemas.microsoft.com/office/drawing/2014/main" val="1080070471"/>
                    </a:ext>
                  </a:extLst>
                </a:gridCol>
                <a:gridCol w="1179744">
                  <a:extLst>
                    <a:ext uri="{9D8B030D-6E8A-4147-A177-3AD203B41FA5}">
                      <a16:colId xmlns:a16="http://schemas.microsoft.com/office/drawing/2014/main" val="53463299"/>
                    </a:ext>
                  </a:extLst>
                </a:gridCol>
                <a:gridCol w="993219">
                  <a:extLst>
                    <a:ext uri="{9D8B030D-6E8A-4147-A177-3AD203B41FA5}">
                      <a16:colId xmlns:a16="http://schemas.microsoft.com/office/drawing/2014/main" val="3091525918"/>
                    </a:ext>
                  </a:extLst>
                </a:gridCol>
                <a:gridCol w="1152844">
                  <a:extLst>
                    <a:ext uri="{9D8B030D-6E8A-4147-A177-3AD203B41FA5}">
                      <a16:colId xmlns:a16="http://schemas.microsoft.com/office/drawing/2014/main" val="3287169623"/>
                    </a:ext>
                  </a:extLst>
                </a:gridCol>
                <a:gridCol w="930985">
                  <a:extLst>
                    <a:ext uri="{9D8B030D-6E8A-4147-A177-3AD203B41FA5}">
                      <a16:colId xmlns:a16="http://schemas.microsoft.com/office/drawing/2014/main" val="94745673"/>
                    </a:ext>
                  </a:extLst>
                </a:gridCol>
                <a:gridCol w="475720">
                  <a:extLst>
                    <a:ext uri="{9D8B030D-6E8A-4147-A177-3AD203B41FA5}">
                      <a16:colId xmlns:a16="http://schemas.microsoft.com/office/drawing/2014/main" val="3770179118"/>
                    </a:ext>
                  </a:extLst>
                </a:gridCol>
                <a:gridCol w="1596132">
                  <a:extLst>
                    <a:ext uri="{9D8B030D-6E8A-4147-A177-3AD203B41FA5}">
                      <a16:colId xmlns:a16="http://schemas.microsoft.com/office/drawing/2014/main" val="261331466"/>
                    </a:ext>
                  </a:extLst>
                </a:gridCol>
                <a:gridCol w="507193">
                  <a:extLst>
                    <a:ext uri="{9D8B030D-6E8A-4147-A177-3AD203B41FA5}">
                      <a16:colId xmlns:a16="http://schemas.microsoft.com/office/drawing/2014/main" val="3125799418"/>
                    </a:ext>
                  </a:extLst>
                </a:gridCol>
              </a:tblGrid>
              <a:tr h="469223">
                <a:tc>
                  <a:txBody>
                    <a:bodyPr/>
                    <a:lstStyle/>
                    <a:p>
                      <a:pPr algn="ctr" fontAlgn="base"/>
                      <a:r>
                        <a:rPr lang="ar-SA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ملاحظات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r-LB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الأنحراف الزمني (أيام)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r-SA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مؤشر التباين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r-SA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%الإنجاز الفعلي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r-SA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%الإنجاز المخطط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التاريخ الفعلي للانتهاء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r-LB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التاريخ الفعلي للبدء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r-LB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التاريخ المخطط لل</a:t>
                      </a:r>
                      <a:r>
                        <a:rPr lang="ar-SA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</a:t>
                      </a:r>
                      <a:r>
                        <a:rPr lang="ar-LB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نتهاء 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r-LB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التاريخ المخطط للبدء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r-LB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الحالة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الشرح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#</a:t>
                      </a: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01215"/>
                  </a:ext>
                </a:extLst>
              </a:tr>
              <a:tr h="599563"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 يوم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-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07/12/2026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27/10/2026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07/12/2026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kern="1200" noProof="0" dirty="0">
                        <a:solidFill>
                          <a:schemeClr val="tx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الانتهاء من اختبارات المرحلة الثانية وقبول المستخدم (</a:t>
                      </a:r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Full Scope</a:t>
                      </a:r>
                      <a:r>
                        <a:rPr lang="ar-SA" sz="1000" b="0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)</a:t>
                      </a:r>
                      <a:endParaRPr lang="en-US" sz="1000" b="0" i="0" kern="1200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1000" b="1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13</a:t>
                      </a:r>
                      <a:endParaRPr lang="en-US" sz="1000" b="1" i="0" kern="1200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534618"/>
                  </a:ext>
                </a:extLst>
              </a:tr>
              <a:tr h="729903"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 يوم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-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27/04/2026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23/04/2026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27/04/2026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kern="1200" noProof="0" dirty="0">
                        <a:solidFill>
                          <a:schemeClr val="tx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المرحلة الأولى من تدريب الموظفين على نظام إجراءات نزلاء السجون</a:t>
                      </a:r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*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base" latinLnBrk="0" hangingPunct="1"/>
                      <a:r>
                        <a:rPr lang="ar-LB" sz="1000" b="1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14</a:t>
                      </a:r>
                      <a:endParaRPr lang="en-US" sz="1000" b="1" i="0" kern="1200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180014"/>
                  </a:ext>
                </a:extLst>
              </a:tr>
              <a:tr h="729903"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 يوم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-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14/12/2026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08/12/2026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14/12/2026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kern="1200" noProof="0" dirty="0">
                        <a:solidFill>
                          <a:schemeClr val="tx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المرحلة الثانية من تدريب الموظفين على نظام إجراءات نزلاء السجون*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1000" b="1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15</a:t>
                      </a:r>
                      <a:endParaRPr lang="en-US" sz="1000" b="1" i="0" kern="1200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410081"/>
                  </a:ext>
                </a:extLst>
              </a:tr>
              <a:tr h="469223"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 يوم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-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27/12/2026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14/12/2026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27/12/2026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40" rtl="0" eaLnBrk="1" fontAlgn="base" latinLnBrk="0" hangingPunct="1"/>
                      <a:endParaRPr lang="en-US" sz="1000" b="0" kern="1200" dirty="0">
                        <a:solidFill>
                          <a:schemeClr val="tx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  <a:sym typeface="Cairo" pitchFamily="2" charset="-78"/>
                        </a:rPr>
                        <a:t>إختبارات</a:t>
                      </a:r>
                      <a:r>
                        <a:rPr kumimoji="0" lang="ar-SA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  <a:sym typeface="Cairo" pitchFamily="2" charset="-78"/>
                        </a:rPr>
                        <a:t> أداء النظام والفحص الامني/</a:t>
                      </a:r>
                      <a:r>
                        <a:rPr kumimoji="0" lang="ar-SA" sz="10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  <a:sym typeface="Cairo" pitchFamily="2" charset="-78"/>
                        </a:rPr>
                        <a:t>الإختراق</a:t>
                      </a:r>
                      <a:r>
                        <a:rPr kumimoji="0" lang="ar-SA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  <a:sym typeface="Cairo" pitchFamily="2" charset="-78"/>
                        </a:rPr>
                        <a:t> (كامل النظام</a:t>
                      </a:r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  <a:sym typeface="Cairo" pitchFamily="2" charset="-78"/>
                        </a:rPr>
                        <a:t>(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1000" b="1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16</a:t>
                      </a:r>
                      <a:endParaRPr lang="en-US" sz="1000" b="1" i="0" kern="1200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841558"/>
                  </a:ext>
                </a:extLst>
              </a:tr>
              <a:tr h="469223"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 يوم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-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30/04/2026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23/04/2026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30/04/2026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40" rtl="0" eaLnBrk="1" fontAlgn="base" latinLnBrk="0" hangingPunct="1"/>
                      <a:endParaRPr lang="en-US" sz="1000" b="0" kern="1200" dirty="0">
                        <a:solidFill>
                          <a:schemeClr val="tx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إطلاق نظام إجراءات نزلاء السجون (</a:t>
                      </a:r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MVP</a:t>
                      </a:r>
                      <a:r>
                        <a:rPr kumimoji="0" lang="ar-SA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)</a:t>
                      </a:r>
                      <a:endParaRPr kumimoji="0" lang="en-US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akkal Majalla" panose="02000000000000000000" pitchFamily="2" charset="-78"/>
                        <a:ea typeface="+mn-ea"/>
                        <a:cs typeface="Tajawal" panose="00000500000000000000"/>
                        <a:sym typeface="Cairo" pitchFamily="2" charset="-78"/>
                      </a:endParaRP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7926"/>
                  </a:ext>
                </a:extLst>
              </a:tr>
              <a:tr h="469223"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 يوم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-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31/12/2026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28/12/2026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31/12/2026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kern="1200" noProof="0" dirty="0">
                        <a:solidFill>
                          <a:schemeClr val="tx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إطلاق نظام إجراءات نزلاء السجون (</a:t>
                      </a:r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Full Scope + Dashboard</a:t>
                      </a:r>
                      <a:r>
                        <a:rPr kumimoji="0" lang="ar-SA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)</a:t>
                      </a:r>
                      <a:endParaRPr kumimoji="0" lang="en-US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akkal Majalla" panose="02000000000000000000" pitchFamily="2" charset="-78"/>
                        <a:ea typeface="+mn-ea"/>
                        <a:cs typeface="Tajawal" panose="00000500000000000000"/>
                        <a:sym typeface="Cairo" pitchFamily="2" charset="-78"/>
                      </a:endParaRP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561930"/>
                  </a:ext>
                </a:extLst>
              </a:tr>
              <a:tr h="469223"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 يوم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-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31/12/2026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28/12/2026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31/12/2026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kern="1200" noProof="0" dirty="0">
                        <a:solidFill>
                          <a:schemeClr val="tx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الانتهاء من إطلاق نظام عرض البيانات</a:t>
                      </a:r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*</a:t>
                      </a: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226019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1BF7321B-CF4C-5F7C-6FB4-90C803E53505}"/>
              </a:ext>
            </a:extLst>
          </p:cNvPr>
          <p:cNvSpPr/>
          <p:nvPr/>
        </p:nvSpPr>
        <p:spPr>
          <a:xfrm>
            <a:off x="152400" y="1316740"/>
            <a:ext cx="11525556" cy="4747515"/>
          </a:xfrm>
          <a:prstGeom prst="rect">
            <a:avLst/>
          </a:prstGeom>
          <a:noFill/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  <a:latin typeface="Sakkal Majalla" panose="02000000000000000000" pitchFamily="2" charset="-78"/>
              <a:cs typeface="Tajawal" panose="0000050000000000000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4C836A-EA63-3021-7565-A7FBED7B0F78}"/>
              </a:ext>
            </a:extLst>
          </p:cNvPr>
          <p:cNvSpPr txBox="1"/>
          <p:nvPr/>
        </p:nvSpPr>
        <p:spPr>
          <a:xfrm>
            <a:off x="8504958" y="1143613"/>
            <a:ext cx="2844389" cy="215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indent="117475" algn="ctr" rtl="1"/>
            <a:r>
              <a:rPr lang="ar-SA" sz="1400" b="1" dirty="0">
                <a:solidFill>
                  <a:schemeClr val="accent1"/>
                </a:solidFill>
                <a:latin typeface="Sakkal Majalla" panose="02000000000000000000" pitchFamily="2" charset="-78"/>
                <a:cs typeface="Tajawal" panose="00000500000000000000"/>
              </a:rPr>
              <a:t>المعالم الرئيسية (</a:t>
            </a:r>
            <a:r>
              <a:rPr lang="en-US" sz="1400" b="1" dirty="0">
                <a:solidFill>
                  <a:schemeClr val="accent1"/>
                </a:solidFill>
                <a:latin typeface="Sakkal Majalla" panose="02000000000000000000" pitchFamily="2" charset="-78"/>
                <a:cs typeface="Tajawal" panose="00000500000000000000"/>
              </a:rPr>
              <a:t>CRM &amp; Portals</a:t>
            </a:r>
            <a:r>
              <a:rPr lang="ar-SA" sz="1400" b="1" dirty="0">
                <a:solidFill>
                  <a:schemeClr val="accent1"/>
                </a:solidFill>
                <a:latin typeface="Sakkal Majalla" panose="02000000000000000000" pitchFamily="2" charset="-78"/>
                <a:cs typeface="Tajawal" panose="00000500000000000000"/>
              </a:rPr>
              <a:t>)</a:t>
            </a:r>
            <a:endParaRPr lang="en-US" sz="1400" b="1" dirty="0">
              <a:solidFill>
                <a:schemeClr val="accent1"/>
              </a:solidFill>
              <a:latin typeface="Sakkal Majalla" panose="02000000000000000000" pitchFamily="2" charset="-78"/>
              <a:cs typeface="Tajawal" panose="0000050000000000000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8810788-B12E-802E-7322-3D2F8C11ED28}"/>
              </a:ext>
            </a:extLst>
          </p:cNvPr>
          <p:cNvGrpSpPr/>
          <p:nvPr/>
        </p:nvGrpSpPr>
        <p:grpSpPr>
          <a:xfrm>
            <a:off x="6096000" y="6100425"/>
            <a:ext cx="5447395" cy="342223"/>
            <a:chOff x="6647658" y="5843797"/>
            <a:chExt cx="5447395" cy="34222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3C3F49-40FD-60F6-47E1-39434B957C1F}"/>
                </a:ext>
              </a:extLst>
            </p:cNvPr>
            <p:cNvSpPr/>
            <p:nvPr/>
          </p:nvSpPr>
          <p:spPr>
            <a:xfrm>
              <a:off x="6647658" y="5854243"/>
              <a:ext cx="864184" cy="160966"/>
            </a:xfrm>
            <a:prstGeom prst="rect">
              <a:avLst/>
            </a:prstGeom>
            <a:solidFill>
              <a:srgbClr val="F04C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SA" sz="1000" dirty="0">
                  <a:latin typeface="Tajawal" panose="00000500000000000000" pitchFamily="2" charset="-78"/>
                  <a:cs typeface="Tajawal" panose="00000500000000000000" pitchFamily="2" charset="-78"/>
                </a:rPr>
                <a:t>متأخر</a:t>
              </a:r>
              <a:endParaRPr lang="en-US" sz="1000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67B74-020C-FAA7-4523-608587B9F419}"/>
                </a:ext>
              </a:extLst>
            </p:cNvPr>
            <p:cNvSpPr/>
            <p:nvPr/>
          </p:nvSpPr>
          <p:spPr>
            <a:xfrm>
              <a:off x="8632224" y="5843797"/>
              <a:ext cx="829454" cy="17157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LB" sz="1000" dirty="0">
                  <a:latin typeface="Tajawal" panose="00000500000000000000" pitchFamily="2" charset="-78"/>
                  <a:cs typeface="Tajawal" panose="00000500000000000000" pitchFamily="2" charset="-78"/>
                </a:rPr>
                <a:t>على المسار</a:t>
              </a:r>
              <a:endParaRPr lang="en-US" sz="1000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7CB38F4-F07A-282D-7223-915B6409B28D}"/>
                </a:ext>
              </a:extLst>
            </p:cNvPr>
            <p:cNvSpPr/>
            <p:nvPr/>
          </p:nvSpPr>
          <p:spPr>
            <a:xfrm>
              <a:off x="9519419" y="5843797"/>
              <a:ext cx="868030" cy="171579"/>
            </a:xfrm>
            <a:prstGeom prst="rect">
              <a:avLst/>
            </a:prstGeom>
            <a:solidFill>
              <a:srgbClr val="00AB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LB" sz="1000" dirty="0">
                  <a:latin typeface="Tajawal" panose="00000500000000000000" pitchFamily="2" charset="-78"/>
                  <a:cs typeface="Tajawal" panose="00000500000000000000" pitchFamily="2" charset="-78"/>
                </a:rPr>
                <a:t>مكتملة</a:t>
              </a:r>
              <a:endParaRPr lang="en-US" sz="1000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FE02C56-8F49-F9B9-D9A6-B2A972FC5850}"/>
                </a:ext>
              </a:extLst>
            </p:cNvPr>
            <p:cNvSpPr/>
            <p:nvPr/>
          </p:nvSpPr>
          <p:spPr>
            <a:xfrm>
              <a:off x="7579741" y="5854243"/>
              <a:ext cx="989472" cy="16096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LB" sz="1000" dirty="0">
                  <a:latin typeface="Tajawal" panose="00000500000000000000" pitchFamily="2" charset="-78"/>
                  <a:cs typeface="Tajawal" panose="00000500000000000000" pitchFamily="2" charset="-78"/>
                </a:rPr>
                <a:t>مخاطر محتملة</a:t>
              </a:r>
              <a:endParaRPr lang="en-US" sz="1000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9CDE838-B7BD-BCC3-0EBC-C663BB337B71}"/>
                </a:ext>
              </a:extLst>
            </p:cNvPr>
            <p:cNvSpPr txBox="1"/>
            <p:nvPr/>
          </p:nvSpPr>
          <p:spPr>
            <a:xfrm>
              <a:off x="7584475" y="5955188"/>
              <a:ext cx="98947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Tajawal" panose="00000500000000000000" pitchFamily="2" charset="-78"/>
                  <a:cs typeface="Tajawal" panose="00000500000000000000" pitchFamily="2" charset="-78"/>
                </a:rPr>
                <a:t>2 &lt; Delay % &lt;</a:t>
              </a:r>
              <a:r>
                <a:rPr lang="ar-LB" sz="900" dirty="0">
                  <a:latin typeface="Tajawal" panose="00000500000000000000" pitchFamily="2" charset="-78"/>
                  <a:cs typeface="Tajawal" panose="00000500000000000000" pitchFamily="2" charset="-78"/>
                </a:rPr>
                <a:t>5</a:t>
              </a:r>
              <a:endParaRPr lang="en-US" sz="900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03B6FD2-7D34-401B-26B7-EF5B0706C5B9}"/>
                </a:ext>
              </a:extLst>
            </p:cNvPr>
            <p:cNvSpPr txBox="1"/>
            <p:nvPr/>
          </p:nvSpPr>
          <p:spPr>
            <a:xfrm>
              <a:off x="6662013" y="5955188"/>
              <a:ext cx="83547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Tajawal" panose="00000500000000000000" pitchFamily="2" charset="-78"/>
                  <a:cs typeface="Tajawal" panose="00000500000000000000" pitchFamily="2" charset="-78"/>
                </a:rPr>
                <a:t>Delay % &gt; </a:t>
              </a:r>
              <a:r>
                <a:rPr lang="ar-LB" sz="900" dirty="0">
                  <a:latin typeface="Tajawal" panose="00000500000000000000" pitchFamily="2" charset="-78"/>
                  <a:cs typeface="Tajawal" panose="00000500000000000000" pitchFamily="2" charset="-78"/>
                </a:rPr>
                <a:t>5</a:t>
              </a:r>
              <a:endParaRPr lang="en-US" sz="900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5BA4AB7-F514-D22F-6927-A169F62FFDAF}"/>
                </a:ext>
              </a:extLst>
            </p:cNvPr>
            <p:cNvSpPr txBox="1"/>
            <p:nvPr/>
          </p:nvSpPr>
          <p:spPr>
            <a:xfrm>
              <a:off x="8586629" y="5955188"/>
              <a:ext cx="98947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Tajawal" panose="00000500000000000000" pitchFamily="2" charset="-78"/>
                  <a:cs typeface="Tajawal" panose="00000500000000000000" pitchFamily="2" charset="-78"/>
                </a:rPr>
                <a:t>2 &gt; Delay % = 0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96DF94B-FDAA-656F-C351-BF836DFDFF34}"/>
                </a:ext>
              </a:extLst>
            </p:cNvPr>
            <p:cNvSpPr/>
            <p:nvPr/>
          </p:nvSpPr>
          <p:spPr>
            <a:xfrm>
              <a:off x="11320239" y="5860590"/>
              <a:ext cx="774814" cy="17018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Aft>
                  <a:spcPts val="600"/>
                </a:spcAft>
                <a:buClr>
                  <a:srgbClr val="FFE600"/>
                </a:buClr>
                <a:buSzPct val="70000"/>
              </a:pPr>
              <a:r>
                <a:rPr lang="ar-SA" sz="1000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الدليل</a:t>
              </a:r>
              <a:r>
                <a:rPr lang="ar-LB" sz="1000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 </a:t>
              </a:r>
              <a:endParaRPr lang="en-US" sz="1000" b="1" dirty="0">
                <a:solidFill>
                  <a:schemeClr val="tx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DCE6F8-BE8F-1865-027A-B94912AB3EF0}"/>
                </a:ext>
              </a:extLst>
            </p:cNvPr>
            <p:cNvSpPr/>
            <p:nvPr/>
          </p:nvSpPr>
          <p:spPr>
            <a:xfrm>
              <a:off x="10455348" y="5849502"/>
              <a:ext cx="796992" cy="161134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SA" sz="1000" dirty="0">
                  <a:latin typeface="Tajawal" panose="00000500000000000000" pitchFamily="2" charset="-78"/>
                  <a:cs typeface="Tajawal" panose="00000500000000000000" pitchFamily="2" charset="-78"/>
                </a:rPr>
                <a:t>لم تبدأ</a:t>
              </a:r>
              <a:endParaRPr lang="en-US" sz="1000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FEE8D6C8-939A-25E4-B7AE-5E446402CE5D}"/>
              </a:ext>
            </a:extLst>
          </p:cNvPr>
          <p:cNvSpPr/>
          <p:nvPr/>
        </p:nvSpPr>
        <p:spPr>
          <a:xfrm>
            <a:off x="9143133" y="2204005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C5DC7C9-92D5-123F-94E6-58AC441A4FE7}"/>
              </a:ext>
            </a:extLst>
          </p:cNvPr>
          <p:cNvSpPr/>
          <p:nvPr/>
        </p:nvSpPr>
        <p:spPr>
          <a:xfrm>
            <a:off x="9168936" y="2820341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B50FB2-3CCD-8D34-0EEC-2CBDE4C7169E}"/>
              </a:ext>
            </a:extLst>
          </p:cNvPr>
          <p:cNvSpPr/>
          <p:nvPr/>
        </p:nvSpPr>
        <p:spPr>
          <a:xfrm>
            <a:off x="9164259" y="3520690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1BE6451-31F3-D68B-B912-BC2827407A9C}"/>
              </a:ext>
            </a:extLst>
          </p:cNvPr>
          <p:cNvSpPr/>
          <p:nvPr/>
        </p:nvSpPr>
        <p:spPr>
          <a:xfrm>
            <a:off x="9168936" y="4185181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DDCBEC8-21A0-4753-96AA-EE236CC46705}"/>
              </a:ext>
            </a:extLst>
          </p:cNvPr>
          <p:cNvSpPr/>
          <p:nvPr/>
        </p:nvSpPr>
        <p:spPr>
          <a:xfrm>
            <a:off x="9184347" y="5151365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98715D-9839-17C4-1803-ED610D327528}"/>
              </a:ext>
            </a:extLst>
          </p:cNvPr>
          <p:cNvSpPr txBox="1"/>
          <p:nvPr/>
        </p:nvSpPr>
        <p:spPr>
          <a:xfrm>
            <a:off x="1293722" y="6064255"/>
            <a:ext cx="3730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* تشير إلى المعالم الرئيسية المرتبطة </a:t>
            </a:r>
            <a:endParaRPr lang="en-US" sz="1400" dirty="0"/>
          </a:p>
        </p:txBody>
      </p:sp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CBFFCB64-8800-F2A3-74AA-4916BB7C7924}"/>
              </a:ext>
            </a:extLst>
          </p:cNvPr>
          <p:cNvSpPr txBox="1">
            <a:spLocks/>
          </p:cNvSpPr>
          <p:nvPr/>
        </p:nvSpPr>
        <p:spPr>
          <a:xfrm>
            <a:off x="4283180" y="470647"/>
            <a:ext cx="3931947" cy="4182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ar-SA" b="1" dirty="0">
                <a:latin typeface="Tajawal" panose="00000500000000000000" pitchFamily="2" charset="-78"/>
                <a:cs typeface="Tajawal" panose="00000500000000000000" pitchFamily="2" charset="-78"/>
              </a:rPr>
              <a:t>ملخص تنفيذي</a:t>
            </a:r>
            <a:endParaRPr lang="en-US" b="1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8FE0B33-0173-986C-74AF-ECA9993555CF}"/>
              </a:ext>
            </a:extLst>
          </p:cNvPr>
          <p:cNvSpPr/>
          <p:nvPr/>
        </p:nvSpPr>
        <p:spPr>
          <a:xfrm>
            <a:off x="9179499" y="5622947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1CEE337-6853-B1AD-F1EF-6B4B2BA327B5}"/>
              </a:ext>
            </a:extLst>
          </p:cNvPr>
          <p:cNvSpPr/>
          <p:nvPr/>
        </p:nvSpPr>
        <p:spPr>
          <a:xfrm>
            <a:off x="9179499" y="4699667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0028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6D519-6481-C97D-8255-313BD185C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2">
            <a:extLst>
              <a:ext uri="{FF2B5EF4-FFF2-40B4-BE49-F238E27FC236}">
                <a16:creationId xmlns:a16="http://schemas.microsoft.com/office/drawing/2014/main" id="{08A11132-ACA2-0021-A545-460A1243F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5604" y="143792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7" name="Rectangle 58">
            <a:extLst>
              <a:ext uri="{FF2B5EF4-FFF2-40B4-BE49-F238E27FC236}">
                <a16:creationId xmlns:a16="http://schemas.microsoft.com/office/drawing/2014/main" id="{166FD04A-5A3E-D43E-7BF0-4833E6C60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064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6C111AA-41D9-CE6F-AA92-AE851B19F0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4589788"/>
              </p:ext>
            </p:extLst>
          </p:nvPr>
        </p:nvGraphicFramePr>
        <p:xfrm>
          <a:off x="285425" y="1391986"/>
          <a:ext cx="11323320" cy="1878106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29050">
                  <a:extLst>
                    <a:ext uri="{9D8B030D-6E8A-4147-A177-3AD203B41FA5}">
                      <a16:colId xmlns:a16="http://schemas.microsoft.com/office/drawing/2014/main" val="440369287"/>
                    </a:ext>
                  </a:extLst>
                </a:gridCol>
                <a:gridCol w="872933">
                  <a:extLst>
                    <a:ext uri="{9D8B030D-6E8A-4147-A177-3AD203B41FA5}">
                      <a16:colId xmlns:a16="http://schemas.microsoft.com/office/drawing/2014/main" val="3786283060"/>
                    </a:ext>
                  </a:extLst>
                </a:gridCol>
                <a:gridCol w="789255">
                  <a:extLst>
                    <a:ext uri="{9D8B030D-6E8A-4147-A177-3AD203B41FA5}">
                      <a16:colId xmlns:a16="http://schemas.microsoft.com/office/drawing/2014/main" val="1766651830"/>
                    </a:ext>
                  </a:extLst>
                </a:gridCol>
                <a:gridCol w="869067">
                  <a:extLst>
                    <a:ext uri="{9D8B030D-6E8A-4147-A177-3AD203B41FA5}">
                      <a16:colId xmlns:a16="http://schemas.microsoft.com/office/drawing/2014/main" val="597392431"/>
                    </a:ext>
                  </a:extLst>
                </a:gridCol>
                <a:gridCol w="727178">
                  <a:extLst>
                    <a:ext uri="{9D8B030D-6E8A-4147-A177-3AD203B41FA5}">
                      <a16:colId xmlns:a16="http://schemas.microsoft.com/office/drawing/2014/main" val="1080070471"/>
                    </a:ext>
                  </a:extLst>
                </a:gridCol>
                <a:gridCol w="1179744">
                  <a:extLst>
                    <a:ext uri="{9D8B030D-6E8A-4147-A177-3AD203B41FA5}">
                      <a16:colId xmlns:a16="http://schemas.microsoft.com/office/drawing/2014/main" val="53463299"/>
                    </a:ext>
                  </a:extLst>
                </a:gridCol>
                <a:gridCol w="993219">
                  <a:extLst>
                    <a:ext uri="{9D8B030D-6E8A-4147-A177-3AD203B41FA5}">
                      <a16:colId xmlns:a16="http://schemas.microsoft.com/office/drawing/2014/main" val="3091525918"/>
                    </a:ext>
                  </a:extLst>
                </a:gridCol>
                <a:gridCol w="1152844">
                  <a:extLst>
                    <a:ext uri="{9D8B030D-6E8A-4147-A177-3AD203B41FA5}">
                      <a16:colId xmlns:a16="http://schemas.microsoft.com/office/drawing/2014/main" val="3287169623"/>
                    </a:ext>
                  </a:extLst>
                </a:gridCol>
                <a:gridCol w="930985">
                  <a:extLst>
                    <a:ext uri="{9D8B030D-6E8A-4147-A177-3AD203B41FA5}">
                      <a16:colId xmlns:a16="http://schemas.microsoft.com/office/drawing/2014/main" val="94745673"/>
                    </a:ext>
                  </a:extLst>
                </a:gridCol>
                <a:gridCol w="475720">
                  <a:extLst>
                    <a:ext uri="{9D8B030D-6E8A-4147-A177-3AD203B41FA5}">
                      <a16:colId xmlns:a16="http://schemas.microsoft.com/office/drawing/2014/main" val="3770179118"/>
                    </a:ext>
                  </a:extLst>
                </a:gridCol>
                <a:gridCol w="1596132">
                  <a:extLst>
                    <a:ext uri="{9D8B030D-6E8A-4147-A177-3AD203B41FA5}">
                      <a16:colId xmlns:a16="http://schemas.microsoft.com/office/drawing/2014/main" val="261331466"/>
                    </a:ext>
                  </a:extLst>
                </a:gridCol>
                <a:gridCol w="507193">
                  <a:extLst>
                    <a:ext uri="{9D8B030D-6E8A-4147-A177-3AD203B41FA5}">
                      <a16:colId xmlns:a16="http://schemas.microsoft.com/office/drawing/2014/main" val="3125799418"/>
                    </a:ext>
                  </a:extLst>
                </a:gridCol>
              </a:tblGrid>
              <a:tr h="469223">
                <a:tc>
                  <a:txBody>
                    <a:bodyPr/>
                    <a:lstStyle/>
                    <a:p>
                      <a:pPr algn="ctr" fontAlgn="base"/>
                      <a:r>
                        <a:rPr lang="ar-SA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ملاحظات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r-LB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الأنحراف الزمني (أيام)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r-SA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مؤشر التباين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r-SA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%الإنجاز الفعلي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r-SA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%الإنجاز المخطط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التاريخ الفعلي للانتهاء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r-LB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التاريخ الفعلي للبدء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r-LB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التاريخ المخطط لل</a:t>
                      </a:r>
                      <a:r>
                        <a:rPr lang="ar-SA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</a:t>
                      </a:r>
                      <a:r>
                        <a:rPr lang="ar-LB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نتهاء 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r-LB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التاريخ المخطط للبدء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r-LB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الحالة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الشرح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0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#</a:t>
                      </a: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01215"/>
                  </a:ext>
                </a:extLst>
              </a:tr>
              <a:tr h="599563"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تبدأ من تاريخ الإطلاق الأول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 يوم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-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30/04/2026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01/05/2026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30/04/2026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kern="1200" noProof="0" dirty="0">
                        <a:solidFill>
                          <a:schemeClr val="tx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  <a:sym typeface="Cairo" pitchFamily="2" charset="-78"/>
                        </a:rPr>
                        <a:t>الدعم الفني والتشغيل</a:t>
                      </a:r>
                      <a:endParaRPr kumimoji="0" lang="en-US" sz="115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akkal Majalla" panose="02000000000000000000" pitchFamily="2" charset="-78"/>
                        <a:ea typeface="+mn-ea"/>
                        <a:cs typeface="Tajawal" panose="00000500000000000000"/>
                        <a:sym typeface="Cairo" pitchFamily="2" charset="-78"/>
                      </a:endParaRP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1200" b="1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20</a:t>
                      </a:r>
                      <a:endParaRPr lang="en-US" sz="1200" b="1" i="0" kern="1200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534618"/>
                  </a:ext>
                </a:extLst>
              </a:tr>
              <a:tr h="729903"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 يوم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-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14/01/2027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03/01/2027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14/01/2027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kern="1200" noProof="0" dirty="0">
                        <a:solidFill>
                          <a:schemeClr val="tx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  <a:sym typeface="Cairo" pitchFamily="2" charset="-78"/>
                        </a:rPr>
                        <a:t>نقل المعرفة وتسليم وثائق المشروع</a:t>
                      </a:r>
                      <a:endParaRPr kumimoji="0" lang="en-US" sz="115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akkal Majalla" panose="02000000000000000000" pitchFamily="2" charset="-78"/>
                        <a:ea typeface="+mn-ea"/>
                        <a:cs typeface="Tajawal" panose="00000500000000000000"/>
                        <a:sym typeface="Cairo" pitchFamily="2" charset="-78"/>
                      </a:endParaRP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1200" b="1" i="0" kern="120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21</a:t>
                      </a:r>
                      <a:endParaRPr lang="en-US" sz="1200" b="1" i="0" kern="1200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18001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49DBDF15-987D-E4C4-AF46-547315F4CB21}"/>
              </a:ext>
            </a:extLst>
          </p:cNvPr>
          <p:cNvSpPr/>
          <p:nvPr/>
        </p:nvSpPr>
        <p:spPr>
          <a:xfrm>
            <a:off x="152400" y="1316740"/>
            <a:ext cx="11525556" cy="4747515"/>
          </a:xfrm>
          <a:prstGeom prst="rect">
            <a:avLst/>
          </a:prstGeom>
          <a:noFill/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  <a:latin typeface="Sakkal Majalla" panose="02000000000000000000" pitchFamily="2" charset="-78"/>
              <a:cs typeface="Tajawal" panose="0000050000000000000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DB2CD6-3772-BD46-BC09-26AC19E84FFA}"/>
              </a:ext>
            </a:extLst>
          </p:cNvPr>
          <p:cNvSpPr txBox="1"/>
          <p:nvPr/>
        </p:nvSpPr>
        <p:spPr>
          <a:xfrm>
            <a:off x="8504958" y="1143613"/>
            <a:ext cx="2844389" cy="215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indent="117475" algn="ctr" rtl="1"/>
            <a:r>
              <a:rPr lang="ar-SA" sz="1400" b="1" dirty="0">
                <a:solidFill>
                  <a:schemeClr val="accent1"/>
                </a:solidFill>
                <a:latin typeface="Sakkal Majalla" panose="02000000000000000000" pitchFamily="2" charset="-78"/>
                <a:cs typeface="Tajawal" panose="00000500000000000000"/>
              </a:rPr>
              <a:t>المعالم الرئيسية (</a:t>
            </a:r>
            <a:r>
              <a:rPr lang="en-US" sz="1400" b="1" dirty="0">
                <a:solidFill>
                  <a:schemeClr val="accent1"/>
                </a:solidFill>
                <a:latin typeface="Sakkal Majalla" panose="02000000000000000000" pitchFamily="2" charset="-78"/>
                <a:cs typeface="Tajawal" panose="00000500000000000000"/>
              </a:rPr>
              <a:t>CRM &amp; Portals</a:t>
            </a:r>
            <a:r>
              <a:rPr lang="ar-SA" sz="1400" b="1" dirty="0">
                <a:solidFill>
                  <a:schemeClr val="accent1"/>
                </a:solidFill>
                <a:latin typeface="Sakkal Majalla" panose="02000000000000000000" pitchFamily="2" charset="-78"/>
                <a:cs typeface="Tajawal" panose="00000500000000000000"/>
              </a:rPr>
              <a:t>)</a:t>
            </a:r>
            <a:endParaRPr lang="en-US" sz="1400" b="1" dirty="0">
              <a:solidFill>
                <a:schemeClr val="accent1"/>
              </a:solidFill>
              <a:latin typeface="Sakkal Majalla" panose="02000000000000000000" pitchFamily="2" charset="-78"/>
              <a:cs typeface="Tajawal" panose="0000050000000000000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3F752BB-5A8F-60DA-69EB-404385C24D80}"/>
              </a:ext>
            </a:extLst>
          </p:cNvPr>
          <p:cNvGrpSpPr/>
          <p:nvPr/>
        </p:nvGrpSpPr>
        <p:grpSpPr>
          <a:xfrm>
            <a:off x="6096000" y="6100425"/>
            <a:ext cx="5447395" cy="342223"/>
            <a:chOff x="6647658" y="5843797"/>
            <a:chExt cx="5447395" cy="34222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876CC0A-6F4E-A47A-C106-D243E841A1ED}"/>
                </a:ext>
              </a:extLst>
            </p:cNvPr>
            <p:cNvSpPr/>
            <p:nvPr/>
          </p:nvSpPr>
          <p:spPr>
            <a:xfrm>
              <a:off x="6647658" y="5854243"/>
              <a:ext cx="864184" cy="160966"/>
            </a:xfrm>
            <a:prstGeom prst="rect">
              <a:avLst/>
            </a:prstGeom>
            <a:solidFill>
              <a:srgbClr val="F04C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SA" sz="1000" dirty="0">
                  <a:latin typeface="Tajawal" panose="00000500000000000000" pitchFamily="2" charset="-78"/>
                  <a:cs typeface="Tajawal" panose="00000500000000000000" pitchFamily="2" charset="-78"/>
                </a:rPr>
                <a:t>متأخر</a:t>
              </a:r>
              <a:endParaRPr lang="en-US" sz="1000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6A6DC4C-246F-A3F3-97AA-15B95E173D49}"/>
                </a:ext>
              </a:extLst>
            </p:cNvPr>
            <p:cNvSpPr/>
            <p:nvPr/>
          </p:nvSpPr>
          <p:spPr>
            <a:xfrm>
              <a:off x="8632224" y="5843797"/>
              <a:ext cx="829454" cy="17157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LB" sz="1000" dirty="0">
                  <a:latin typeface="Tajawal" panose="00000500000000000000" pitchFamily="2" charset="-78"/>
                  <a:cs typeface="Tajawal" panose="00000500000000000000" pitchFamily="2" charset="-78"/>
                </a:rPr>
                <a:t>على المسار</a:t>
              </a:r>
              <a:endParaRPr lang="en-US" sz="1000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F5AB69B-6069-FD44-639F-92295C05E1D9}"/>
                </a:ext>
              </a:extLst>
            </p:cNvPr>
            <p:cNvSpPr/>
            <p:nvPr/>
          </p:nvSpPr>
          <p:spPr>
            <a:xfrm>
              <a:off x="9519419" y="5843797"/>
              <a:ext cx="868030" cy="171579"/>
            </a:xfrm>
            <a:prstGeom prst="rect">
              <a:avLst/>
            </a:prstGeom>
            <a:solidFill>
              <a:srgbClr val="00AB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LB" sz="1000" dirty="0">
                  <a:latin typeface="Tajawal" panose="00000500000000000000" pitchFamily="2" charset="-78"/>
                  <a:cs typeface="Tajawal" panose="00000500000000000000" pitchFamily="2" charset="-78"/>
                </a:rPr>
                <a:t>مكتملة</a:t>
              </a:r>
              <a:endParaRPr lang="en-US" sz="1000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C52D8B3-10D2-1E0C-4B82-76F971D39ECD}"/>
                </a:ext>
              </a:extLst>
            </p:cNvPr>
            <p:cNvSpPr/>
            <p:nvPr/>
          </p:nvSpPr>
          <p:spPr>
            <a:xfrm>
              <a:off x="7579741" y="5854243"/>
              <a:ext cx="989472" cy="16096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LB" sz="1000" dirty="0">
                  <a:latin typeface="Tajawal" panose="00000500000000000000" pitchFamily="2" charset="-78"/>
                  <a:cs typeface="Tajawal" panose="00000500000000000000" pitchFamily="2" charset="-78"/>
                </a:rPr>
                <a:t>مخاطر محتملة</a:t>
              </a:r>
              <a:endParaRPr lang="en-US" sz="1000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6D5EFD6-658F-BA5D-A019-AACAE83BF5CF}"/>
                </a:ext>
              </a:extLst>
            </p:cNvPr>
            <p:cNvSpPr txBox="1"/>
            <p:nvPr/>
          </p:nvSpPr>
          <p:spPr>
            <a:xfrm>
              <a:off x="7584475" y="5955188"/>
              <a:ext cx="98947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Tajawal" panose="00000500000000000000" pitchFamily="2" charset="-78"/>
                  <a:cs typeface="Tajawal" panose="00000500000000000000" pitchFamily="2" charset="-78"/>
                </a:rPr>
                <a:t>2 &lt; Delay % &lt;</a:t>
              </a:r>
              <a:r>
                <a:rPr lang="ar-LB" sz="900" dirty="0">
                  <a:latin typeface="Tajawal" panose="00000500000000000000" pitchFamily="2" charset="-78"/>
                  <a:cs typeface="Tajawal" panose="00000500000000000000" pitchFamily="2" charset="-78"/>
                </a:rPr>
                <a:t>5</a:t>
              </a:r>
              <a:endParaRPr lang="en-US" sz="900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651E772-1C92-CCCB-98C5-CB875A58A1C0}"/>
                </a:ext>
              </a:extLst>
            </p:cNvPr>
            <p:cNvSpPr txBox="1"/>
            <p:nvPr/>
          </p:nvSpPr>
          <p:spPr>
            <a:xfrm>
              <a:off x="6662013" y="5955188"/>
              <a:ext cx="83547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Tajawal" panose="00000500000000000000" pitchFamily="2" charset="-78"/>
                  <a:cs typeface="Tajawal" panose="00000500000000000000" pitchFamily="2" charset="-78"/>
                </a:rPr>
                <a:t>Delay % &gt; </a:t>
              </a:r>
              <a:r>
                <a:rPr lang="ar-LB" sz="900" dirty="0">
                  <a:latin typeface="Tajawal" panose="00000500000000000000" pitchFamily="2" charset="-78"/>
                  <a:cs typeface="Tajawal" panose="00000500000000000000" pitchFamily="2" charset="-78"/>
                </a:rPr>
                <a:t>5</a:t>
              </a:r>
              <a:endParaRPr lang="en-US" sz="900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A867B5-E233-8072-7050-8A022475C6B6}"/>
                </a:ext>
              </a:extLst>
            </p:cNvPr>
            <p:cNvSpPr txBox="1"/>
            <p:nvPr/>
          </p:nvSpPr>
          <p:spPr>
            <a:xfrm>
              <a:off x="8586629" y="5955188"/>
              <a:ext cx="98947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Tajawal" panose="00000500000000000000" pitchFamily="2" charset="-78"/>
                  <a:cs typeface="Tajawal" panose="00000500000000000000" pitchFamily="2" charset="-78"/>
                </a:rPr>
                <a:t>2 &gt; Delay % = 0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7967D63-DFA8-8D92-2B72-5EB91018161B}"/>
                </a:ext>
              </a:extLst>
            </p:cNvPr>
            <p:cNvSpPr/>
            <p:nvPr/>
          </p:nvSpPr>
          <p:spPr>
            <a:xfrm>
              <a:off x="11320239" y="5860590"/>
              <a:ext cx="774814" cy="17018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Aft>
                  <a:spcPts val="600"/>
                </a:spcAft>
                <a:buClr>
                  <a:srgbClr val="FFE600"/>
                </a:buClr>
                <a:buSzPct val="70000"/>
              </a:pPr>
              <a:r>
                <a:rPr lang="ar-SA" sz="1000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الدليل</a:t>
              </a:r>
              <a:r>
                <a:rPr lang="ar-LB" sz="1000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 </a:t>
              </a:r>
              <a:endParaRPr lang="en-US" sz="1000" b="1" dirty="0">
                <a:solidFill>
                  <a:schemeClr val="tx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3076675-A7B4-2471-676D-73643BFCD76C}"/>
                </a:ext>
              </a:extLst>
            </p:cNvPr>
            <p:cNvSpPr/>
            <p:nvPr/>
          </p:nvSpPr>
          <p:spPr>
            <a:xfrm>
              <a:off x="10455348" y="5849502"/>
              <a:ext cx="796992" cy="161134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SA" sz="1000" dirty="0">
                  <a:latin typeface="Tajawal" panose="00000500000000000000" pitchFamily="2" charset="-78"/>
                  <a:cs typeface="Tajawal" panose="00000500000000000000" pitchFamily="2" charset="-78"/>
                </a:rPr>
                <a:t>لم تبدأ</a:t>
              </a:r>
              <a:endParaRPr lang="en-US" sz="1000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76CF297D-ADE6-8F4B-5931-51582D80E391}"/>
              </a:ext>
            </a:extLst>
          </p:cNvPr>
          <p:cNvSpPr/>
          <p:nvPr/>
        </p:nvSpPr>
        <p:spPr>
          <a:xfrm>
            <a:off x="9143133" y="2204005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BEF64CF-11E6-C6C8-9825-964D0A5F38E9}"/>
              </a:ext>
            </a:extLst>
          </p:cNvPr>
          <p:cNvSpPr/>
          <p:nvPr/>
        </p:nvSpPr>
        <p:spPr>
          <a:xfrm>
            <a:off x="9168936" y="2820341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F2ADE-DF8C-DE82-BDC5-D5533A95BFB4}"/>
              </a:ext>
            </a:extLst>
          </p:cNvPr>
          <p:cNvSpPr txBox="1"/>
          <p:nvPr/>
        </p:nvSpPr>
        <p:spPr>
          <a:xfrm>
            <a:off x="1293722" y="6064255"/>
            <a:ext cx="3730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* تشير إلى المعالم الرئيسية المرتبطة </a:t>
            </a:r>
            <a:endParaRPr lang="en-US" sz="1400" dirty="0"/>
          </a:p>
        </p:txBody>
      </p:sp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495544B0-780C-40BA-A26A-08F03A90C540}"/>
              </a:ext>
            </a:extLst>
          </p:cNvPr>
          <p:cNvSpPr txBox="1">
            <a:spLocks/>
          </p:cNvSpPr>
          <p:nvPr/>
        </p:nvSpPr>
        <p:spPr>
          <a:xfrm>
            <a:off x="4283180" y="470647"/>
            <a:ext cx="3931947" cy="4182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ar-SA" b="1" dirty="0">
                <a:latin typeface="Tajawal" panose="00000500000000000000" pitchFamily="2" charset="-78"/>
                <a:cs typeface="Tajawal" panose="00000500000000000000" pitchFamily="2" charset="-78"/>
              </a:rPr>
              <a:t>ملخص تنفيذي</a:t>
            </a:r>
            <a:endParaRPr lang="en-US" b="1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05620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C6B2B-DA27-22E0-9361-51B3AEA4E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BBC656EE-C979-BD7A-1EA6-CC5433AB1381}"/>
              </a:ext>
            </a:extLst>
          </p:cNvPr>
          <p:cNvSpPr txBox="1">
            <a:spLocks/>
          </p:cNvSpPr>
          <p:nvPr/>
        </p:nvSpPr>
        <p:spPr>
          <a:xfrm>
            <a:off x="5046434" y="2444116"/>
            <a:ext cx="6608246" cy="1741167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1" kern="1200">
                <a:solidFill>
                  <a:schemeClr val="accent2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ar-JO" sz="4000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خط سير المشروع والمهام</a:t>
            </a:r>
            <a:endParaRPr lang="en-US" sz="4000" dirty="0">
              <a:solidFill>
                <a:schemeClr val="bg1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254706-A8BD-5E0C-5F6A-86C55D2B9058}"/>
              </a:ext>
            </a:extLst>
          </p:cNvPr>
          <p:cNvSpPr txBox="1"/>
          <p:nvPr/>
        </p:nvSpPr>
        <p:spPr>
          <a:xfrm>
            <a:off x="603995" y="4000143"/>
            <a:ext cx="2133918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DIN Next LT Arabic"/>
                <a:ea typeface="+mn-ea"/>
                <a:cs typeface="ntaqat"/>
              </a:rPr>
              <a:t>0</a:t>
            </a:r>
            <a:r>
              <a:rPr kumimoji="0" lang="ar-SA" sz="1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DIN Next LT Arabic"/>
                <a:ea typeface="+mn-ea"/>
                <a:cs typeface="ntaqat"/>
              </a:rPr>
              <a:t>2</a:t>
            </a:r>
            <a:endParaRPr kumimoji="0" lang="en-US" sz="15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DIN Next LT Arabic"/>
              <a:ea typeface="+mn-ea"/>
              <a:cs typeface="ntaqat"/>
            </a:endParaRPr>
          </a:p>
        </p:txBody>
      </p:sp>
    </p:spTree>
    <p:extLst>
      <p:ext uri="{BB962C8B-B14F-4D97-AF65-F5344CB8AC3E}">
        <p14:creationId xmlns:p14="http://schemas.microsoft.com/office/powerpoint/2010/main" val="4151858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1DC6D-6DE9-A1A4-CC5D-4F8FD0317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2">
            <a:extLst>
              <a:ext uri="{FF2B5EF4-FFF2-40B4-BE49-F238E27FC236}">
                <a16:creationId xmlns:a16="http://schemas.microsoft.com/office/drawing/2014/main" id="{105E485C-83F7-A02B-5EAE-06751541F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5604" y="143792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7" name="Rectangle 58">
            <a:extLst>
              <a:ext uri="{FF2B5EF4-FFF2-40B4-BE49-F238E27FC236}">
                <a16:creationId xmlns:a16="http://schemas.microsoft.com/office/drawing/2014/main" id="{B2B6A775-44DA-AB20-29E5-D9F3FCCB6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064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AA2F41-6C87-A0D7-3360-ECC573983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381218"/>
              </p:ext>
            </p:extLst>
          </p:nvPr>
        </p:nvGraphicFramePr>
        <p:xfrm>
          <a:off x="141016" y="1367578"/>
          <a:ext cx="11568102" cy="4760808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555206">
                  <a:extLst>
                    <a:ext uri="{9D8B030D-6E8A-4147-A177-3AD203B41FA5}">
                      <a16:colId xmlns:a16="http://schemas.microsoft.com/office/drawing/2014/main" val="440369287"/>
                    </a:ext>
                  </a:extLst>
                </a:gridCol>
                <a:gridCol w="799705">
                  <a:extLst>
                    <a:ext uri="{9D8B030D-6E8A-4147-A177-3AD203B41FA5}">
                      <a16:colId xmlns:a16="http://schemas.microsoft.com/office/drawing/2014/main" val="1766651830"/>
                    </a:ext>
                  </a:extLst>
                </a:gridCol>
                <a:gridCol w="994228">
                  <a:extLst>
                    <a:ext uri="{9D8B030D-6E8A-4147-A177-3AD203B41FA5}">
                      <a16:colId xmlns:a16="http://schemas.microsoft.com/office/drawing/2014/main" val="53463299"/>
                    </a:ext>
                  </a:extLst>
                </a:gridCol>
                <a:gridCol w="951001">
                  <a:extLst>
                    <a:ext uri="{9D8B030D-6E8A-4147-A177-3AD203B41FA5}">
                      <a16:colId xmlns:a16="http://schemas.microsoft.com/office/drawing/2014/main" val="3091525918"/>
                    </a:ext>
                  </a:extLst>
                </a:gridCol>
                <a:gridCol w="805692">
                  <a:extLst>
                    <a:ext uri="{9D8B030D-6E8A-4147-A177-3AD203B41FA5}">
                      <a16:colId xmlns:a16="http://schemas.microsoft.com/office/drawing/2014/main" val="3287169623"/>
                    </a:ext>
                  </a:extLst>
                </a:gridCol>
                <a:gridCol w="1313527">
                  <a:extLst>
                    <a:ext uri="{9D8B030D-6E8A-4147-A177-3AD203B41FA5}">
                      <a16:colId xmlns:a16="http://schemas.microsoft.com/office/drawing/2014/main" val="94745673"/>
                    </a:ext>
                  </a:extLst>
                </a:gridCol>
                <a:gridCol w="593656">
                  <a:extLst>
                    <a:ext uri="{9D8B030D-6E8A-4147-A177-3AD203B41FA5}">
                      <a16:colId xmlns:a16="http://schemas.microsoft.com/office/drawing/2014/main" val="3770179118"/>
                    </a:ext>
                  </a:extLst>
                </a:gridCol>
                <a:gridCol w="2916403">
                  <a:extLst>
                    <a:ext uri="{9D8B030D-6E8A-4147-A177-3AD203B41FA5}">
                      <a16:colId xmlns:a16="http://schemas.microsoft.com/office/drawing/2014/main" val="261331466"/>
                    </a:ext>
                  </a:extLst>
                </a:gridCol>
                <a:gridCol w="638684">
                  <a:extLst>
                    <a:ext uri="{9D8B030D-6E8A-4147-A177-3AD203B41FA5}">
                      <a16:colId xmlns:a16="http://schemas.microsoft.com/office/drawing/2014/main" val="3125799418"/>
                    </a:ext>
                  </a:extLst>
                </a:gridCol>
              </a:tblGrid>
              <a:tr h="632808">
                <a:tc>
                  <a:txBody>
                    <a:bodyPr/>
                    <a:lstStyle/>
                    <a:p>
                      <a:pPr algn="ctr" fontAlgn="base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الملاحظات / العوائق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مستوى التأثير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تاريخ </a:t>
                      </a:r>
                      <a:r>
                        <a:rPr lang="ar-SA" sz="800" b="1" kern="1200" dirty="0" err="1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إكتمال</a:t>
                      </a:r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 المهمة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تاريخ التسليم </a:t>
                      </a:r>
                      <a:r>
                        <a:rPr lang="ar-LB" sz="8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المتوقع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تاريخ التسليم المخطط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المسؤول (</a:t>
                      </a:r>
                      <a:r>
                        <a:rPr lang="ar-SA" sz="800" b="1" kern="1200" dirty="0" err="1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بالإسم</a:t>
                      </a:r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)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r-LB" sz="8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الحالة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الشرح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Tajawal" panose="00000500000000000000"/>
                        </a:rPr>
                        <a:t>#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234C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01215"/>
                  </a:ext>
                </a:extLst>
              </a:tr>
              <a:tr h="589208"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مرتفع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-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-</a:t>
                      </a:r>
                      <a:endParaRPr kumimoji="0" lang="ar-L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TBD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معتز الفرارجة </a:t>
                      </a:r>
                    </a:p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(نتويز)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2860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>
                          <a:srgbClr val="D7AD3A"/>
                        </a:buClr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ar-LB" sz="800" b="1" kern="100" dirty="0">
                          <a:solidFill>
                            <a:srgbClr val="2D2D0E"/>
                          </a:solidFill>
                          <a:cs typeface="Tajawal" panose="00000500000000000000"/>
                        </a:rPr>
                        <a:t>إجراء التعديلات المطلوبة على سير الأعمال لخدمات المرحلة الأولى (</a:t>
                      </a:r>
                      <a:r>
                        <a:rPr lang="en-US" sz="800" b="1" kern="100" dirty="0">
                          <a:solidFill>
                            <a:srgbClr val="2D2D0E"/>
                          </a:solidFill>
                          <a:cs typeface="Tajawal" panose="00000500000000000000"/>
                        </a:rPr>
                        <a:t>MVP</a:t>
                      </a:r>
                      <a:r>
                        <a:rPr lang="ar-LB" sz="800" b="1" kern="100" dirty="0">
                          <a:solidFill>
                            <a:srgbClr val="2D2D0E"/>
                          </a:solidFill>
                          <a:cs typeface="Tajawal" panose="00000500000000000000"/>
                        </a:rPr>
                        <a:t>)</a:t>
                      </a:r>
                      <a:endParaRPr lang="en-US" sz="800" b="1" kern="100" dirty="0">
                        <a:solidFill>
                          <a:srgbClr val="2D2D0E"/>
                        </a:solidFill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A-001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534618"/>
                  </a:ext>
                </a:extLst>
              </a:tr>
              <a:tr h="555680">
                <a:tc>
                  <a:txBody>
                    <a:bodyPr/>
                    <a:lstStyle/>
                    <a:p>
                      <a:pPr marL="0" marR="0" lvl="0" indent="0" algn="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1" kern="100" noProof="0" dirty="0">
                        <a:solidFill>
                          <a:srgbClr val="2D2D0E"/>
                        </a:solidFill>
                        <a:latin typeface="+mn-lt"/>
                        <a:ea typeface="+mn-ea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مرتفع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-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31/03/2026</a:t>
                      </a:r>
                      <a:endParaRPr kumimoji="0" lang="ar-L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08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/0</a:t>
                      </a:r>
                      <a:r>
                        <a:rPr kumimoji="0" lang="ar-L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4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29/01/2026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نايف السبيعي             (المديرية) </a:t>
                      </a:r>
                    </a:p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معاذ البكر</a:t>
                      </a:r>
                    </a:p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(سامي)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28600" indent="0" algn="r" rtl="1">
                        <a:spcBef>
                          <a:spcPts val="500"/>
                        </a:spcBef>
                        <a:spcAft>
                          <a:spcPts val="500"/>
                        </a:spcAft>
                        <a:buClr>
                          <a:srgbClr val="D7AD3A"/>
                        </a:buClr>
                        <a:buFont typeface="Symbol" panose="05050102010706020507" pitchFamily="18" charset="2"/>
                        <a:buNone/>
                      </a:pPr>
                      <a:r>
                        <a:rPr lang="ar-LB" sz="800" b="1" kern="100" dirty="0">
                          <a:solidFill>
                            <a:srgbClr val="2D2D0E"/>
                          </a:solidFill>
                          <a:cs typeface="Tajawal" panose="00000500000000000000"/>
                        </a:rPr>
                        <a:t>عقد إجتماع مع الأدارة المعنية في المديرية لخدمات الزيارة المرئية والزيارة العامة</a:t>
                      </a:r>
                      <a:endParaRPr lang="en-US" sz="800" b="1" kern="100" dirty="0">
                        <a:solidFill>
                          <a:srgbClr val="2D2D0E"/>
                        </a:solidFill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A-002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290723"/>
                  </a:ext>
                </a:extLst>
              </a:tr>
              <a:tr h="555680">
                <a:tc>
                  <a:txBody>
                    <a:bodyPr/>
                    <a:lstStyle/>
                    <a:p>
                      <a:pPr marL="0" marR="228600" indent="0" algn="r" rtl="1">
                        <a:spcBef>
                          <a:spcPts val="500"/>
                        </a:spcBef>
                        <a:spcAft>
                          <a:spcPts val="500"/>
                        </a:spcAft>
                        <a:buClr>
                          <a:srgbClr val="D7AD3A"/>
                        </a:buClr>
                        <a:buFont typeface="Symbol" panose="05050102010706020507" pitchFamily="18" charset="2"/>
                        <a:buNone/>
                      </a:pPr>
                      <a:endParaRPr lang="en-US" sz="700" b="1" kern="100" dirty="0">
                        <a:solidFill>
                          <a:srgbClr val="2D2D0E"/>
                        </a:solidFill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مرتفع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-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19/02/2026</a:t>
                      </a:r>
                    </a:p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05/03/2026</a:t>
                      </a:r>
                    </a:p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15/03/2026</a:t>
                      </a:r>
                      <a:endParaRPr kumimoji="0" lang="ar-LB" sz="800" b="0" i="0" u="none" strike="sng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05/04/2026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07/01/2026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نايف السبيعي</a:t>
                      </a:r>
                    </a:p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(المديرية) 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28600" indent="0" algn="r" rtl="1">
                        <a:spcBef>
                          <a:spcPts val="500"/>
                        </a:spcBef>
                        <a:spcAft>
                          <a:spcPts val="500"/>
                        </a:spcAft>
                        <a:buClr>
                          <a:srgbClr val="D7AD3A"/>
                        </a:buClr>
                        <a:buFont typeface="Symbol" panose="05050102010706020507" pitchFamily="18" charset="2"/>
                        <a:buNone/>
                      </a:pPr>
                      <a:r>
                        <a:rPr lang="ar-LB" sz="800" b="1" kern="100" dirty="0">
                          <a:solidFill>
                            <a:srgbClr val="2D2D0E"/>
                          </a:solidFill>
                          <a:cs typeface="Tajawal" panose="00000500000000000000"/>
                        </a:rPr>
                        <a:t>أستكمال العمل على تحضير البيئة التشغيلية </a:t>
                      </a:r>
                      <a:endParaRPr lang="en-US" sz="800" b="1" kern="100" dirty="0">
                        <a:solidFill>
                          <a:srgbClr val="2D2D0E"/>
                        </a:solidFill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A-003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180014"/>
                  </a:ext>
                </a:extLst>
              </a:tr>
              <a:tr h="592104">
                <a:tc>
                  <a:txBody>
                    <a:bodyPr/>
                    <a:lstStyle/>
                    <a:p>
                      <a:pPr marL="0" marR="228600" indent="0" algn="r" rtl="1">
                        <a:spcBef>
                          <a:spcPts val="500"/>
                        </a:spcBef>
                        <a:spcAft>
                          <a:spcPts val="500"/>
                        </a:spcAft>
                        <a:buClr>
                          <a:srgbClr val="D7AD3A"/>
                        </a:buClr>
                        <a:buFont typeface="Symbol" panose="05050102010706020507" pitchFamily="18" charset="2"/>
                        <a:buNone/>
                      </a:pPr>
                      <a:endParaRPr lang="en-US" sz="700" b="1" kern="100" dirty="0">
                        <a:solidFill>
                          <a:srgbClr val="2D2D0E"/>
                        </a:solidFill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مرتفع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-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19/02/2026</a:t>
                      </a:r>
                    </a:p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05/03/2026</a:t>
                      </a:r>
                    </a:p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15/03/2026</a:t>
                      </a:r>
                      <a:endParaRPr kumimoji="0" lang="ar-LB" sz="800" b="0" i="0" u="none" strike="sng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01/04/2026</a:t>
                      </a:r>
                    </a:p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16/04/2026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07/01/2026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نايف السبيعي</a:t>
                      </a:r>
                    </a:p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(المديرية) 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2860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>
                          <a:srgbClr val="D7AD3A"/>
                        </a:buClr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ar-LB" sz="800" b="1" kern="100" dirty="0">
                          <a:solidFill>
                            <a:srgbClr val="2D2D0E"/>
                          </a:solidFill>
                          <a:cs typeface="Tajawal" panose="00000500000000000000"/>
                        </a:rPr>
                        <a:t>استكمال جمع المتطلبات التقنية من قبل المديرية والتي تشمل (تجهيز خادم </a:t>
                      </a:r>
                      <a:r>
                        <a:rPr lang="en-US" sz="800" b="1" kern="100" dirty="0">
                          <a:solidFill>
                            <a:srgbClr val="2D2D0E"/>
                          </a:solidFill>
                          <a:cs typeface="Tajawal" panose="00000500000000000000"/>
                        </a:rPr>
                        <a:t>ADFS، </a:t>
                      </a:r>
                      <a:r>
                        <a:rPr lang="ar-LB" sz="800" b="1" kern="100" dirty="0">
                          <a:solidFill>
                            <a:srgbClr val="2D2D0E"/>
                          </a:solidFill>
                          <a:cs typeface="Tajawal" panose="00000500000000000000"/>
                        </a:rPr>
                        <a:t>إعدادات </a:t>
                      </a:r>
                      <a:r>
                        <a:rPr lang="en-US" sz="800" b="1" kern="100" dirty="0">
                          <a:solidFill>
                            <a:srgbClr val="2D2D0E"/>
                          </a:solidFill>
                          <a:cs typeface="Tajawal" panose="00000500000000000000"/>
                        </a:rPr>
                        <a:t>SPN، </a:t>
                      </a:r>
                      <a:r>
                        <a:rPr lang="ar-LB" sz="800" b="1" kern="100" dirty="0">
                          <a:solidFill>
                            <a:srgbClr val="2D2D0E"/>
                          </a:solidFill>
                          <a:cs typeface="Tajawal" panose="00000500000000000000"/>
                        </a:rPr>
                        <a:t>وتجهيز المنافذ) لجميع البيئات</a:t>
                      </a:r>
                      <a:endParaRPr lang="en-US" sz="800" b="1" kern="100" dirty="0">
                        <a:solidFill>
                          <a:srgbClr val="2D2D0E"/>
                        </a:solidFill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A-004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6009393"/>
                  </a:ext>
                </a:extLst>
              </a:tr>
              <a:tr h="402733">
                <a:tc>
                  <a:txBody>
                    <a:bodyPr/>
                    <a:lstStyle/>
                    <a:p>
                      <a:pPr marL="0" marR="228600" indent="0" algn="r" rtl="1">
                        <a:spcBef>
                          <a:spcPts val="500"/>
                        </a:spcBef>
                        <a:spcAft>
                          <a:spcPts val="500"/>
                        </a:spcAft>
                        <a:buClr>
                          <a:srgbClr val="D7AD3A"/>
                        </a:buClr>
                        <a:buFont typeface="Symbol" panose="05050102010706020507" pitchFamily="18" charset="2"/>
                        <a:buNone/>
                      </a:pPr>
                      <a:r>
                        <a:rPr lang="ar-LB" sz="700" b="1" kern="100" dirty="0">
                          <a:solidFill>
                            <a:srgbClr val="2D2D0E"/>
                          </a:solidFill>
                          <a:cs typeface="Tajawal" panose="00000500000000000000"/>
                        </a:rPr>
                        <a:t>تم الأنتهاء من تطوير البوابة وجهاز الخدمة الذاتية للخدمات وجاري أختبارها داخليا</a:t>
                      </a:r>
                      <a:r>
                        <a:rPr lang="en-US" sz="700" b="1" kern="100" dirty="0">
                          <a:solidFill>
                            <a:srgbClr val="2D2D0E"/>
                          </a:solidFill>
                          <a:cs typeface="Tajawal" panose="00000500000000000000"/>
                        </a:rPr>
                        <a:t> </a:t>
                      </a:r>
                      <a:r>
                        <a:rPr lang="ar-LB" sz="700" b="1" kern="100" dirty="0">
                          <a:solidFill>
                            <a:srgbClr val="2D2D0E"/>
                          </a:solidFill>
                          <a:cs typeface="Tajawal" panose="00000500000000000000"/>
                        </a:rPr>
                        <a:t> وما زلنا بإنتظار جاهزية التكامل من طرف المديرية (تم أرسال بريد بالمتطلبات)</a:t>
                      </a:r>
                      <a:endParaRPr lang="en-US" sz="700" b="1" kern="100" dirty="0">
                        <a:solidFill>
                          <a:srgbClr val="2D2D0E"/>
                        </a:solidFill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مرتفع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-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15/04/2026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25/02/2026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معتز الفرارجة </a:t>
                      </a:r>
                    </a:p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(نتويز)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2860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>
                          <a:srgbClr val="D7AD3A"/>
                        </a:buClr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ar-LB" sz="800" b="1" kern="100" dirty="0">
                          <a:solidFill>
                            <a:srgbClr val="2D2D0E"/>
                          </a:solidFill>
                          <a:cs typeface="Tajawal" panose="00000500000000000000"/>
                        </a:rPr>
                        <a:t>الأنتهاء من تطوير خدمات </a:t>
                      </a:r>
                      <a:r>
                        <a:rPr lang="en-US" sz="800" b="1" kern="100" dirty="0">
                          <a:solidFill>
                            <a:srgbClr val="2D2D0E"/>
                          </a:solidFill>
                          <a:cs typeface="Tajawal" panose="00000500000000000000"/>
                        </a:rPr>
                        <a:t>MVP</a:t>
                      </a:r>
                      <a:endParaRPr lang="ar-LB" sz="800" b="1" kern="100" dirty="0">
                        <a:solidFill>
                          <a:srgbClr val="2D2D0E"/>
                        </a:solidFill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A-00</a:t>
                      </a:r>
                      <a:r>
                        <a:rPr kumimoji="0" lang="ar-LB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5</a:t>
                      </a:r>
                      <a:endParaRPr kumimoji="0" 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841558"/>
                  </a:ext>
                </a:extLst>
              </a:tr>
              <a:tr h="462950"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مرتفع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-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08/04/2026</a:t>
                      </a:r>
                    </a:p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23/04/2026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21/01/2026</a:t>
                      </a:r>
                    </a:p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معتز الفرارجة </a:t>
                      </a:r>
                    </a:p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(نتويز)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2860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>
                          <a:srgbClr val="D7AD3A"/>
                        </a:buClr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ar-LB" sz="800" b="1" kern="100" dirty="0">
                          <a:solidFill>
                            <a:srgbClr val="2D2D0E"/>
                          </a:solidFill>
                          <a:cs typeface="Tajawal" panose="00000500000000000000"/>
                        </a:rPr>
                        <a:t>البدء في تثبيت نظام </a:t>
                      </a:r>
                      <a:r>
                        <a:rPr lang="en-US" sz="800" b="1" kern="100" dirty="0">
                          <a:solidFill>
                            <a:srgbClr val="2D2D0E"/>
                          </a:solidFill>
                          <a:cs typeface="Tajawal" panose="00000500000000000000"/>
                        </a:rPr>
                        <a:t>Microsoft Dynamics CRM</a:t>
                      </a:r>
                      <a:r>
                        <a:rPr lang="ar-LB" sz="800" b="1" kern="100" dirty="0">
                          <a:solidFill>
                            <a:srgbClr val="2D2D0E"/>
                          </a:solidFill>
                          <a:cs typeface="Tajawal" panose="00000500000000000000"/>
                        </a:rPr>
                        <a:t> من قبل الشركة</a:t>
                      </a:r>
                      <a:endParaRPr lang="en-US" sz="800" b="1" kern="100" dirty="0">
                        <a:solidFill>
                          <a:srgbClr val="2D2D0E"/>
                        </a:solidFill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A-00</a:t>
                      </a:r>
                      <a:r>
                        <a:rPr kumimoji="0" lang="ar-LB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6</a:t>
                      </a:r>
                      <a:endParaRPr kumimoji="0" 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927466"/>
                  </a:ext>
                </a:extLst>
              </a:tr>
              <a:tr h="402541"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متوسط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-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TBD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12/01/2026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نايف السبيعي</a:t>
                      </a:r>
                    </a:p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(المديرية) 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28600" indent="0" algn="r" rtl="1">
                        <a:spcBef>
                          <a:spcPts val="500"/>
                        </a:spcBef>
                        <a:spcAft>
                          <a:spcPts val="500"/>
                        </a:spcAft>
                        <a:buClr>
                          <a:srgbClr val="D7AD3A"/>
                        </a:buClr>
                        <a:buFont typeface="Symbol" panose="05050102010706020507" pitchFamily="18" charset="2"/>
                        <a:buNone/>
                      </a:pPr>
                      <a:r>
                        <a:rPr lang="ar-LB" sz="800" b="1" kern="100" dirty="0">
                          <a:solidFill>
                            <a:srgbClr val="2D2D0E"/>
                          </a:solidFill>
                          <a:latin typeface="Sakkal Majalla" panose="02000000000000000000" pitchFamily="2" charset="-78"/>
                          <a:cs typeface="Tajawal" panose="00000500000000000000"/>
                        </a:rPr>
                        <a:t>توفير المتطلبات التقنية للتكامل والبصمة من قبل المديرية</a:t>
                      </a:r>
                      <a:endParaRPr lang="en-US" sz="800" b="1" kern="100" dirty="0">
                        <a:solidFill>
                          <a:srgbClr val="2D2D0E"/>
                        </a:solidFill>
                        <a:latin typeface="Sakkal Majalla" panose="02000000000000000000" pitchFamily="2" charset="-78"/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A-00</a:t>
                      </a:r>
                      <a:r>
                        <a:rPr kumimoji="0" lang="ar-LB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7</a:t>
                      </a:r>
                      <a:endParaRPr kumimoji="0" 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731819"/>
                  </a:ext>
                </a:extLst>
              </a:tr>
              <a:tr h="402541"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مرتفع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-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09/06/2026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22/04/2026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معتز الفرارجة </a:t>
                      </a:r>
                    </a:p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(نتويز)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2860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>
                          <a:srgbClr val="D7AD3A"/>
                        </a:buClr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ar-LB" sz="800" b="1" dirty="0">
                          <a:latin typeface="Sakkal Majalla" panose="02000000000000000000" pitchFamily="2" charset="-78"/>
                          <a:cs typeface="Tajawal" panose="00000500000000000000"/>
                        </a:rPr>
                        <a:t>الأنتهاء من </a:t>
                      </a:r>
                      <a:r>
                        <a:rPr lang="ar-SA" sz="800" b="1" dirty="0">
                          <a:latin typeface="Sakkal Majalla" panose="02000000000000000000" pitchFamily="2" charset="-78"/>
                          <a:cs typeface="Tajawal" panose="00000500000000000000"/>
                        </a:rPr>
                        <a:t>اختبارات المرحلة الأولى وقبول المستخدم (</a:t>
                      </a:r>
                      <a:r>
                        <a:rPr lang="en-US" sz="800" b="1" dirty="0">
                          <a:latin typeface="Sakkal Majalla" panose="02000000000000000000" pitchFamily="2" charset="-78"/>
                          <a:cs typeface="Tajawal" panose="00000500000000000000"/>
                        </a:rPr>
                        <a:t>MVP</a:t>
                      </a:r>
                      <a:r>
                        <a:rPr lang="ar-SA" sz="800" b="1" dirty="0">
                          <a:latin typeface="Sakkal Majalla" panose="02000000000000000000" pitchFamily="2" charset="-78"/>
                          <a:cs typeface="Tajawal" panose="00000500000000000000"/>
                        </a:rPr>
                        <a:t>)</a:t>
                      </a:r>
                      <a:endParaRPr lang="en-US" sz="800" b="1" kern="100" dirty="0">
                        <a:solidFill>
                          <a:srgbClr val="2D2D0E"/>
                        </a:solidFill>
                        <a:cs typeface="Tajawal" panose="0000050000000000000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A-00</a:t>
                      </a:r>
                      <a:r>
                        <a:rPr kumimoji="0" lang="ar-LB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8</a:t>
                      </a:r>
                      <a:endParaRPr kumimoji="0" 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569945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8A45246A-78B4-5EB3-AE84-D11ADAEBC470}"/>
              </a:ext>
            </a:extLst>
          </p:cNvPr>
          <p:cNvSpPr/>
          <p:nvPr/>
        </p:nvSpPr>
        <p:spPr>
          <a:xfrm>
            <a:off x="141016" y="1349742"/>
            <a:ext cx="11568102" cy="4790119"/>
          </a:xfrm>
          <a:prstGeom prst="rect">
            <a:avLst/>
          </a:prstGeom>
          <a:noFill/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  <a:latin typeface="Sakkal Majalla" panose="02000000000000000000" pitchFamily="2" charset="-78"/>
              <a:cs typeface="Tajawal" panose="0000050000000000000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F155EC-B7F9-C859-53BF-3B846A6748DF}"/>
              </a:ext>
            </a:extLst>
          </p:cNvPr>
          <p:cNvSpPr txBox="1"/>
          <p:nvPr/>
        </p:nvSpPr>
        <p:spPr>
          <a:xfrm>
            <a:off x="8688455" y="1222483"/>
            <a:ext cx="2844389" cy="215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indent="117475" algn="ctr" rtl="1"/>
            <a:r>
              <a:rPr lang="ar-SA" sz="1400" b="1" dirty="0">
                <a:solidFill>
                  <a:schemeClr val="accent1"/>
                </a:solidFill>
                <a:latin typeface="Sakkal Majalla" panose="02000000000000000000" pitchFamily="2" charset="-78"/>
                <a:cs typeface="Tajawal" panose="00000500000000000000"/>
              </a:rPr>
              <a:t>المهام والتوصيات</a:t>
            </a:r>
            <a:endParaRPr lang="en-US" sz="1400" b="1" dirty="0">
              <a:solidFill>
                <a:schemeClr val="accent1"/>
              </a:solidFill>
              <a:latin typeface="Sakkal Majalla" panose="02000000000000000000" pitchFamily="2" charset="-78"/>
              <a:cs typeface="Tajawal" panose="0000050000000000000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A5148F7-B0E1-3C7A-64F9-F5A880765FA4}"/>
              </a:ext>
            </a:extLst>
          </p:cNvPr>
          <p:cNvSpPr/>
          <p:nvPr/>
        </p:nvSpPr>
        <p:spPr>
          <a:xfrm>
            <a:off x="7729629" y="2279142"/>
            <a:ext cx="182880" cy="182880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F08C1F0-FD2D-E4BB-82D6-F5E196BCA935}"/>
              </a:ext>
            </a:extLst>
          </p:cNvPr>
          <p:cNvSpPr/>
          <p:nvPr/>
        </p:nvSpPr>
        <p:spPr>
          <a:xfrm>
            <a:off x="7729629" y="2865250"/>
            <a:ext cx="182880" cy="182880"/>
          </a:xfrm>
          <a:prstGeom prst="ellipse">
            <a:avLst/>
          </a:prstGeom>
          <a:solidFill>
            <a:srgbClr val="F04C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8E3C2DBA-516C-6F5A-EC3B-DB350788FE27}"/>
              </a:ext>
            </a:extLst>
          </p:cNvPr>
          <p:cNvSpPr txBox="1">
            <a:spLocks/>
          </p:cNvSpPr>
          <p:nvPr/>
        </p:nvSpPr>
        <p:spPr>
          <a:xfrm>
            <a:off x="4476894" y="470647"/>
            <a:ext cx="3931947" cy="4182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ar-SA" b="1" dirty="0">
                <a:latin typeface="Tajawal" panose="00000500000000000000" pitchFamily="2" charset="-78"/>
                <a:cs typeface="Tajawal" panose="00000500000000000000" pitchFamily="2" charset="-78"/>
              </a:rPr>
              <a:t>جدول المهام</a:t>
            </a:r>
            <a:endParaRPr lang="en-US" b="1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EE6CC70-B94B-C883-FB2C-12159D9FE22E}"/>
              </a:ext>
            </a:extLst>
          </p:cNvPr>
          <p:cNvSpPr/>
          <p:nvPr/>
        </p:nvSpPr>
        <p:spPr>
          <a:xfrm>
            <a:off x="7729629" y="4029032"/>
            <a:ext cx="182880" cy="1828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4335C7-A918-AFD2-A836-4CE5DC3CF0DB}"/>
              </a:ext>
            </a:extLst>
          </p:cNvPr>
          <p:cNvGrpSpPr/>
          <p:nvPr/>
        </p:nvGrpSpPr>
        <p:grpSpPr>
          <a:xfrm>
            <a:off x="5427908" y="6197110"/>
            <a:ext cx="5301304" cy="140019"/>
            <a:chOff x="6376652" y="6087297"/>
            <a:chExt cx="5301304" cy="18698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4C15D81-0B2B-BED0-5AD6-D90B962E87B1}"/>
                </a:ext>
              </a:extLst>
            </p:cNvPr>
            <p:cNvSpPr/>
            <p:nvPr/>
          </p:nvSpPr>
          <p:spPr>
            <a:xfrm>
              <a:off x="6376652" y="6087297"/>
              <a:ext cx="829454" cy="171579"/>
            </a:xfrm>
            <a:prstGeom prst="rect">
              <a:avLst/>
            </a:prstGeom>
            <a:solidFill>
              <a:srgbClr val="F04C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SA" sz="900" dirty="0">
                  <a:latin typeface="Tajawal" panose="00000500000000000000" pitchFamily="2" charset="-78"/>
                  <a:cs typeface="Tajawal" panose="00000500000000000000" pitchFamily="2" charset="-78"/>
                </a:rPr>
                <a:t>متأخر</a:t>
              </a:r>
              <a:endParaRPr lang="en-US" sz="900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CAD3F0B-3E90-A10B-122E-4F5B7C5DC654}"/>
                </a:ext>
              </a:extLst>
            </p:cNvPr>
            <p:cNvSpPr/>
            <p:nvPr/>
          </p:nvSpPr>
          <p:spPr>
            <a:xfrm>
              <a:off x="8167152" y="6087298"/>
              <a:ext cx="868030" cy="171579"/>
            </a:xfrm>
            <a:prstGeom prst="rect">
              <a:avLst/>
            </a:prstGeom>
            <a:solidFill>
              <a:srgbClr val="00AB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LB" sz="900" dirty="0">
                  <a:latin typeface="Tajawal" panose="00000500000000000000" pitchFamily="2" charset="-78"/>
                  <a:cs typeface="Tajawal" panose="00000500000000000000" pitchFamily="2" charset="-78"/>
                </a:rPr>
                <a:t>مكتمل</a:t>
              </a:r>
              <a:endParaRPr lang="en-US" sz="900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4D3A5D8-8CDA-1E4A-07EE-61C615787B5B}"/>
                </a:ext>
              </a:extLst>
            </p:cNvPr>
            <p:cNvSpPr/>
            <p:nvPr/>
          </p:nvSpPr>
          <p:spPr>
            <a:xfrm>
              <a:off x="10903142" y="6104091"/>
              <a:ext cx="774814" cy="17018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Aft>
                  <a:spcPts val="600"/>
                </a:spcAft>
                <a:buClr>
                  <a:srgbClr val="FFE600"/>
                </a:buClr>
                <a:buSzPct val="70000"/>
              </a:pPr>
              <a:r>
                <a:rPr lang="ar-SA" sz="900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الدليل</a:t>
              </a:r>
              <a:r>
                <a:rPr lang="ar-LB" sz="900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 </a:t>
              </a:r>
              <a:endParaRPr lang="en-US" sz="900" b="1" dirty="0">
                <a:solidFill>
                  <a:schemeClr val="tx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E852022-8ED9-30BF-E732-BB8B577C15E6}"/>
                </a:ext>
              </a:extLst>
            </p:cNvPr>
            <p:cNvSpPr/>
            <p:nvPr/>
          </p:nvSpPr>
          <p:spPr>
            <a:xfrm>
              <a:off x="10038251" y="6093003"/>
              <a:ext cx="796992" cy="161134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SA" sz="900" dirty="0">
                  <a:latin typeface="Tajawal" panose="00000500000000000000" pitchFamily="2" charset="-78"/>
                  <a:cs typeface="Tajawal" panose="00000500000000000000" pitchFamily="2" charset="-78"/>
                </a:rPr>
                <a:t>مخطط</a:t>
              </a:r>
              <a:endParaRPr lang="en-US" sz="900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FFAA78B-8C3A-460F-F1EF-37D95E67DDD3}"/>
                </a:ext>
              </a:extLst>
            </p:cNvPr>
            <p:cNvSpPr/>
            <p:nvPr/>
          </p:nvSpPr>
          <p:spPr>
            <a:xfrm>
              <a:off x="9109341" y="6087297"/>
              <a:ext cx="868030" cy="17157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SA" sz="900" dirty="0">
                  <a:latin typeface="Tajawal" panose="00000500000000000000" pitchFamily="2" charset="-78"/>
                  <a:cs typeface="Tajawal" panose="00000500000000000000" pitchFamily="2" charset="-78"/>
                </a:rPr>
                <a:t>قيد التنفيذ</a:t>
              </a:r>
              <a:endParaRPr lang="en-US" sz="900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8024D0A-AAA2-FB05-0EED-7B8E4A173C17}"/>
                </a:ext>
              </a:extLst>
            </p:cNvPr>
            <p:cNvSpPr/>
            <p:nvPr/>
          </p:nvSpPr>
          <p:spPr>
            <a:xfrm>
              <a:off x="7276818" y="6097950"/>
              <a:ext cx="829454" cy="171579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LB" sz="800" dirty="0">
                  <a:latin typeface="Tajawal" panose="00000500000000000000" pitchFamily="2" charset="-78"/>
                  <a:cs typeface="Tajawal" panose="00000500000000000000" pitchFamily="2" charset="-78"/>
                </a:rPr>
                <a:t>تأخير محتمل</a:t>
              </a:r>
              <a:endParaRPr lang="en-US" sz="800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0E87D774-A786-CEE6-8D16-F0A52DA975CF}"/>
              </a:ext>
            </a:extLst>
          </p:cNvPr>
          <p:cNvSpPr/>
          <p:nvPr/>
        </p:nvSpPr>
        <p:spPr>
          <a:xfrm>
            <a:off x="7723163" y="4551494"/>
            <a:ext cx="182880" cy="182880"/>
          </a:xfrm>
          <a:prstGeom prst="ellipse">
            <a:avLst/>
          </a:prstGeom>
          <a:solidFill>
            <a:srgbClr val="F04C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A350A32-0469-AA6F-D3DD-B2D050EE861B}"/>
              </a:ext>
            </a:extLst>
          </p:cNvPr>
          <p:cNvSpPr/>
          <p:nvPr/>
        </p:nvSpPr>
        <p:spPr>
          <a:xfrm>
            <a:off x="7722151" y="4963154"/>
            <a:ext cx="182880" cy="182880"/>
          </a:xfrm>
          <a:prstGeom prst="ellipse">
            <a:avLst/>
          </a:prstGeom>
          <a:solidFill>
            <a:srgbClr val="F04C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26E49BC-FEBE-3725-2D05-0237DB7A78E3}"/>
              </a:ext>
            </a:extLst>
          </p:cNvPr>
          <p:cNvSpPr/>
          <p:nvPr/>
        </p:nvSpPr>
        <p:spPr>
          <a:xfrm>
            <a:off x="7729629" y="5400200"/>
            <a:ext cx="182880" cy="182880"/>
          </a:xfrm>
          <a:prstGeom prst="ellipse">
            <a:avLst/>
          </a:prstGeom>
          <a:solidFill>
            <a:srgbClr val="F04C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EA80C00-C344-0D1C-ED76-CAA69848DB4D}"/>
              </a:ext>
            </a:extLst>
          </p:cNvPr>
          <p:cNvSpPr/>
          <p:nvPr/>
        </p:nvSpPr>
        <p:spPr>
          <a:xfrm>
            <a:off x="7722151" y="3442924"/>
            <a:ext cx="182880" cy="1828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9A35C40-9F3D-8908-58F5-2AD4A71340BF}"/>
              </a:ext>
            </a:extLst>
          </p:cNvPr>
          <p:cNvSpPr/>
          <p:nvPr/>
        </p:nvSpPr>
        <p:spPr>
          <a:xfrm>
            <a:off x="7722151" y="5842002"/>
            <a:ext cx="182880" cy="1828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996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73A39C3-F7DF-D37B-25E5-FC6A691DEC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279933"/>
              </p:ext>
            </p:extLst>
          </p:nvPr>
        </p:nvGraphicFramePr>
        <p:xfrm>
          <a:off x="116212" y="1119917"/>
          <a:ext cx="11959576" cy="4580408"/>
        </p:xfrm>
        <a:graphic>
          <a:graphicData uri="http://schemas.openxmlformats.org/drawingml/2006/table">
            <a:tbl>
              <a:tblPr rtl="1" firstRow="1" bandRow="1">
                <a:effectLst>
                  <a:outerShdw blurRad="50800" dist="38100" dir="2700000" algn="tl" rotWithShape="0">
                    <a:prstClr val="black">
                      <a:alpha val="8000"/>
                    </a:prstClr>
                  </a:outerShdw>
                </a:effectLst>
                <a:tableStyleId>{5C22544A-7EE6-4342-B048-85BDC9FD1C3A}</a:tableStyleId>
              </a:tblPr>
              <a:tblGrid>
                <a:gridCol w="293305">
                  <a:extLst>
                    <a:ext uri="{9D8B030D-6E8A-4147-A177-3AD203B41FA5}">
                      <a16:colId xmlns:a16="http://schemas.microsoft.com/office/drawing/2014/main" val="301911790"/>
                    </a:ext>
                  </a:extLst>
                </a:gridCol>
                <a:gridCol w="978541">
                  <a:extLst>
                    <a:ext uri="{9D8B030D-6E8A-4147-A177-3AD203B41FA5}">
                      <a16:colId xmlns:a16="http://schemas.microsoft.com/office/drawing/2014/main" val="2314276677"/>
                    </a:ext>
                  </a:extLst>
                </a:gridCol>
                <a:gridCol w="1930913">
                  <a:extLst>
                    <a:ext uri="{9D8B030D-6E8A-4147-A177-3AD203B41FA5}">
                      <a16:colId xmlns:a16="http://schemas.microsoft.com/office/drawing/2014/main" val="1440130488"/>
                    </a:ext>
                  </a:extLst>
                </a:gridCol>
                <a:gridCol w="776433">
                  <a:extLst>
                    <a:ext uri="{9D8B030D-6E8A-4147-A177-3AD203B41FA5}">
                      <a16:colId xmlns:a16="http://schemas.microsoft.com/office/drawing/2014/main" val="2455662797"/>
                    </a:ext>
                  </a:extLst>
                </a:gridCol>
                <a:gridCol w="430650">
                  <a:extLst>
                    <a:ext uri="{9D8B030D-6E8A-4147-A177-3AD203B41FA5}">
                      <a16:colId xmlns:a16="http://schemas.microsoft.com/office/drawing/2014/main" val="1475530516"/>
                    </a:ext>
                  </a:extLst>
                </a:gridCol>
                <a:gridCol w="437728">
                  <a:extLst>
                    <a:ext uri="{9D8B030D-6E8A-4147-A177-3AD203B41FA5}">
                      <a16:colId xmlns:a16="http://schemas.microsoft.com/office/drawing/2014/main" val="3948434064"/>
                    </a:ext>
                  </a:extLst>
                </a:gridCol>
                <a:gridCol w="437727">
                  <a:extLst>
                    <a:ext uri="{9D8B030D-6E8A-4147-A177-3AD203B41FA5}">
                      <a16:colId xmlns:a16="http://schemas.microsoft.com/office/drawing/2014/main" val="43820072"/>
                    </a:ext>
                  </a:extLst>
                </a:gridCol>
                <a:gridCol w="426646">
                  <a:extLst>
                    <a:ext uri="{9D8B030D-6E8A-4147-A177-3AD203B41FA5}">
                      <a16:colId xmlns:a16="http://schemas.microsoft.com/office/drawing/2014/main" val="907022506"/>
                    </a:ext>
                  </a:extLst>
                </a:gridCol>
                <a:gridCol w="448810">
                  <a:extLst>
                    <a:ext uri="{9D8B030D-6E8A-4147-A177-3AD203B41FA5}">
                      <a16:colId xmlns:a16="http://schemas.microsoft.com/office/drawing/2014/main" val="1991027552"/>
                    </a:ext>
                  </a:extLst>
                </a:gridCol>
                <a:gridCol w="443268">
                  <a:extLst>
                    <a:ext uri="{9D8B030D-6E8A-4147-A177-3AD203B41FA5}">
                      <a16:colId xmlns:a16="http://schemas.microsoft.com/office/drawing/2014/main" val="1348320845"/>
                    </a:ext>
                  </a:extLst>
                </a:gridCol>
                <a:gridCol w="470973">
                  <a:extLst>
                    <a:ext uri="{9D8B030D-6E8A-4147-A177-3AD203B41FA5}">
                      <a16:colId xmlns:a16="http://schemas.microsoft.com/office/drawing/2014/main" val="2868218263"/>
                    </a:ext>
                  </a:extLst>
                </a:gridCol>
                <a:gridCol w="444577">
                  <a:extLst>
                    <a:ext uri="{9D8B030D-6E8A-4147-A177-3AD203B41FA5}">
                      <a16:colId xmlns:a16="http://schemas.microsoft.com/office/drawing/2014/main" val="957842929"/>
                    </a:ext>
                  </a:extLst>
                </a:gridCol>
                <a:gridCol w="443610">
                  <a:extLst>
                    <a:ext uri="{9D8B030D-6E8A-4147-A177-3AD203B41FA5}">
                      <a16:colId xmlns:a16="http://schemas.microsoft.com/office/drawing/2014/main" val="272256764"/>
                    </a:ext>
                  </a:extLst>
                </a:gridCol>
                <a:gridCol w="421178">
                  <a:extLst>
                    <a:ext uri="{9D8B030D-6E8A-4147-A177-3AD203B41FA5}">
                      <a16:colId xmlns:a16="http://schemas.microsoft.com/office/drawing/2014/main" val="2265221158"/>
                    </a:ext>
                  </a:extLst>
                </a:gridCol>
                <a:gridCol w="435576">
                  <a:extLst>
                    <a:ext uri="{9D8B030D-6E8A-4147-A177-3AD203B41FA5}">
                      <a16:colId xmlns:a16="http://schemas.microsoft.com/office/drawing/2014/main" val="3481081713"/>
                    </a:ext>
                  </a:extLst>
                </a:gridCol>
                <a:gridCol w="448888">
                  <a:extLst>
                    <a:ext uri="{9D8B030D-6E8A-4147-A177-3AD203B41FA5}">
                      <a16:colId xmlns:a16="http://schemas.microsoft.com/office/drawing/2014/main" val="2171186599"/>
                    </a:ext>
                  </a:extLst>
                </a:gridCol>
                <a:gridCol w="432630">
                  <a:extLst>
                    <a:ext uri="{9D8B030D-6E8A-4147-A177-3AD203B41FA5}">
                      <a16:colId xmlns:a16="http://schemas.microsoft.com/office/drawing/2014/main" val="1010187179"/>
                    </a:ext>
                  </a:extLst>
                </a:gridCol>
                <a:gridCol w="454061">
                  <a:extLst>
                    <a:ext uri="{9D8B030D-6E8A-4147-A177-3AD203B41FA5}">
                      <a16:colId xmlns:a16="http://schemas.microsoft.com/office/drawing/2014/main" val="1154603591"/>
                    </a:ext>
                  </a:extLst>
                </a:gridCol>
                <a:gridCol w="451114">
                  <a:extLst>
                    <a:ext uri="{9D8B030D-6E8A-4147-A177-3AD203B41FA5}">
                      <a16:colId xmlns:a16="http://schemas.microsoft.com/office/drawing/2014/main" val="3805279175"/>
                    </a:ext>
                  </a:extLst>
                </a:gridCol>
                <a:gridCol w="432262">
                  <a:extLst>
                    <a:ext uri="{9D8B030D-6E8A-4147-A177-3AD203B41FA5}">
                      <a16:colId xmlns:a16="http://schemas.microsoft.com/office/drawing/2014/main" val="992770991"/>
                    </a:ext>
                  </a:extLst>
                </a:gridCol>
                <a:gridCol w="471798">
                  <a:extLst>
                    <a:ext uri="{9D8B030D-6E8A-4147-A177-3AD203B41FA5}">
                      <a16:colId xmlns:a16="http://schemas.microsoft.com/office/drawing/2014/main" val="2135967041"/>
                    </a:ext>
                  </a:extLst>
                </a:gridCol>
                <a:gridCol w="448888">
                  <a:extLst>
                    <a:ext uri="{9D8B030D-6E8A-4147-A177-3AD203B41FA5}">
                      <a16:colId xmlns:a16="http://schemas.microsoft.com/office/drawing/2014/main" val="1966324798"/>
                    </a:ext>
                  </a:extLst>
                </a:gridCol>
              </a:tblGrid>
              <a:tr h="381167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600" b="1" i="0" u="none" strike="noStrike" kern="0" cap="none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Arial"/>
                        </a:rPr>
                        <a:t>المعالم الرئيسية</a:t>
                      </a:r>
                      <a:endParaRPr lang="en-US" sz="1600" b="1" i="0" u="none" strike="noStrike" kern="0" cap="none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i="0" u="none" strike="noStrike" kern="0" cap="none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0" dirty="0">
                          <a:solidFill>
                            <a:schemeClr val="bg1"/>
                          </a:solidFill>
                          <a:latin typeface="Tajawal" panose="00000500000000000000" pitchFamily="2" charset="-78"/>
                          <a:ea typeface="+mj-ea"/>
                          <a:cs typeface="Tajawal" panose="00000500000000000000" pitchFamily="2" charset="-78"/>
                          <a:sym typeface="Arial"/>
                        </a:rPr>
                        <a:t>Q1 - 2026</a:t>
                      </a:r>
                      <a:endParaRPr lang="ar-SA" sz="1400" b="1" kern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j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600" b="0" i="0" u="none" strike="noStrike" kern="0" cap="none">
                        <a:solidFill>
                          <a:schemeClr val="bg1"/>
                        </a:solidFill>
                        <a:latin typeface="TheMixArabic Plain" panose="020B0502050302020203" pitchFamily="34" charset="-78"/>
                        <a:ea typeface="+mn-ea"/>
                        <a:cs typeface="TheMixArabic Plain" panose="020B0502050302020203" pitchFamily="34" charset="-78"/>
                        <a:sym typeface="Arial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0" dirty="0">
                          <a:solidFill>
                            <a:schemeClr val="bg1"/>
                          </a:solidFill>
                          <a:latin typeface="Tajawal" panose="00000500000000000000" pitchFamily="2" charset="-78"/>
                          <a:ea typeface="+mj-ea"/>
                          <a:cs typeface="Tajawal" panose="00000500000000000000" pitchFamily="2" charset="-78"/>
                          <a:sym typeface="Arial"/>
                        </a:rPr>
                        <a:t>Q2 - 2026</a:t>
                      </a:r>
                      <a:endParaRPr sz="1400" b="1" kern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j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E7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0" dirty="0">
                          <a:solidFill>
                            <a:schemeClr val="bg1"/>
                          </a:solidFill>
                          <a:latin typeface="Tajawal" panose="00000500000000000000" pitchFamily="2" charset="-78"/>
                          <a:ea typeface="+mj-ea"/>
                          <a:cs typeface="Tajawal" panose="00000500000000000000" pitchFamily="2" charset="-78"/>
                          <a:sym typeface="Arial"/>
                        </a:rPr>
                        <a:t>Q3 - 2026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8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0" dirty="0">
                          <a:solidFill>
                            <a:schemeClr val="bg1"/>
                          </a:solidFill>
                          <a:latin typeface="Tajawal" panose="00000500000000000000" pitchFamily="2" charset="-78"/>
                          <a:ea typeface="+mj-ea"/>
                          <a:cs typeface="Tajawal" panose="00000500000000000000" pitchFamily="2" charset="-78"/>
                          <a:sym typeface="Arial"/>
                        </a:rPr>
                        <a:t>Q4 - 2026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84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600" b="0" i="0" u="none" strike="noStrike" kern="0" cap="none">
                        <a:solidFill>
                          <a:schemeClr val="bg1"/>
                        </a:solidFill>
                        <a:latin typeface="TheMixArabic Plain" panose="020B0502050302020203" pitchFamily="34" charset="-78"/>
                        <a:ea typeface="+mn-ea"/>
                        <a:cs typeface="TheMixArabic Plain" panose="020B0502050302020203" pitchFamily="34" charset="-78"/>
                        <a:sym typeface="Arial"/>
                      </a:endParaRPr>
                    </a:p>
                  </a:txBody>
                  <a:tcPr marL="45720" marR="4572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600" b="0" i="0" u="none" strike="noStrike" kern="0" cap="none" dirty="0">
                        <a:solidFill>
                          <a:schemeClr val="bg1"/>
                        </a:solidFill>
                        <a:latin typeface="TheMixArabic Plain" panose="020B0502050302020203" pitchFamily="34" charset="-78"/>
                        <a:ea typeface="+mn-ea"/>
                        <a:cs typeface="TheMixArabic Plain" panose="020B0502050302020203" pitchFamily="34" charset="-78"/>
                        <a:sym typeface="Arial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kern="0" dirty="0">
                          <a:solidFill>
                            <a:schemeClr val="bg1"/>
                          </a:solidFill>
                          <a:latin typeface="Tajawal" panose="00000500000000000000" pitchFamily="2" charset="-78"/>
                          <a:ea typeface="+mj-ea"/>
                          <a:cs typeface="Tajawal" panose="00000500000000000000" pitchFamily="2" charset="-78"/>
                          <a:sym typeface="Arial"/>
                        </a:rPr>
                        <a:t>Q1 - 2027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84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600" b="0" i="0" u="none" strike="noStrike" kern="0" cap="none">
                        <a:solidFill>
                          <a:schemeClr val="bg1"/>
                        </a:solidFill>
                        <a:latin typeface="TheMixArabic Plain" panose="020B0502050302020203" pitchFamily="34" charset="-78"/>
                        <a:ea typeface="+mn-ea"/>
                        <a:cs typeface="TheMixArabic Plain" panose="020B0502050302020203" pitchFamily="34" charset="-78"/>
                        <a:sym typeface="Arial"/>
                      </a:endParaRPr>
                    </a:p>
                  </a:txBody>
                  <a:tcPr marL="45720" marR="4572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2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kern="0" dirty="0">
                          <a:solidFill>
                            <a:schemeClr val="bg1"/>
                          </a:solidFill>
                          <a:latin typeface="Tajawal" panose="00000500000000000000" pitchFamily="2" charset="-78"/>
                          <a:ea typeface="+mj-ea"/>
                          <a:cs typeface="Tajawal" panose="00000500000000000000" pitchFamily="2" charset="-78"/>
                          <a:sym typeface="Arial"/>
                        </a:rPr>
                        <a:t>Q2 - 2027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600" b="0" i="0" u="none" strike="noStrike" kern="0" cap="none">
                        <a:solidFill>
                          <a:schemeClr val="bg1"/>
                        </a:solidFill>
                        <a:latin typeface="TheMixArabic Plain" panose="020B0502050302020203" pitchFamily="34" charset="-78"/>
                        <a:ea typeface="+mn-ea"/>
                        <a:cs typeface="TheMixArabic Plain" panose="020B0502050302020203" pitchFamily="34" charset="-78"/>
                        <a:sym typeface="Arial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E7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1400" b="1" kern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j-ea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2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460271"/>
                  </a:ext>
                </a:extLst>
              </a:tr>
              <a:tr h="415724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50" b="1" i="0" u="none" strike="noStrike" kern="0" cap="none" dirty="0">
                          <a:solidFill>
                            <a:schemeClr val="bg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Arial"/>
                        </a:rPr>
                        <a:t>#</a:t>
                      </a:r>
                      <a:endParaRPr sz="750" b="1" i="0" u="none" strike="noStrike" kern="0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750" b="1" kern="0">
                          <a:solidFill>
                            <a:schemeClr val="bg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Arial"/>
                        </a:rPr>
                        <a:t>المرحلة</a:t>
                      </a:r>
                      <a:endParaRPr lang="ar-SA" sz="750" b="1" kern="0" noProof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</a:rPr>
                        <a:t>المخرج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750" b="1" kern="0" dirty="0">
                          <a:solidFill>
                            <a:schemeClr val="bg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Arial"/>
                        </a:rPr>
                        <a:t>الحالة</a:t>
                      </a:r>
                      <a:endParaRPr kumimoji="0" lang="ar-SA" sz="7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kern="0" noProof="0" dirty="0">
                          <a:solidFill>
                            <a:schemeClr val="bg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JAN</a:t>
                      </a:r>
                      <a:endParaRPr lang="ar-SA" sz="700" b="1" kern="0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kern="0" cap="none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Arial"/>
                        </a:rPr>
                        <a:t>FEB</a:t>
                      </a:r>
                      <a:r>
                        <a:rPr lang="ar-SA" sz="700" b="1" i="0" u="none" strike="noStrike" kern="0" cap="none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Arial"/>
                        </a:rPr>
                        <a:t> 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kern="0" cap="none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Arial"/>
                        </a:rPr>
                        <a:t>MAR</a:t>
                      </a:r>
                      <a:endParaRPr lang="ar-SA" sz="700" b="1" i="0" u="none" strike="noStrike" kern="0" cap="none" dirty="0">
                        <a:solidFill>
                          <a:schemeClr val="bg1">
                            <a:lumMod val="95000"/>
                          </a:schemeClr>
                        </a:solidFill>
                        <a:latin typeface="Tajawal" panose="00000500000000000000" pitchFamily="2" charset="-78"/>
                        <a:ea typeface="+mj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kern="0" cap="none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ajawal" panose="00000500000000000000" pitchFamily="2" charset="-78"/>
                          <a:ea typeface="+mj-ea"/>
                          <a:cs typeface="Tajawal" panose="00000500000000000000" pitchFamily="2" charset="-78"/>
                          <a:sym typeface="Arial"/>
                        </a:rPr>
                        <a:t>APR</a:t>
                      </a:r>
                      <a:endParaRPr lang="ar-SA" sz="700" b="1" i="0" u="none" strike="noStrike" kern="0" cap="none" dirty="0">
                        <a:solidFill>
                          <a:schemeClr val="bg1">
                            <a:lumMod val="95000"/>
                          </a:schemeClr>
                        </a:solidFill>
                        <a:latin typeface="Tajawal" panose="00000500000000000000" pitchFamily="2" charset="-78"/>
                        <a:ea typeface="+mj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kern="0" cap="none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Arial"/>
                        </a:rPr>
                        <a:t>MAY</a:t>
                      </a:r>
                      <a:endParaRPr lang="ar-SA" sz="700" b="1" i="0" u="none" strike="noStrike" kern="0" cap="none" dirty="0">
                        <a:solidFill>
                          <a:schemeClr val="bg1">
                            <a:lumMod val="95000"/>
                          </a:schemeClr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kern="0" cap="none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Arial"/>
                        </a:rPr>
                        <a:t>JUN</a:t>
                      </a:r>
                      <a:endParaRPr lang="ar-SA" sz="700" b="1" i="0" u="none" strike="noStrike" kern="0" cap="none" dirty="0">
                        <a:solidFill>
                          <a:schemeClr val="bg1">
                            <a:lumMod val="95000"/>
                          </a:schemeClr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kern="0" cap="none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Arial"/>
                        </a:rPr>
                        <a:t>JUL</a:t>
                      </a:r>
                      <a:endParaRPr lang="ar-SA" sz="700" b="1" i="0" u="none" strike="noStrike" kern="0" cap="none" dirty="0">
                        <a:solidFill>
                          <a:schemeClr val="bg1">
                            <a:lumMod val="95000"/>
                          </a:schemeClr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kern="0" cap="none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Arial"/>
                        </a:rPr>
                        <a:t>AUG</a:t>
                      </a:r>
                      <a:endParaRPr lang="ar-SA" sz="700" b="1" i="0" u="none" strike="noStrike" kern="0" cap="none" dirty="0">
                        <a:solidFill>
                          <a:schemeClr val="bg1">
                            <a:lumMod val="95000"/>
                          </a:schemeClr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kern="0" cap="none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Arial"/>
                        </a:rPr>
                        <a:t>SEP</a:t>
                      </a:r>
                      <a:endParaRPr lang="ar-SA" sz="700" b="1" i="0" u="none" strike="noStrike" kern="0" cap="none" dirty="0">
                        <a:solidFill>
                          <a:schemeClr val="bg1">
                            <a:lumMod val="95000"/>
                          </a:schemeClr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kern="0" cap="none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Arial"/>
                        </a:rPr>
                        <a:t>OCT</a:t>
                      </a:r>
                      <a:endParaRPr lang="ar-SA" sz="700" b="1" i="0" u="none" strike="noStrike" kern="0" cap="none" dirty="0">
                        <a:solidFill>
                          <a:schemeClr val="bg1">
                            <a:lumMod val="95000"/>
                          </a:schemeClr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kern="0" cap="none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Arial"/>
                        </a:rPr>
                        <a:t>NOV</a:t>
                      </a:r>
                      <a:endParaRPr lang="ar-SA" sz="700" b="1" i="0" u="none" strike="noStrike" kern="0" cap="none" dirty="0">
                        <a:solidFill>
                          <a:schemeClr val="bg1">
                            <a:lumMod val="95000"/>
                          </a:schemeClr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kern="0" cap="none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Arial"/>
                        </a:rPr>
                        <a:t>DEC</a:t>
                      </a:r>
                      <a:endParaRPr lang="ar-SA" sz="700" b="1" i="0" u="none" strike="noStrike" kern="0" cap="none" dirty="0">
                        <a:solidFill>
                          <a:schemeClr val="bg1">
                            <a:lumMod val="95000"/>
                          </a:schemeClr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kern="0" cap="none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ajawal" panose="00000500000000000000" pitchFamily="2" charset="-78"/>
                          <a:ea typeface="+mj-ea"/>
                          <a:cs typeface="Tajawal" panose="00000500000000000000" pitchFamily="2" charset="-78"/>
                          <a:sym typeface="Arial"/>
                        </a:rPr>
                        <a:t>JAN</a:t>
                      </a:r>
                      <a:endParaRPr sz="700" b="1" i="0" u="none" strike="noStrike" kern="0" cap="none" dirty="0">
                        <a:solidFill>
                          <a:schemeClr val="bg1">
                            <a:lumMod val="95000"/>
                          </a:schemeClr>
                        </a:solidFill>
                        <a:latin typeface="Tajawal" panose="00000500000000000000" pitchFamily="2" charset="-78"/>
                        <a:ea typeface="+mj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kern="0" cap="none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ajawal" panose="00000500000000000000" pitchFamily="2" charset="-78"/>
                          <a:ea typeface="+mj-ea"/>
                          <a:cs typeface="Tajawal" panose="00000500000000000000" pitchFamily="2" charset="-78"/>
                          <a:sym typeface="Arial"/>
                        </a:rPr>
                        <a:t>FRB</a:t>
                      </a:r>
                      <a:endParaRPr lang="ar-SA" sz="700" b="1" i="0" u="none" strike="noStrike" kern="0" cap="none" dirty="0">
                        <a:solidFill>
                          <a:schemeClr val="bg1">
                            <a:lumMod val="95000"/>
                          </a:schemeClr>
                        </a:solidFill>
                        <a:latin typeface="Tajawal" panose="00000500000000000000" pitchFamily="2" charset="-78"/>
                        <a:ea typeface="+mj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kern="0" cap="none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ajawal" panose="00000500000000000000" pitchFamily="2" charset="-78"/>
                          <a:ea typeface="+mj-ea"/>
                          <a:cs typeface="Tajawal" panose="00000500000000000000" pitchFamily="2" charset="-78"/>
                          <a:sym typeface="Arial"/>
                        </a:rPr>
                        <a:t>MAR</a:t>
                      </a:r>
                      <a:endParaRPr sz="700" b="1" i="0" u="none" strike="noStrike" kern="0" cap="none" dirty="0">
                        <a:solidFill>
                          <a:schemeClr val="bg1">
                            <a:lumMod val="95000"/>
                          </a:schemeClr>
                        </a:solidFill>
                        <a:latin typeface="Tajawal" panose="00000500000000000000" pitchFamily="2" charset="-78"/>
                        <a:ea typeface="+mj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kern="0" cap="none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Arial"/>
                        </a:rPr>
                        <a:t>APR</a:t>
                      </a:r>
                      <a:r>
                        <a:rPr lang="ar-SA" sz="700" b="1" i="0" u="none" strike="noStrike" kern="0" cap="none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Arial"/>
                        </a:rPr>
                        <a:t> 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700" b="1" i="0" u="none" strike="noStrike" kern="0" cap="none">
                          <a:solidFill>
                            <a:schemeClr val="bg1">
                              <a:lumMod val="95000"/>
                            </a:schemeClr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Arial"/>
                        </a:rPr>
                        <a:t>مارس</a:t>
                      </a:r>
                      <a:endParaRPr lang="ar-SA" sz="700" b="1" i="0" u="none" strike="noStrike" kern="0" cap="none">
                        <a:solidFill>
                          <a:schemeClr val="bg1">
                            <a:lumMod val="95000"/>
                          </a:schemeClr>
                        </a:solidFill>
                        <a:latin typeface="Tajawal" panose="00000500000000000000" pitchFamily="2" charset="-78"/>
                        <a:ea typeface="+mj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700" b="1" i="0" u="none" strike="noStrike" kern="0" cap="none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ajawal" panose="00000500000000000000" pitchFamily="2" charset="-78"/>
                          <a:ea typeface="+mj-ea"/>
                          <a:cs typeface="Tajawal" panose="00000500000000000000" pitchFamily="2" charset="-78"/>
                          <a:sym typeface="Arial"/>
                        </a:rPr>
                        <a:t>ابريل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284467"/>
                  </a:ext>
                </a:extLst>
              </a:tr>
              <a:tr h="360871">
                <a:tc>
                  <a:txBody>
                    <a:bodyPr/>
                    <a:lstStyle/>
                    <a:p>
                      <a:pPr algn="ctr" rtl="1"/>
                      <a:r>
                        <a:rPr kumimoji="0" lang="ar-SA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  <a:sym typeface="Arial"/>
                        </a:rPr>
                        <a:t>1</a:t>
                      </a:r>
                      <a:endParaRPr kumimoji="0" lang="en-US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</a:rPr>
                        <a:t>بدء المشروع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</a:rPr>
                        <a:t>وثائق المشروع 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</a:rPr>
                        <a:t>تم الأنتهاء</a:t>
                      </a:r>
                      <a:endParaRPr kumimoji="0" lang="ar-SA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63E35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1" i="0" u="none" strike="noStrike" kern="1200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1" i="0" u="none" strike="noStrike" kern="1200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320781"/>
                  </a:ext>
                </a:extLst>
              </a:tr>
              <a:tr h="409320">
                <a:tc>
                  <a:txBody>
                    <a:bodyPr/>
                    <a:lstStyle/>
                    <a:p>
                      <a:pPr algn="ctr" rtl="1"/>
                      <a:r>
                        <a:rPr kumimoji="0" lang="ar-SA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  <a:sym typeface="Arial"/>
                        </a:rPr>
                        <a:t>2</a:t>
                      </a:r>
                      <a:endParaRPr kumimoji="0" lang="en-US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</a:rPr>
                        <a:t>التحليل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Cairo" pitchFamily="2" charset="-78"/>
                        </a:rPr>
                        <a:t>توثيق متطلبات الوضع المستقبلي (</a:t>
                      </a: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Cairo" pitchFamily="2" charset="-78"/>
                        </a:rPr>
                        <a:t>MVP</a:t>
                      </a:r>
                      <a:r>
                        <a:rPr lang="ar-SA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Cairo" pitchFamily="2" charset="-78"/>
                        </a:rPr>
                        <a:t>)</a:t>
                      </a:r>
                      <a:endParaRPr kumimoji="0" lang="ar-SA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</a:rPr>
                        <a:t>تم الأنتهاء</a:t>
                      </a:r>
                      <a:endParaRPr kumimoji="0" lang="ar-SA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63E35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1" i="0" u="none" strike="noStrike" kern="1200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1" i="0" u="none" strike="noStrike" kern="1200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1559330"/>
                  </a:ext>
                </a:extLst>
              </a:tr>
              <a:tr h="318018"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  <a:sym typeface="Arial"/>
                        </a:rPr>
                        <a:t>3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Cairo" pitchFamily="2" charset="-78"/>
                        </a:rPr>
                        <a:t>توثيق  متطلبات الوضع المستقبلي (</a:t>
                      </a: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Cairo" pitchFamily="2" charset="-78"/>
                        </a:rPr>
                        <a:t>Full Scope</a:t>
                      </a:r>
                      <a:r>
                        <a:rPr lang="ar-SA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Cairo" pitchFamily="2" charset="-78"/>
                        </a:rPr>
                        <a:t>)</a:t>
                      </a:r>
                      <a:endParaRPr lang="en-US" sz="1000" b="1" kern="12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Cairo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</a:rPr>
                        <a:t>تم الأنتهاء</a:t>
                      </a:r>
                      <a:endParaRPr kumimoji="0" lang="ar-SA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63E35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1" i="0" u="none" strike="noStrike" kern="1200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138646"/>
                  </a:ext>
                </a:extLst>
              </a:tr>
              <a:tr h="318018">
                <a:tc>
                  <a:txBody>
                    <a:bodyPr/>
                    <a:lstStyle/>
                    <a:p>
                      <a:pPr algn="ctr" rtl="1"/>
                      <a:r>
                        <a:rPr kumimoji="0" lang="ar-SA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  <a:sym typeface="Arial"/>
                        </a:rPr>
                        <a:t>4</a:t>
                      </a:r>
                      <a:endParaRPr kumimoji="0" lang="en-US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</a:rPr>
                        <a:t>التصميم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Cairo" pitchFamily="2" charset="-78"/>
                        </a:rPr>
                        <a:t>التصميم وإعداد النموذج الأولي</a:t>
                      </a:r>
                      <a:endParaRPr lang="en-US" sz="1000" b="1" kern="12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Cairo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LB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</a:rPr>
                        <a:t>تم الأنتهاء</a:t>
                      </a:r>
                      <a:endParaRPr kumimoji="0" lang="ar-SA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63E35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1" i="0" u="none" strike="noStrike" kern="1200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176539"/>
                  </a:ext>
                </a:extLst>
              </a:tr>
              <a:tr h="318018">
                <a:tc>
                  <a:txBody>
                    <a:bodyPr/>
                    <a:lstStyle/>
                    <a:p>
                      <a:pPr algn="ctr" rtl="1"/>
                      <a:r>
                        <a:rPr kumimoji="0" lang="ar-SA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  <a:sym typeface="Arial"/>
                        </a:rPr>
                        <a:t>5</a:t>
                      </a:r>
                      <a:endParaRPr kumimoji="0" lang="en-US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7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</a:rPr>
                        <a:t>التطوير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Cairo" pitchFamily="2" charset="-78"/>
                        </a:rPr>
                        <a:t>تجهيز بيئات العمل وتفعيل رخص المنصة</a:t>
                      </a:r>
                      <a:endParaRPr lang="en-US" sz="1000" b="1" kern="12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Cairo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</a:rPr>
                        <a:t>قيد التنفيذ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63E35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1" i="0" u="none" strike="noStrike" kern="1200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6031909"/>
                  </a:ext>
                </a:extLst>
              </a:tr>
              <a:tr h="318018">
                <a:tc>
                  <a:txBody>
                    <a:bodyPr/>
                    <a:lstStyle/>
                    <a:p>
                      <a:pPr algn="ctr" rtl="1"/>
                      <a:r>
                        <a:rPr kumimoji="0" lang="ar-SA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  <a:sym typeface="Arial"/>
                        </a:rPr>
                        <a:t>6</a:t>
                      </a:r>
                      <a:endParaRPr kumimoji="0" lang="en-US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تطوير</a:t>
                      </a:r>
                      <a:r>
                        <a:rPr lang="ar-LB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 نظام إجراءات نزلاء السجون</a:t>
                      </a:r>
                      <a:r>
                        <a:rPr lang="ar-SA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 (</a:t>
                      </a: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MVP</a:t>
                      </a:r>
                      <a:r>
                        <a:rPr lang="ar-SA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)</a:t>
                      </a:r>
                      <a:endParaRPr lang="en-US" sz="1000" b="1" kern="12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Cairo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</a:rPr>
                        <a:t>قيد التنفيذ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63E35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1" i="0" u="none" strike="noStrike" kern="1200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029567"/>
                  </a:ext>
                </a:extLst>
              </a:tr>
              <a:tr h="318018">
                <a:tc>
                  <a:txBody>
                    <a:bodyPr/>
                    <a:lstStyle/>
                    <a:p>
                      <a:pPr algn="ctr" rtl="1"/>
                      <a:r>
                        <a:rPr kumimoji="0" lang="ar-SA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  <a:sym typeface="Arial"/>
                        </a:rPr>
                        <a:t>7</a:t>
                      </a:r>
                      <a:endParaRPr kumimoji="0" lang="en-US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تطوير</a:t>
                      </a:r>
                      <a:r>
                        <a:rPr lang="ar-LB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 نظام إجراءات نزلاء السجون</a:t>
                      </a:r>
                      <a:r>
                        <a:rPr lang="ar-SA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 (</a:t>
                      </a: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Full Scope</a:t>
                      </a:r>
                      <a:r>
                        <a:rPr lang="ar-SA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)</a:t>
                      </a:r>
                      <a:endParaRPr lang="en-US" sz="1000" b="1" kern="12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Cairo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</a:rPr>
                        <a:t>لم يبدأ</a:t>
                      </a:r>
                      <a:endParaRPr kumimoji="0" lang="ar-SA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63E35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1" i="0" u="none" strike="noStrike" kern="1200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853211"/>
                  </a:ext>
                </a:extLst>
              </a:tr>
              <a:tr h="403192">
                <a:tc rowSpan="2">
                  <a:txBody>
                    <a:bodyPr/>
                    <a:lstStyle/>
                    <a:p>
                      <a:pPr algn="ctr" rtl="1"/>
                      <a:r>
                        <a:rPr kumimoji="0" lang="ar-SA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  <a:sym typeface="Arial"/>
                        </a:rPr>
                        <a:t>8</a:t>
                      </a:r>
                      <a:endParaRPr kumimoji="0" lang="en-US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Cairo" pitchFamily="2" charset="-78"/>
                        </a:rPr>
                        <a:t>الربط مع الجهات الداخلية (عدد 6)</a:t>
                      </a:r>
                      <a:endParaRPr lang="en-US" sz="1000" b="1" kern="12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Cairo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</a:rPr>
                        <a:t>لم يبدأ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63E35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1" i="0" u="none" strike="noStrike" kern="1200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209156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rtl="1"/>
                      <a:endParaRPr kumimoji="0" lang="en-US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Cairo" pitchFamily="2" charset="-78"/>
                        </a:rPr>
                        <a:t>الربط مع الجهات الخارجية (عدد 4)</a:t>
                      </a:r>
                      <a:endParaRPr lang="en-US" sz="1000" b="1" kern="12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Cairo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</a:rPr>
                        <a:t>لم يبدأ</a:t>
                      </a:r>
                      <a:endParaRPr kumimoji="0" lang="ar-SA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63E35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1" i="0" u="none" strike="noStrike" kern="1200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868159"/>
                  </a:ext>
                </a:extLst>
              </a:tr>
              <a:tr h="318018">
                <a:tc>
                  <a:txBody>
                    <a:bodyPr/>
                    <a:lstStyle/>
                    <a:p>
                      <a:pPr algn="ctr" rtl="1"/>
                      <a:r>
                        <a:rPr kumimoji="0" lang="ar-SA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  <a:sym typeface="Arial"/>
                        </a:rPr>
                        <a:t>9</a:t>
                      </a:r>
                      <a:endParaRPr kumimoji="0" lang="en-US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Cairo" pitchFamily="2" charset="-78"/>
                        </a:rPr>
                        <a:t>الربط مع الجهات الخارجية (عدد 4)</a:t>
                      </a:r>
                      <a:endParaRPr lang="en-US" sz="1000" b="1" kern="12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Cairo" pitchFamily="2" charset="-78"/>
                      </a:endParaRPr>
                    </a:p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Cairo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63E35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1" i="0" u="none" strike="noStrike" kern="1200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418099"/>
                  </a:ext>
                </a:extLst>
              </a:tr>
              <a:tr h="318018">
                <a:tc>
                  <a:txBody>
                    <a:bodyPr/>
                    <a:lstStyle/>
                    <a:p>
                      <a:pPr algn="ctr" rtl="1"/>
                      <a:r>
                        <a:rPr kumimoji="0" lang="ar-SA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  <a:sym typeface="Arial"/>
                        </a:rPr>
                        <a:t>10</a:t>
                      </a:r>
                      <a:endParaRPr kumimoji="0" lang="en-US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noProof="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تصميم وبناء نظام عرض البيانات</a:t>
                      </a:r>
                      <a:endParaRPr lang="en-US" sz="1000" b="1" kern="12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Cairo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</a:rPr>
                        <a:t>لم يبدأ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63E35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1" i="0" u="none" strike="noStrike" kern="1200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7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43321"/>
                  </a:ext>
                </a:extLst>
              </a:tr>
            </a:tbl>
          </a:graphicData>
        </a:graphic>
      </p:graphicFrame>
      <p:sp>
        <p:nvSpPr>
          <p:cNvPr id="13" name="Diamond 12">
            <a:extLst>
              <a:ext uri="{FF2B5EF4-FFF2-40B4-BE49-F238E27FC236}">
                <a16:creationId xmlns:a16="http://schemas.microsoft.com/office/drawing/2014/main" id="{26B3F02C-8808-FC22-5AB2-9C369725F435}"/>
              </a:ext>
            </a:extLst>
          </p:cNvPr>
          <p:cNvSpPr/>
          <p:nvPr/>
        </p:nvSpPr>
        <p:spPr bwMode="auto">
          <a:xfrm>
            <a:off x="6359691" y="5774253"/>
            <a:ext cx="137882" cy="144463"/>
          </a:xfrm>
          <a:prstGeom prst="diamond">
            <a:avLst/>
          </a:prstGeom>
          <a:solidFill>
            <a:schemeClr val="tx2"/>
          </a:solidFill>
          <a:ln>
            <a:noFill/>
          </a:ln>
          <a:effectLst/>
        </p:spPr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Wingdings" pitchFamily="2" charset="2"/>
              <a:buNone/>
            </a:pPr>
            <a:endParaRPr lang="en-GB" sz="1200" dirty="0">
              <a:solidFill>
                <a:srgbClr val="000000"/>
              </a:solidFill>
            </a:endParaRP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631C15A0-6F59-5F97-7164-32D343E91E84}"/>
              </a:ext>
            </a:extLst>
          </p:cNvPr>
          <p:cNvSpPr txBox="1">
            <a:spLocks/>
          </p:cNvSpPr>
          <p:nvPr/>
        </p:nvSpPr>
        <p:spPr>
          <a:xfrm>
            <a:off x="4476894" y="470647"/>
            <a:ext cx="3931947" cy="4182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ar-SA" b="1" dirty="0">
                <a:latin typeface="Tajawal" panose="00000500000000000000" pitchFamily="2" charset="-78"/>
                <a:cs typeface="Tajawal" panose="00000500000000000000" pitchFamily="2" charset="-78"/>
              </a:rPr>
              <a:t>الجدول الزمني للمشروع</a:t>
            </a:r>
            <a:endParaRPr lang="en-US" b="1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6" name="Arrow: Pentagon 4">
            <a:extLst>
              <a:ext uri="{FF2B5EF4-FFF2-40B4-BE49-F238E27FC236}">
                <a16:creationId xmlns:a16="http://schemas.microsoft.com/office/drawing/2014/main" id="{279F4DB6-5D83-DCC6-2FC3-5C5FE10EFDB7}"/>
              </a:ext>
            </a:extLst>
          </p:cNvPr>
          <p:cNvSpPr/>
          <p:nvPr/>
        </p:nvSpPr>
        <p:spPr>
          <a:xfrm flipH="1" flipV="1">
            <a:off x="7797599" y="2419331"/>
            <a:ext cx="281518" cy="163460"/>
          </a:xfrm>
          <a:prstGeom prst="homePlate">
            <a:avLst/>
          </a:prstGeom>
          <a:solidFill>
            <a:srgbClr val="048B9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US" kern="0">
              <a:solidFill>
                <a:prstClr val="white"/>
              </a:solidFill>
            </a:endParaRPr>
          </a:p>
        </p:txBody>
      </p:sp>
      <p:sp>
        <p:nvSpPr>
          <p:cNvPr id="8" name="Arrow: Pentagon 4">
            <a:extLst>
              <a:ext uri="{FF2B5EF4-FFF2-40B4-BE49-F238E27FC236}">
                <a16:creationId xmlns:a16="http://schemas.microsoft.com/office/drawing/2014/main" id="{B32A1CA9-26DD-27CF-CA62-3AB41B0C2281}"/>
              </a:ext>
            </a:extLst>
          </p:cNvPr>
          <p:cNvSpPr/>
          <p:nvPr/>
        </p:nvSpPr>
        <p:spPr>
          <a:xfrm flipH="1" flipV="1">
            <a:off x="7054734" y="3158015"/>
            <a:ext cx="783313" cy="163460"/>
          </a:xfrm>
          <a:prstGeom prst="homePlate">
            <a:avLst/>
          </a:prstGeom>
          <a:solidFill>
            <a:srgbClr val="048B9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US" kern="0">
              <a:solidFill>
                <a:prstClr val="white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FA115D3-BFD3-7910-5C66-34B7496042EA}"/>
              </a:ext>
            </a:extLst>
          </p:cNvPr>
          <p:cNvCxnSpPr/>
          <p:nvPr/>
        </p:nvCxnSpPr>
        <p:spPr>
          <a:xfrm>
            <a:off x="6442748" y="1868468"/>
            <a:ext cx="0" cy="384048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AE05718-DE63-0989-B068-CFE810CED69E}"/>
              </a:ext>
            </a:extLst>
          </p:cNvPr>
          <p:cNvSpPr txBox="1"/>
          <p:nvPr/>
        </p:nvSpPr>
        <p:spPr>
          <a:xfrm>
            <a:off x="6027660" y="5912120"/>
            <a:ext cx="86087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ajawal" panose="00000500000000000000" pitchFamily="2" charset="-78"/>
                <a:cs typeface="Tajawal" panose="00000500000000000000" pitchFamily="2" charset="-78"/>
              </a:rPr>
              <a:t>21/04/2026</a:t>
            </a:r>
          </a:p>
        </p:txBody>
      </p:sp>
      <p:sp>
        <p:nvSpPr>
          <p:cNvPr id="33" name="Arrow: Pentagon 4">
            <a:extLst>
              <a:ext uri="{FF2B5EF4-FFF2-40B4-BE49-F238E27FC236}">
                <a16:creationId xmlns:a16="http://schemas.microsoft.com/office/drawing/2014/main" id="{E4F6FDE6-2457-CCDB-04F0-5AB9F53F6811}"/>
              </a:ext>
            </a:extLst>
          </p:cNvPr>
          <p:cNvSpPr/>
          <p:nvPr/>
        </p:nvSpPr>
        <p:spPr>
          <a:xfrm flipH="1" flipV="1">
            <a:off x="3834937" y="4309181"/>
            <a:ext cx="2761741" cy="168607"/>
          </a:xfrm>
          <a:prstGeom prst="homePlate">
            <a:avLst/>
          </a:prstGeom>
          <a:solidFill>
            <a:srgbClr val="A6A6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endParaRPr lang="en-US" sz="800" b="1" kern="0">
              <a:solidFill>
                <a:prstClr val="white"/>
              </a:solidFill>
              <a:cs typeface="Arial" panose="020B0604020202020204" pitchFamily="34" charset="0"/>
            </a:endParaRPr>
          </a:p>
        </p:txBody>
      </p:sp>
      <p:sp>
        <p:nvSpPr>
          <p:cNvPr id="34" name="Arrow: Pentagon 4">
            <a:extLst>
              <a:ext uri="{FF2B5EF4-FFF2-40B4-BE49-F238E27FC236}">
                <a16:creationId xmlns:a16="http://schemas.microsoft.com/office/drawing/2014/main" id="{39272A03-288E-2E57-D3F5-A245B12D0D1E}"/>
              </a:ext>
            </a:extLst>
          </p:cNvPr>
          <p:cNvSpPr/>
          <p:nvPr/>
        </p:nvSpPr>
        <p:spPr>
          <a:xfrm flipH="1" flipV="1">
            <a:off x="3834936" y="4732498"/>
            <a:ext cx="528765" cy="168607"/>
          </a:xfrm>
          <a:prstGeom prst="homePlate">
            <a:avLst/>
          </a:prstGeom>
          <a:solidFill>
            <a:srgbClr val="A6A6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endParaRPr lang="en-US" sz="800" b="1" kern="0">
              <a:solidFill>
                <a:prstClr val="white"/>
              </a:solidFill>
              <a:cs typeface="Arial" panose="020B0604020202020204" pitchFamily="34" charset="0"/>
            </a:endParaRPr>
          </a:p>
        </p:txBody>
      </p:sp>
      <p:sp>
        <p:nvSpPr>
          <p:cNvPr id="35" name="Arrow: Pentagon 4">
            <a:extLst>
              <a:ext uri="{FF2B5EF4-FFF2-40B4-BE49-F238E27FC236}">
                <a16:creationId xmlns:a16="http://schemas.microsoft.com/office/drawing/2014/main" id="{BA1A2386-D227-2C41-B78F-773489847D86}"/>
              </a:ext>
            </a:extLst>
          </p:cNvPr>
          <p:cNvSpPr/>
          <p:nvPr/>
        </p:nvSpPr>
        <p:spPr>
          <a:xfrm flipH="1" flipV="1">
            <a:off x="3834936" y="5115481"/>
            <a:ext cx="528765" cy="168607"/>
          </a:xfrm>
          <a:prstGeom prst="homePlate">
            <a:avLst/>
          </a:prstGeom>
          <a:solidFill>
            <a:srgbClr val="A6A6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endParaRPr lang="en-US" sz="800" b="1" kern="0">
              <a:solidFill>
                <a:prstClr val="white"/>
              </a:solidFill>
              <a:cs typeface="Arial" panose="020B0604020202020204" pitchFamily="34" charset="0"/>
            </a:endParaRPr>
          </a:p>
        </p:txBody>
      </p:sp>
      <p:sp>
        <p:nvSpPr>
          <p:cNvPr id="36" name="Arrow: Pentagon 4">
            <a:extLst>
              <a:ext uri="{FF2B5EF4-FFF2-40B4-BE49-F238E27FC236}">
                <a16:creationId xmlns:a16="http://schemas.microsoft.com/office/drawing/2014/main" id="{01133CCC-B53C-0682-9007-F620A2A41F36}"/>
              </a:ext>
            </a:extLst>
          </p:cNvPr>
          <p:cNvSpPr/>
          <p:nvPr/>
        </p:nvSpPr>
        <p:spPr>
          <a:xfrm flipH="1" flipV="1">
            <a:off x="3756887" y="5465526"/>
            <a:ext cx="605159" cy="168606"/>
          </a:xfrm>
          <a:prstGeom prst="homePlate">
            <a:avLst/>
          </a:prstGeom>
          <a:solidFill>
            <a:srgbClr val="A6A6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endParaRPr lang="en-US" sz="800" b="1" kern="0">
              <a:solidFill>
                <a:prstClr val="white"/>
              </a:solidFill>
              <a:cs typeface="Arial" panose="020B0604020202020204" pitchFamily="34" charset="0"/>
            </a:endParaRPr>
          </a:p>
        </p:txBody>
      </p:sp>
      <p:sp>
        <p:nvSpPr>
          <p:cNvPr id="3" name="Arrow: Pentagon 4">
            <a:extLst>
              <a:ext uri="{FF2B5EF4-FFF2-40B4-BE49-F238E27FC236}">
                <a16:creationId xmlns:a16="http://schemas.microsoft.com/office/drawing/2014/main" id="{3813086E-843E-690C-1768-906781A3D9E3}"/>
              </a:ext>
            </a:extLst>
          </p:cNvPr>
          <p:cNvSpPr/>
          <p:nvPr/>
        </p:nvSpPr>
        <p:spPr>
          <a:xfrm flipH="1" flipV="1">
            <a:off x="7665676" y="2035870"/>
            <a:ext cx="281518" cy="163460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endParaRPr lang="en-US" sz="800" b="1" kern="0">
              <a:solidFill>
                <a:prstClr val="white"/>
              </a:solidFill>
              <a:cs typeface="Arial" panose="020B0604020202020204" pitchFamily="34" charset="0"/>
            </a:endParaRPr>
          </a:p>
        </p:txBody>
      </p:sp>
      <p:sp>
        <p:nvSpPr>
          <p:cNvPr id="25" name="Arrow: Pentagon 4">
            <a:extLst>
              <a:ext uri="{FF2B5EF4-FFF2-40B4-BE49-F238E27FC236}">
                <a16:creationId xmlns:a16="http://schemas.microsoft.com/office/drawing/2014/main" id="{1CD3558B-4923-A703-212F-5AA8EFD359F6}"/>
              </a:ext>
            </a:extLst>
          </p:cNvPr>
          <p:cNvSpPr/>
          <p:nvPr/>
        </p:nvSpPr>
        <p:spPr>
          <a:xfrm flipH="1" flipV="1">
            <a:off x="7804696" y="2035870"/>
            <a:ext cx="281518" cy="163460"/>
          </a:xfrm>
          <a:prstGeom prst="homePlate">
            <a:avLst/>
          </a:prstGeom>
          <a:solidFill>
            <a:srgbClr val="048B9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endParaRPr lang="en-US" sz="800" b="1" kern="0">
              <a:solidFill>
                <a:prstClr val="white"/>
              </a:solidFill>
              <a:cs typeface="Arial" panose="020B0604020202020204" pitchFamily="34" charset="0"/>
            </a:endParaRPr>
          </a:p>
        </p:txBody>
      </p:sp>
      <p:sp>
        <p:nvSpPr>
          <p:cNvPr id="4" name="Arrow: Pentagon 4">
            <a:extLst>
              <a:ext uri="{FF2B5EF4-FFF2-40B4-BE49-F238E27FC236}">
                <a16:creationId xmlns:a16="http://schemas.microsoft.com/office/drawing/2014/main" id="{09F135E1-C121-85D3-A68F-14EC75EE9FE2}"/>
              </a:ext>
            </a:extLst>
          </p:cNvPr>
          <p:cNvSpPr/>
          <p:nvPr/>
        </p:nvSpPr>
        <p:spPr>
          <a:xfrm flipH="1" flipV="1">
            <a:off x="6951133" y="2790797"/>
            <a:ext cx="617178" cy="157602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US" kern="0">
              <a:solidFill>
                <a:prstClr val="white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566ADB6-3CF3-1908-6049-04F3AAAAFC74}"/>
              </a:ext>
            </a:extLst>
          </p:cNvPr>
          <p:cNvGrpSpPr/>
          <p:nvPr/>
        </p:nvGrpSpPr>
        <p:grpSpPr>
          <a:xfrm>
            <a:off x="801261" y="6464027"/>
            <a:ext cx="4143272" cy="411194"/>
            <a:chOff x="801261" y="6464027"/>
            <a:chExt cx="4143272" cy="41119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2DBDEF4-3007-F235-3EC0-5F3A5976FD97}"/>
                </a:ext>
              </a:extLst>
            </p:cNvPr>
            <p:cNvSpPr txBox="1"/>
            <p:nvPr/>
          </p:nvSpPr>
          <p:spPr>
            <a:xfrm>
              <a:off x="2090022" y="6598222"/>
              <a:ext cx="76138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ar-JO" sz="800" kern="0">
                  <a:solidFill>
                    <a:schemeClr val="bg1"/>
                  </a:solidFill>
                </a:rPr>
                <a:t>تم الانتهاء</a:t>
              </a:r>
              <a:endParaRPr lang="en-US" sz="800" kern="0">
                <a:solidFill>
                  <a:schemeClr val="bg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924FA48-B58A-B117-4CE5-D4BFC985C638}"/>
                </a:ext>
              </a:extLst>
            </p:cNvPr>
            <p:cNvSpPr txBox="1"/>
            <p:nvPr/>
          </p:nvSpPr>
          <p:spPr>
            <a:xfrm>
              <a:off x="2733106" y="6598222"/>
              <a:ext cx="76138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ar-JO" sz="800" kern="0">
                  <a:solidFill>
                    <a:schemeClr val="bg1"/>
                  </a:solidFill>
                </a:rPr>
                <a:t>قيد التنفيذ</a:t>
              </a:r>
              <a:endParaRPr lang="en-US" sz="800" kern="0">
                <a:solidFill>
                  <a:schemeClr val="bg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AA6849C-219E-EAD2-08D0-E96C170B5456}"/>
                </a:ext>
              </a:extLst>
            </p:cNvPr>
            <p:cNvSpPr txBox="1"/>
            <p:nvPr/>
          </p:nvSpPr>
          <p:spPr>
            <a:xfrm>
              <a:off x="3376194" y="6598222"/>
              <a:ext cx="76138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ar-JO" sz="800" kern="0">
                  <a:solidFill>
                    <a:schemeClr val="bg1"/>
                  </a:solidFill>
                </a:rPr>
                <a:t>لم تبدأ</a:t>
              </a:r>
              <a:endParaRPr lang="en-US" sz="800" kern="0">
                <a:solidFill>
                  <a:schemeClr val="bg1"/>
                </a:solidFill>
              </a:endParaRPr>
            </a:p>
          </p:txBody>
        </p:sp>
        <p:sp>
          <p:nvSpPr>
            <p:cNvPr id="18" name="Arrow: Pentagon 4">
              <a:extLst>
                <a:ext uri="{FF2B5EF4-FFF2-40B4-BE49-F238E27FC236}">
                  <a16:creationId xmlns:a16="http://schemas.microsoft.com/office/drawing/2014/main" id="{19B87885-D964-CF4C-D578-407CAF89367A}"/>
                </a:ext>
              </a:extLst>
            </p:cNvPr>
            <p:cNvSpPr/>
            <p:nvPr/>
          </p:nvSpPr>
          <p:spPr>
            <a:xfrm>
              <a:off x="2353429" y="6464027"/>
              <a:ext cx="234574" cy="97972"/>
            </a:xfrm>
            <a:prstGeom prst="homePlate">
              <a:avLst/>
            </a:prstGeom>
            <a:solidFill>
              <a:srgbClr val="048B9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</a:endParaRPr>
            </a:p>
          </p:txBody>
        </p:sp>
        <p:sp>
          <p:nvSpPr>
            <p:cNvPr id="19" name="Arrow: Pentagon 59">
              <a:extLst>
                <a:ext uri="{FF2B5EF4-FFF2-40B4-BE49-F238E27FC236}">
                  <a16:creationId xmlns:a16="http://schemas.microsoft.com/office/drawing/2014/main" id="{14B2D2F9-30E9-3A94-2B32-DBF05F40BD94}"/>
                </a:ext>
              </a:extLst>
            </p:cNvPr>
            <p:cNvSpPr/>
            <p:nvPr/>
          </p:nvSpPr>
          <p:spPr>
            <a:xfrm>
              <a:off x="2996513" y="6464027"/>
              <a:ext cx="234574" cy="97972"/>
            </a:xfrm>
            <a:prstGeom prst="homePlate">
              <a:avLst/>
            </a:prstGeom>
            <a:solidFill>
              <a:srgbClr val="00746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</a:endParaRPr>
            </a:p>
          </p:txBody>
        </p:sp>
        <p:sp>
          <p:nvSpPr>
            <p:cNvPr id="20" name="Arrow: Pentagon 60">
              <a:extLst>
                <a:ext uri="{FF2B5EF4-FFF2-40B4-BE49-F238E27FC236}">
                  <a16:creationId xmlns:a16="http://schemas.microsoft.com/office/drawing/2014/main" id="{9FB3F479-800F-13A4-2796-7DA85B111463}"/>
                </a:ext>
              </a:extLst>
            </p:cNvPr>
            <p:cNvSpPr/>
            <p:nvPr/>
          </p:nvSpPr>
          <p:spPr>
            <a:xfrm>
              <a:off x="3639601" y="6464027"/>
              <a:ext cx="234574" cy="97972"/>
            </a:xfrm>
            <a:prstGeom prst="homePlate">
              <a:avLst/>
            </a:prstGeom>
            <a:solidFill>
              <a:srgbClr val="A6A6A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66AAE60-3E8F-5B4C-A9CF-A0E3310C0ABF}"/>
                </a:ext>
              </a:extLst>
            </p:cNvPr>
            <p:cNvSpPr txBox="1"/>
            <p:nvPr/>
          </p:nvSpPr>
          <p:spPr>
            <a:xfrm>
              <a:off x="1425775" y="6598222"/>
              <a:ext cx="76138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ar-JO" sz="800" kern="0">
                  <a:solidFill>
                    <a:schemeClr val="bg1"/>
                  </a:solidFill>
                </a:rPr>
                <a:t>متأخر</a:t>
              </a:r>
              <a:endParaRPr lang="en-US" sz="800" kern="0">
                <a:solidFill>
                  <a:schemeClr val="bg1"/>
                </a:solidFill>
              </a:endParaRPr>
            </a:p>
          </p:txBody>
        </p:sp>
        <p:sp>
          <p:nvSpPr>
            <p:cNvPr id="22" name="Arrow: Pentagon 74">
              <a:extLst>
                <a:ext uri="{FF2B5EF4-FFF2-40B4-BE49-F238E27FC236}">
                  <a16:creationId xmlns:a16="http://schemas.microsoft.com/office/drawing/2014/main" id="{E8C4C0E4-2BE9-3EAA-9CCC-BD02856CB911}"/>
                </a:ext>
              </a:extLst>
            </p:cNvPr>
            <p:cNvSpPr/>
            <p:nvPr/>
          </p:nvSpPr>
          <p:spPr>
            <a:xfrm>
              <a:off x="1689182" y="6464027"/>
              <a:ext cx="234574" cy="97972"/>
            </a:xfrm>
            <a:prstGeom prst="homePlate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17C6F5C-44DC-B7DD-2BD1-F08458DA22F2}"/>
                </a:ext>
              </a:extLst>
            </p:cNvPr>
            <p:cNvSpPr txBox="1"/>
            <p:nvPr/>
          </p:nvSpPr>
          <p:spPr>
            <a:xfrm>
              <a:off x="801261" y="6536667"/>
              <a:ext cx="76138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ar-JO" sz="800" kern="0">
                  <a:solidFill>
                    <a:schemeClr val="bg1"/>
                  </a:solidFill>
                </a:rPr>
                <a:t>متأخر مع معوقات</a:t>
              </a:r>
              <a:endParaRPr lang="en-US" sz="800" kern="0">
                <a:solidFill>
                  <a:schemeClr val="bg1"/>
                </a:solidFill>
              </a:endParaRPr>
            </a:p>
          </p:txBody>
        </p:sp>
        <p:sp>
          <p:nvSpPr>
            <p:cNvPr id="24" name="Arrow: Pentagon 4">
              <a:extLst>
                <a:ext uri="{FF2B5EF4-FFF2-40B4-BE49-F238E27FC236}">
                  <a16:creationId xmlns:a16="http://schemas.microsoft.com/office/drawing/2014/main" id="{C18B0A51-444D-9339-2310-D6A3DCC00683}"/>
                </a:ext>
              </a:extLst>
            </p:cNvPr>
            <p:cNvSpPr/>
            <p:nvPr/>
          </p:nvSpPr>
          <p:spPr>
            <a:xfrm>
              <a:off x="1064668" y="6464027"/>
              <a:ext cx="234574" cy="97972"/>
            </a:xfrm>
            <a:prstGeom prst="homePlate">
              <a:avLst/>
            </a:prstGeom>
            <a:solidFill>
              <a:srgbClr val="FF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B4DA255-476C-D7C0-FBBB-5C11BA35DD6E}"/>
                </a:ext>
              </a:extLst>
            </p:cNvPr>
            <p:cNvSpPr txBox="1"/>
            <p:nvPr/>
          </p:nvSpPr>
          <p:spPr>
            <a:xfrm>
              <a:off x="3978913" y="6598222"/>
              <a:ext cx="96562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ar-LB" sz="800" kern="0" dirty="0">
                  <a:solidFill>
                    <a:schemeClr val="bg1"/>
                  </a:solidFill>
                </a:rPr>
                <a:t>التاريخ المتوقع للإغلاق</a:t>
              </a:r>
              <a:endParaRPr lang="en-US" sz="800" kern="0" dirty="0">
                <a:solidFill>
                  <a:schemeClr val="bg1"/>
                </a:solidFill>
              </a:endParaRPr>
            </a:p>
          </p:txBody>
        </p:sp>
        <p:sp>
          <p:nvSpPr>
            <p:cNvPr id="27" name="Arrow: Pentagon 60">
              <a:extLst>
                <a:ext uri="{FF2B5EF4-FFF2-40B4-BE49-F238E27FC236}">
                  <a16:creationId xmlns:a16="http://schemas.microsoft.com/office/drawing/2014/main" id="{28A0945E-2C73-66F6-FED7-B717EE0F32D2}"/>
                </a:ext>
              </a:extLst>
            </p:cNvPr>
            <p:cNvSpPr/>
            <p:nvPr/>
          </p:nvSpPr>
          <p:spPr>
            <a:xfrm>
              <a:off x="4242320" y="6464027"/>
              <a:ext cx="234574" cy="97972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</a:endParaRPr>
            </a:p>
          </p:txBody>
        </p:sp>
      </p:grpSp>
      <p:sp>
        <p:nvSpPr>
          <p:cNvPr id="7" name="Arrow: Pentagon 4">
            <a:extLst>
              <a:ext uri="{FF2B5EF4-FFF2-40B4-BE49-F238E27FC236}">
                <a16:creationId xmlns:a16="http://schemas.microsoft.com/office/drawing/2014/main" id="{DA38ADC0-1857-B10A-E852-F75EF8268107}"/>
              </a:ext>
            </a:extLst>
          </p:cNvPr>
          <p:cNvSpPr/>
          <p:nvPr/>
        </p:nvSpPr>
        <p:spPr>
          <a:xfrm flipH="1" flipV="1">
            <a:off x="7298575" y="2790797"/>
            <a:ext cx="539473" cy="163460"/>
          </a:xfrm>
          <a:prstGeom prst="homePlate">
            <a:avLst/>
          </a:prstGeom>
          <a:solidFill>
            <a:srgbClr val="048B9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US" kern="0">
              <a:solidFill>
                <a:prstClr val="white"/>
              </a:solidFill>
            </a:endParaRPr>
          </a:p>
        </p:txBody>
      </p:sp>
      <p:sp>
        <p:nvSpPr>
          <p:cNvPr id="30" name="Arrow: Pentagon 4">
            <a:extLst>
              <a:ext uri="{FF2B5EF4-FFF2-40B4-BE49-F238E27FC236}">
                <a16:creationId xmlns:a16="http://schemas.microsoft.com/office/drawing/2014/main" id="{A017EAC1-B84F-6EA4-2229-47D0CDD2983B}"/>
              </a:ext>
            </a:extLst>
          </p:cNvPr>
          <p:cNvSpPr/>
          <p:nvPr/>
        </p:nvSpPr>
        <p:spPr>
          <a:xfrm flipH="1" flipV="1">
            <a:off x="6547023" y="3908692"/>
            <a:ext cx="679760" cy="167710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US" kern="0">
              <a:solidFill>
                <a:prstClr val="white"/>
              </a:solidFill>
            </a:endParaRPr>
          </a:p>
        </p:txBody>
      </p:sp>
      <p:sp>
        <p:nvSpPr>
          <p:cNvPr id="10" name="Arrow: Pentagon 4">
            <a:extLst>
              <a:ext uri="{FF2B5EF4-FFF2-40B4-BE49-F238E27FC236}">
                <a16:creationId xmlns:a16="http://schemas.microsoft.com/office/drawing/2014/main" id="{836654E2-295C-ACFF-7220-7A9C41EBF3C1}"/>
              </a:ext>
            </a:extLst>
          </p:cNvPr>
          <p:cNvSpPr/>
          <p:nvPr/>
        </p:nvSpPr>
        <p:spPr>
          <a:xfrm flipH="1" flipV="1">
            <a:off x="6777646" y="3912942"/>
            <a:ext cx="869207" cy="163460"/>
          </a:xfrm>
          <a:prstGeom prst="homePlate">
            <a:avLst/>
          </a:prstGeom>
          <a:solidFill>
            <a:srgbClr val="F04C3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US" kern="0">
              <a:solidFill>
                <a:prstClr val="white"/>
              </a:solidFill>
            </a:endParaRPr>
          </a:p>
        </p:txBody>
      </p:sp>
      <p:sp>
        <p:nvSpPr>
          <p:cNvPr id="31" name="Arrow: Pentagon 4">
            <a:extLst>
              <a:ext uri="{FF2B5EF4-FFF2-40B4-BE49-F238E27FC236}">
                <a16:creationId xmlns:a16="http://schemas.microsoft.com/office/drawing/2014/main" id="{BB4B0F16-E187-956F-F6BE-1900A3EDF04B}"/>
              </a:ext>
            </a:extLst>
          </p:cNvPr>
          <p:cNvSpPr/>
          <p:nvPr/>
        </p:nvSpPr>
        <p:spPr>
          <a:xfrm flipH="1" flipV="1">
            <a:off x="6442748" y="3525233"/>
            <a:ext cx="1249262" cy="175914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US" kern="0">
              <a:solidFill>
                <a:prstClr val="white"/>
              </a:solidFill>
            </a:endParaRPr>
          </a:p>
        </p:txBody>
      </p:sp>
      <p:sp>
        <p:nvSpPr>
          <p:cNvPr id="9" name="Arrow: Pentagon 4">
            <a:extLst>
              <a:ext uri="{FF2B5EF4-FFF2-40B4-BE49-F238E27FC236}">
                <a16:creationId xmlns:a16="http://schemas.microsoft.com/office/drawing/2014/main" id="{FFD265A0-72AE-5EA3-0361-C564D90D85FD}"/>
              </a:ext>
            </a:extLst>
          </p:cNvPr>
          <p:cNvSpPr/>
          <p:nvPr/>
        </p:nvSpPr>
        <p:spPr>
          <a:xfrm flipH="1" flipV="1">
            <a:off x="7547955" y="3531091"/>
            <a:ext cx="478512" cy="163460"/>
          </a:xfrm>
          <a:prstGeom prst="homePlat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US" kern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007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32A9E-72B7-944D-1A77-069BFBA6E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C9F2E5-631B-6086-3C96-F107216C8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382604"/>
              </p:ext>
            </p:extLst>
          </p:nvPr>
        </p:nvGraphicFramePr>
        <p:xfrm>
          <a:off x="116212" y="1114381"/>
          <a:ext cx="11959576" cy="4444713"/>
        </p:xfrm>
        <a:graphic>
          <a:graphicData uri="http://schemas.openxmlformats.org/drawingml/2006/table">
            <a:tbl>
              <a:tblPr rtl="1" firstRow="1" bandRow="1">
                <a:effectLst>
                  <a:outerShdw blurRad="50800" dist="38100" dir="2700000" algn="tl" rotWithShape="0">
                    <a:prstClr val="black">
                      <a:alpha val="8000"/>
                    </a:prstClr>
                  </a:outerShdw>
                </a:effectLst>
                <a:tableStyleId>{5C22544A-7EE6-4342-B048-85BDC9FD1C3A}</a:tableStyleId>
              </a:tblPr>
              <a:tblGrid>
                <a:gridCol w="293305">
                  <a:extLst>
                    <a:ext uri="{9D8B030D-6E8A-4147-A177-3AD203B41FA5}">
                      <a16:colId xmlns:a16="http://schemas.microsoft.com/office/drawing/2014/main" val="301911790"/>
                    </a:ext>
                  </a:extLst>
                </a:gridCol>
                <a:gridCol w="978541">
                  <a:extLst>
                    <a:ext uri="{9D8B030D-6E8A-4147-A177-3AD203B41FA5}">
                      <a16:colId xmlns:a16="http://schemas.microsoft.com/office/drawing/2014/main" val="2314276677"/>
                    </a:ext>
                  </a:extLst>
                </a:gridCol>
                <a:gridCol w="1930913">
                  <a:extLst>
                    <a:ext uri="{9D8B030D-6E8A-4147-A177-3AD203B41FA5}">
                      <a16:colId xmlns:a16="http://schemas.microsoft.com/office/drawing/2014/main" val="1440130488"/>
                    </a:ext>
                  </a:extLst>
                </a:gridCol>
                <a:gridCol w="776433">
                  <a:extLst>
                    <a:ext uri="{9D8B030D-6E8A-4147-A177-3AD203B41FA5}">
                      <a16:colId xmlns:a16="http://schemas.microsoft.com/office/drawing/2014/main" val="2455662797"/>
                    </a:ext>
                  </a:extLst>
                </a:gridCol>
                <a:gridCol w="430650">
                  <a:extLst>
                    <a:ext uri="{9D8B030D-6E8A-4147-A177-3AD203B41FA5}">
                      <a16:colId xmlns:a16="http://schemas.microsoft.com/office/drawing/2014/main" val="1475530516"/>
                    </a:ext>
                  </a:extLst>
                </a:gridCol>
                <a:gridCol w="437728">
                  <a:extLst>
                    <a:ext uri="{9D8B030D-6E8A-4147-A177-3AD203B41FA5}">
                      <a16:colId xmlns:a16="http://schemas.microsoft.com/office/drawing/2014/main" val="3948434064"/>
                    </a:ext>
                  </a:extLst>
                </a:gridCol>
                <a:gridCol w="437727">
                  <a:extLst>
                    <a:ext uri="{9D8B030D-6E8A-4147-A177-3AD203B41FA5}">
                      <a16:colId xmlns:a16="http://schemas.microsoft.com/office/drawing/2014/main" val="43820072"/>
                    </a:ext>
                  </a:extLst>
                </a:gridCol>
                <a:gridCol w="426646">
                  <a:extLst>
                    <a:ext uri="{9D8B030D-6E8A-4147-A177-3AD203B41FA5}">
                      <a16:colId xmlns:a16="http://schemas.microsoft.com/office/drawing/2014/main" val="907022506"/>
                    </a:ext>
                  </a:extLst>
                </a:gridCol>
                <a:gridCol w="448810">
                  <a:extLst>
                    <a:ext uri="{9D8B030D-6E8A-4147-A177-3AD203B41FA5}">
                      <a16:colId xmlns:a16="http://schemas.microsoft.com/office/drawing/2014/main" val="1991027552"/>
                    </a:ext>
                  </a:extLst>
                </a:gridCol>
                <a:gridCol w="443268">
                  <a:extLst>
                    <a:ext uri="{9D8B030D-6E8A-4147-A177-3AD203B41FA5}">
                      <a16:colId xmlns:a16="http://schemas.microsoft.com/office/drawing/2014/main" val="1348320845"/>
                    </a:ext>
                  </a:extLst>
                </a:gridCol>
                <a:gridCol w="470973">
                  <a:extLst>
                    <a:ext uri="{9D8B030D-6E8A-4147-A177-3AD203B41FA5}">
                      <a16:colId xmlns:a16="http://schemas.microsoft.com/office/drawing/2014/main" val="2868218263"/>
                    </a:ext>
                  </a:extLst>
                </a:gridCol>
                <a:gridCol w="444577">
                  <a:extLst>
                    <a:ext uri="{9D8B030D-6E8A-4147-A177-3AD203B41FA5}">
                      <a16:colId xmlns:a16="http://schemas.microsoft.com/office/drawing/2014/main" val="957842929"/>
                    </a:ext>
                  </a:extLst>
                </a:gridCol>
                <a:gridCol w="443610">
                  <a:extLst>
                    <a:ext uri="{9D8B030D-6E8A-4147-A177-3AD203B41FA5}">
                      <a16:colId xmlns:a16="http://schemas.microsoft.com/office/drawing/2014/main" val="272256764"/>
                    </a:ext>
                  </a:extLst>
                </a:gridCol>
                <a:gridCol w="421178">
                  <a:extLst>
                    <a:ext uri="{9D8B030D-6E8A-4147-A177-3AD203B41FA5}">
                      <a16:colId xmlns:a16="http://schemas.microsoft.com/office/drawing/2014/main" val="2265221158"/>
                    </a:ext>
                  </a:extLst>
                </a:gridCol>
                <a:gridCol w="435576">
                  <a:extLst>
                    <a:ext uri="{9D8B030D-6E8A-4147-A177-3AD203B41FA5}">
                      <a16:colId xmlns:a16="http://schemas.microsoft.com/office/drawing/2014/main" val="3481081713"/>
                    </a:ext>
                  </a:extLst>
                </a:gridCol>
                <a:gridCol w="448888">
                  <a:extLst>
                    <a:ext uri="{9D8B030D-6E8A-4147-A177-3AD203B41FA5}">
                      <a16:colId xmlns:a16="http://schemas.microsoft.com/office/drawing/2014/main" val="2171186599"/>
                    </a:ext>
                  </a:extLst>
                </a:gridCol>
                <a:gridCol w="432630">
                  <a:extLst>
                    <a:ext uri="{9D8B030D-6E8A-4147-A177-3AD203B41FA5}">
                      <a16:colId xmlns:a16="http://schemas.microsoft.com/office/drawing/2014/main" val="1010187179"/>
                    </a:ext>
                  </a:extLst>
                </a:gridCol>
                <a:gridCol w="454061">
                  <a:extLst>
                    <a:ext uri="{9D8B030D-6E8A-4147-A177-3AD203B41FA5}">
                      <a16:colId xmlns:a16="http://schemas.microsoft.com/office/drawing/2014/main" val="1154603591"/>
                    </a:ext>
                  </a:extLst>
                </a:gridCol>
                <a:gridCol w="451114">
                  <a:extLst>
                    <a:ext uri="{9D8B030D-6E8A-4147-A177-3AD203B41FA5}">
                      <a16:colId xmlns:a16="http://schemas.microsoft.com/office/drawing/2014/main" val="3805279175"/>
                    </a:ext>
                  </a:extLst>
                </a:gridCol>
                <a:gridCol w="432262">
                  <a:extLst>
                    <a:ext uri="{9D8B030D-6E8A-4147-A177-3AD203B41FA5}">
                      <a16:colId xmlns:a16="http://schemas.microsoft.com/office/drawing/2014/main" val="992770991"/>
                    </a:ext>
                  </a:extLst>
                </a:gridCol>
                <a:gridCol w="471798">
                  <a:extLst>
                    <a:ext uri="{9D8B030D-6E8A-4147-A177-3AD203B41FA5}">
                      <a16:colId xmlns:a16="http://schemas.microsoft.com/office/drawing/2014/main" val="2135967041"/>
                    </a:ext>
                  </a:extLst>
                </a:gridCol>
                <a:gridCol w="448888">
                  <a:extLst>
                    <a:ext uri="{9D8B030D-6E8A-4147-A177-3AD203B41FA5}">
                      <a16:colId xmlns:a16="http://schemas.microsoft.com/office/drawing/2014/main" val="1966324798"/>
                    </a:ext>
                  </a:extLst>
                </a:gridCol>
              </a:tblGrid>
              <a:tr h="381167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600" b="1" i="0" u="none" strike="noStrike" kern="0" cap="none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Arial"/>
                        </a:rPr>
                        <a:t>نسبة الإنجاز المتوق</a:t>
                      </a:r>
                      <a:endParaRPr lang="en-US" sz="1600" b="1" i="0" u="none" strike="noStrike" kern="0" cap="none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i="0" u="none" strike="noStrike" kern="0" cap="none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0" dirty="0">
                          <a:solidFill>
                            <a:schemeClr val="bg1"/>
                          </a:solidFill>
                          <a:latin typeface="Tajawal" panose="00000500000000000000" pitchFamily="2" charset="-78"/>
                          <a:ea typeface="+mj-ea"/>
                          <a:cs typeface="Tajawal" panose="00000500000000000000" pitchFamily="2" charset="-78"/>
                          <a:sym typeface="Arial"/>
                        </a:rPr>
                        <a:t>Q1 - 2026</a:t>
                      </a:r>
                      <a:endParaRPr lang="ar-SA" sz="1400" b="1" kern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j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600" b="0" i="0" u="none" strike="noStrike" kern="0" cap="none">
                        <a:solidFill>
                          <a:schemeClr val="bg1"/>
                        </a:solidFill>
                        <a:latin typeface="TheMixArabic Plain" panose="020B0502050302020203" pitchFamily="34" charset="-78"/>
                        <a:ea typeface="+mn-ea"/>
                        <a:cs typeface="TheMixArabic Plain" panose="020B0502050302020203" pitchFamily="34" charset="-78"/>
                        <a:sym typeface="Arial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0" dirty="0">
                          <a:solidFill>
                            <a:schemeClr val="bg1"/>
                          </a:solidFill>
                          <a:latin typeface="Tajawal" panose="00000500000000000000" pitchFamily="2" charset="-78"/>
                          <a:ea typeface="+mj-ea"/>
                          <a:cs typeface="Tajawal" panose="00000500000000000000" pitchFamily="2" charset="-78"/>
                          <a:sym typeface="Arial"/>
                        </a:rPr>
                        <a:t>Q2 - 2026</a:t>
                      </a:r>
                      <a:endParaRPr sz="1400" b="1" kern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j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E7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0" dirty="0">
                          <a:solidFill>
                            <a:schemeClr val="bg1"/>
                          </a:solidFill>
                          <a:latin typeface="Tajawal" panose="00000500000000000000" pitchFamily="2" charset="-78"/>
                          <a:ea typeface="+mj-ea"/>
                          <a:cs typeface="Tajawal" panose="00000500000000000000" pitchFamily="2" charset="-78"/>
                          <a:sym typeface="Arial"/>
                        </a:rPr>
                        <a:t>Q3 - 2026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8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0" dirty="0">
                          <a:solidFill>
                            <a:schemeClr val="bg1"/>
                          </a:solidFill>
                          <a:latin typeface="Tajawal" panose="00000500000000000000" pitchFamily="2" charset="-78"/>
                          <a:ea typeface="+mj-ea"/>
                          <a:cs typeface="Tajawal" panose="00000500000000000000" pitchFamily="2" charset="-78"/>
                          <a:sym typeface="Arial"/>
                        </a:rPr>
                        <a:t>Q4 - 2026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84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600" b="0" i="0" u="none" strike="noStrike" kern="0" cap="none">
                        <a:solidFill>
                          <a:schemeClr val="bg1"/>
                        </a:solidFill>
                        <a:latin typeface="TheMixArabic Plain" panose="020B0502050302020203" pitchFamily="34" charset="-78"/>
                        <a:ea typeface="+mn-ea"/>
                        <a:cs typeface="TheMixArabic Plain" panose="020B0502050302020203" pitchFamily="34" charset="-78"/>
                        <a:sym typeface="Arial"/>
                      </a:endParaRPr>
                    </a:p>
                  </a:txBody>
                  <a:tcPr marL="45720" marR="4572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600" b="0" i="0" u="none" strike="noStrike" kern="0" cap="none" dirty="0">
                        <a:solidFill>
                          <a:schemeClr val="bg1"/>
                        </a:solidFill>
                        <a:latin typeface="TheMixArabic Plain" panose="020B0502050302020203" pitchFamily="34" charset="-78"/>
                        <a:ea typeface="+mn-ea"/>
                        <a:cs typeface="TheMixArabic Plain" panose="020B0502050302020203" pitchFamily="34" charset="-78"/>
                        <a:sym typeface="Arial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kern="0" dirty="0">
                          <a:solidFill>
                            <a:schemeClr val="bg1"/>
                          </a:solidFill>
                          <a:latin typeface="Tajawal" panose="00000500000000000000" pitchFamily="2" charset="-78"/>
                          <a:ea typeface="+mj-ea"/>
                          <a:cs typeface="Tajawal" panose="00000500000000000000" pitchFamily="2" charset="-78"/>
                          <a:sym typeface="Arial"/>
                        </a:rPr>
                        <a:t>Q1 - 2027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84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600" b="0" i="0" u="none" strike="noStrike" kern="0" cap="none">
                        <a:solidFill>
                          <a:schemeClr val="bg1"/>
                        </a:solidFill>
                        <a:latin typeface="TheMixArabic Plain" panose="020B0502050302020203" pitchFamily="34" charset="-78"/>
                        <a:ea typeface="+mn-ea"/>
                        <a:cs typeface="TheMixArabic Plain" panose="020B0502050302020203" pitchFamily="34" charset="-78"/>
                        <a:sym typeface="Arial"/>
                      </a:endParaRPr>
                    </a:p>
                  </a:txBody>
                  <a:tcPr marL="45720" marR="4572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2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kern="0" dirty="0">
                          <a:solidFill>
                            <a:schemeClr val="bg1"/>
                          </a:solidFill>
                          <a:latin typeface="Tajawal" panose="00000500000000000000" pitchFamily="2" charset="-78"/>
                          <a:ea typeface="+mj-ea"/>
                          <a:cs typeface="Tajawal" panose="00000500000000000000" pitchFamily="2" charset="-78"/>
                          <a:sym typeface="Arial"/>
                        </a:rPr>
                        <a:t>Q2 - 2027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600" b="0" i="0" u="none" strike="noStrike" kern="0" cap="none">
                        <a:solidFill>
                          <a:schemeClr val="bg1"/>
                        </a:solidFill>
                        <a:latin typeface="TheMixArabic Plain" panose="020B0502050302020203" pitchFamily="34" charset="-78"/>
                        <a:ea typeface="+mn-ea"/>
                        <a:cs typeface="TheMixArabic Plain" panose="020B0502050302020203" pitchFamily="34" charset="-78"/>
                        <a:sym typeface="Arial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E7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1400" b="1" kern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+mj-ea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2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460271"/>
                  </a:ext>
                </a:extLst>
              </a:tr>
              <a:tr h="415724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50" b="1" i="0" u="none" strike="noStrike" kern="0" cap="none" dirty="0">
                          <a:solidFill>
                            <a:schemeClr val="bg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Arial"/>
                        </a:rPr>
                        <a:t>#</a:t>
                      </a:r>
                      <a:endParaRPr sz="750" b="1" i="0" u="none" strike="noStrike" kern="0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750" b="1" kern="0">
                          <a:solidFill>
                            <a:schemeClr val="bg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Arial"/>
                        </a:rPr>
                        <a:t>المرحلة</a:t>
                      </a:r>
                      <a:endParaRPr lang="ar-SA" sz="750" b="1" kern="0" noProof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</a:rPr>
                        <a:t>المخرج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750" b="1" kern="0" dirty="0">
                          <a:solidFill>
                            <a:schemeClr val="bg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Arial"/>
                        </a:rPr>
                        <a:t>الحالة</a:t>
                      </a:r>
                      <a:endParaRPr kumimoji="0" lang="ar-SA" sz="7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kern="0" noProof="0" dirty="0">
                          <a:solidFill>
                            <a:schemeClr val="bg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JAN</a:t>
                      </a:r>
                      <a:endParaRPr lang="ar-SA" sz="700" b="1" kern="0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kern="0" cap="none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Arial"/>
                        </a:rPr>
                        <a:t>FEB</a:t>
                      </a:r>
                      <a:r>
                        <a:rPr lang="ar-SA" sz="700" b="1" i="0" u="none" strike="noStrike" kern="0" cap="none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Arial"/>
                        </a:rPr>
                        <a:t> 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kern="0" cap="none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Arial"/>
                        </a:rPr>
                        <a:t>MAR</a:t>
                      </a:r>
                      <a:endParaRPr lang="ar-SA" sz="700" b="1" i="0" u="none" strike="noStrike" kern="0" cap="none" dirty="0">
                        <a:solidFill>
                          <a:schemeClr val="bg1">
                            <a:lumMod val="95000"/>
                          </a:schemeClr>
                        </a:solidFill>
                        <a:latin typeface="Tajawal" panose="00000500000000000000" pitchFamily="2" charset="-78"/>
                        <a:ea typeface="+mj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kern="0" cap="none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ajawal" panose="00000500000000000000" pitchFamily="2" charset="-78"/>
                          <a:ea typeface="+mj-ea"/>
                          <a:cs typeface="Tajawal" panose="00000500000000000000" pitchFamily="2" charset="-78"/>
                          <a:sym typeface="Arial"/>
                        </a:rPr>
                        <a:t>APR</a:t>
                      </a:r>
                      <a:endParaRPr lang="ar-SA" sz="700" b="1" i="0" u="none" strike="noStrike" kern="0" cap="none" dirty="0">
                        <a:solidFill>
                          <a:schemeClr val="bg1">
                            <a:lumMod val="95000"/>
                          </a:schemeClr>
                        </a:solidFill>
                        <a:latin typeface="Tajawal" panose="00000500000000000000" pitchFamily="2" charset="-78"/>
                        <a:ea typeface="+mj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kern="0" cap="none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Arial"/>
                        </a:rPr>
                        <a:t>MAY</a:t>
                      </a:r>
                      <a:endParaRPr lang="ar-SA" sz="700" b="1" i="0" u="none" strike="noStrike" kern="0" cap="none" dirty="0">
                        <a:solidFill>
                          <a:schemeClr val="bg1">
                            <a:lumMod val="95000"/>
                          </a:schemeClr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kern="0" cap="none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Arial"/>
                        </a:rPr>
                        <a:t>JUN</a:t>
                      </a:r>
                      <a:endParaRPr lang="ar-SA" sz="700" b="1" i="0" u="none" strike="noStrike" kern="0" cap="none" dirty="0">
                        <a:solidFill>
                          <a:schemeClr val="bg1">
                            <a:lumMod val="95000"/>
                          </a:schemeClr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kern="0" cap="none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Arial"/>
                        </a:rPr>
                        <a:t>JUL</a:t>
                      </a:r>
                      <a:endParaRPr lang="ar-SA" sz="700" b="1" i="0" u="none" strike="noStrike" kern="0" cap="none" dirty="0">
                        <a:solidFill>
                          <a:schemeClr val="bg1">
                            <a:lumMod val="95000"/>
                          </a:schemeClr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kern="0" cap="none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Arial"/>
                        </a:rPr>
                        <a:t>AUG</a:t>
                      </a:r>
                      <a:endParaRPr lang="ar-SA" sz="700" b="1" i="0" u="none" strike="noStrike" kern="0" cap="none" dirty="0">
                        <a:solidFill>
                          <a:schemeClr val="bg1">
                            <a:lumMod val="95000"/>
                          </a:schemeClr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kern="0" cap="none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Arial"/>
                        </a:rPr>
                        <a:t>SEP</a:t>
                      </a:r>
                      <a:endParaRPr lang="ar-SA" sz="700" b="1" i="0" u="none" strike="noStrike" kern="0" cap="none" dirty="0">
                        <a:solidFill>
                          <a:schemeClr val="bg1">
                            <a:lumMod val="95000"/>
                          </a:schemeClr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kern="0" cap="none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Arial"/>
                        </a:rPr>
                        <a:t>OCT</a:t>
                      </a:r>
                      <a:endParaRPr lang="ar-SA" sz="700" b="1" i="0" u="none" strike="noStrike" kern="0" cap="none" dirty="0">
                        <a:solidFill>
                          <a:schemeClr val="bg1">
                            <a:lumMod val="95000"/>
                          </a:schemeClr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kern="0" cap="none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Arial"/>
                        </a:rPr>
                        <a:t>NOV</a:t>
                      </a:r>
                      <a:endParaRPr lang="ar-SA" sz="700" b="1" i="0" u="none" strike="noStrike" kern="0" cap="none" dirty="0">
                        <a:solidFill>
                          <a:schemeClr val="bg1">
                            <a:lumMod val="95000"/>
                          </a:schemeClr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kern="0" cap="none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Arial"/>
                        </a:rPr>
                        <a:t>DEC</a:t>
                      </a:r>
                      <a:endParaRPr lang="ar-SA" sz="700" b="1" i="0" u="none" strike="noStrike" kern="0" cap="none" dirty="0">
                        <a:solidFill>
                          <a:schemeClr val="bg1">
                            <a:lumMod val="95000"/>
                          </a:schemeClr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kern="0" cap="none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ajawal" panose="00000500000000000000" pitchFamily="2" charset="-78"/>
                          <a:ea typeface="+mj-ea"/>
                          <a:cs typeface="Tajawal" panose="00000500000000000000" pitchFamily="2" charset="-78"/>
                          <a:sym typeface="Arial"/>
                        </a:rPr>
                        <a:t>JAN</a:t>
                      </a:r>
                      <a:endParaRPr sz="700" b="1" i="0" u="none" strike="noStrike" kern="0" cap="none" dirty="0">
                        <a:solidFill>
                          <a:schemeClr val="bg1">
                            <a:lumMod val="95000"/>
                          </a:schemeClr>
                        </a:solidFill>
                        <a:latin typeface="Tajawal" panose="00000500000000000000" pitchFamily="2" charset="-78"/>
                        <a:ea typeface="+mj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kern="0" cap="none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ajawal" panose="00000500000000000000" pitchFamily="2" charset="-78"/>
                          <a:ea typeface="+mj-ea"/>
                          <a:cs typeface="Tajawal" panose="00000500000000000000" pitchFamily="2" charset="-78"/>
                          <a:sym typeface="Arial"/>
                        </a:rPr>
                        <a:t>FRB</a:t>
                      </a:r>
                      <a:endParaRPr lang="ar-SA" sz="700" b="1" i="0" u="none" strike="noStrike" kern="0" cap="none" dirty="0">
                        <a:solidFill>
                          <a:schemeClr val="bg1">
                            <a:lumMod val="95000"/>
                          </a:schemeClr>
                        </a:solidFill>
                        <a:latin typeface="Tajawal" panose="00000500000000000000" pitchFamily="2" charset="-78"/>
                        <a:ea typeface="+mj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kern="0" cap="none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ajawal" panose="00000500000000000000" pitchFamily="2" charset="-78"/>
                          <a:ea typeface="+mj-ea"/>
                          <a:cs typeface="Tajawal" panose="00000500000000000000" pitchFamily="2" charset="-78"/>
                          <a:sym typeface="Arial"/>
                        </a:rPr>
                        <a:t>MAR</a:t>
                      </a:r>
                      <a:endParaRPr sz="700" b="1" i="0" u="none" strike="noStrike" kern="0" cap="none" dirty="0">
                        <a:solidFill>
                          <a:schemeClr val="bg1">
                            <a:lumMod val="95000"/>
                          </a:schemeClr>
                        </a:solidFill>
                        <a:latin typeface="Tajawal" panose="00000500000000000000" pitchFamily="2" charset="-78"/>
                        <a:ea typeface="+mj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kern="0" cap="none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Arial"/>
                        </a:rPr>
                        <a:t>APR</a:t>
                      </a:r>
                      <a:r>
                        <a:rPr lang="ar-SA" sz="700" b="1" i="0" u="none" strike="noStrike" kern="0" cap="none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Arial"/>
                        </a:rPr>
                        <a:t> 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kern="0" cap="none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Arial"/>
                        </a:rPr>
                        <a:t>MAY</a:t>
                      </a:r>
                      <a:endParaRPr lang="ar-SA" sz="700" b="1" i="0" u="none" strike="noStrike" kern="0" cap="none" dirty="0">
                        <a:solidFill>
                          <a:schemeClr val="bg1">
                            <a:lumMod val="95000"/>
                          </a:schemeClr>
                        </a:solidFill>
                        <a:latin typeface="Tajawal" panose="00000500000000000000" pitchFamily="2" charset="-78"/>
                        <a:ea typeface="+mj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kern="0" cap="none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ajawal" panose="00000500000000000000" pitchFamily="2" charset="-78"/>
                          <a:ea typeface="+mj-ea"/>
                          <a:cs typeface="Tajawal" panose="00000500000000000000" pitchFamily="2" charset="-78"/>
                          <a:sym typeface="Arial"/>
                        </a:rPr>
                        <a:t>JUN</a:t>
                      </a:r>
                      <a:endParaRPr lang="ar-SA" sz="700" b="1" i="0" u="none" strike="noStrike" kern="0" cap="none" dirty="0">
                        <a:solidFill>
                          <a:schemeClr val="bg1">
                            <a:lumMod val="95000"/>
                          </a:schemeClr>
                        </a:solidFill>
                        <a:latin typeface="Tajawal" panose="00000500000000000000" pitchFamily="2" charset="-78"/>
                        <a:ea typeface="+mj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284467"/>
                  </a:ext>
                </a:extLst>
              </a:tr>
              <a:tr h="360871"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  <a:sym typeface="Arial"/>
                        </a:rPr>
                        <a:t>11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</a:rPr>
                        <a:t>الاختبار والتدريب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Cairo" pitchFamily="2" charset="-78"/>
                        </a:rPr>
                        <a:t>اختبارات </a:t>
                      </a: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Cairo" pitchFamily="2" charset="-78"/>
                        </a:rPr>
                        <a:t> SIT &amp; UAT</a:t>
                      </a:r>
                      <a:r>
                        <a:rPr lang="ar-SA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Cairo" pitchFamily="2" charset="-78"/>
                        </a:rPr>
                        <a:t>(</a:t>
                      </a: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Cairo" pitchFamily="2" charset="-78"/>
                        </a:rPr>
                        <a:t>MVP</a:t>
                      </a:r>
                      <a:r>
                        <a:rPr lang="ar-SA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Cairo" pitchFamily="2" charset="-78"/>
                        </a:rPr>
                        <a:t>)</a:t>
                      </a:r>
                      <a:endParaRPr lang="en-US" sz="1000" b="1" kern="12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Cairo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</a:rPr>
                        <a:t>قيد التنفيذ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63E35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1" i="0" u="none" strike="noStrike" kern="1200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1" i="0" u="none" strike="noStrike" kern="1200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113960"/>
                  </a:ext>
                </a:extLst>
              </a:tr>
              <a:tr h="360871"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  <a:sym typeface="Arial"/>
                        </a:rPr>
                        <a:t>12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Cairo" pitchFamily="2" charset="-78"/>
                        </a:rPr>
                        <a:t>اختبارات </a:t>
                      </a: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Cairo" pitchFamily="2" charset="-78"/>
                        </a:rPr>
                        <a:t> SIT &amp; UAT</a:t>
                      </a:r>
                      <a:r>
                        <a:rPr lang="ar-SA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Cairo" pitchFamily="2" charset="-78"/>
                        </a:rPr>
                        <a:t>(</a:t>
                      </a: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Cairo" pitchFamily="2" charset="-78"/>
                        </a:rPr>
                        <a:t>Full Scope</a:t>
                      </a:r>
                      <a:r>
                        <a:rPr lang="ar-SA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Cairo" pitchFamily="2" charset="-78"/>
                        </a:rPr>
                        <a:t>)</a:t>
                      </a:r>
                      <a:endParaRPr lang="en-US" sz="1000" b="1" kern="12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Cairo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</a:rPr>
                        <a:t>لم يبدأ</a:t>
                      </a:r>
                      <a:endParaRPr kumimoji="0" lang="ar-SA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63E35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1" i="0" u="none" strike="noStrike" kern="1200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1" i="0" u="none" strike="noStrike" kern="1200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375092"/>
                  </a:ext>
                </a:extLst>
              </a:tr>
              <a:tr h="360871"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  <a:sym typeface="Arial"/>
                        </a:rPr>
                        <a:t>13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Cairo" pitchFamily="2" charset="-78"/>
                        </a:rPr>
                        <a:t>تدريب المستخدمين الأساسيين (</a:t>
                      </a: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Cairo" pitchFamily="2" charset="-78"/>
                        </a:rPr>
                        <a:t>MVP</a:t>
                      </a:r>
                      <a:r>
                        <a:rPr lang="ar-SA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Cairo" pitchFamily="2" charset="-78"/>
                        </a:rPr>
                        <a:t>)</a:t>
                      </a:r>
                      <a:endParaRPr lang="en-US" sz="1000" b="1" kern="12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Cairo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</a:rPr>
                        <a:t>لم يبدأ</a:t>
                      </a:r>
                      <a:endParaRPr kumimoji="0" lang="ar-SA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63E35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1" i="0" u="none" strike="noStrike" kern="1200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1" i="0" u="none" strike="noStrike" kern="1200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367351"/>
                  </a:ext>
                </a:extLst>
              </a:tr>
              <a:tr h="360871"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  <a:sym typeface="Arial"/>
                        </a:rPr>
                        <a:t>14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Cairo" pitchFamily="2" charset="-78"/>
                        </a:rPr>
                        <a:t>تدريب المستخدمين الأساسيين (</a:t>
                      </a: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Cairo" pitchFamily="2" charset="-78"/>
                        </a:rPr>
                        <a:t>Full Scope</a:t>
                      </a:r>
                      <a:r>
                        <a:rPr lang="ar-SA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Cairo" pitchFamily="2" charset="-78"/>
                        </a:rPr>
                        <a:t>)</a:t>
                      </a:r>
                      <a:endParaRPr lang="en-US" sz="1000" b="1" kern="12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Cairo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</a:rPr>
                        <a:t>لم يبدأ</a:t>
                      </a:r>
                      <a:endParaRPr kumimoji="0" lang="ar-SA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63E35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1" i="0" u="none" strike="noStrike" kern="1200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1" i="0" u="none" strike="noStrike" kern="1200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126893"/>
                  </a:ext>
                </a:extLst>
              </a:tr>
              <a:tr h="360871"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  <a:sym typeface="Arial"/>
                        </a:rPr>
                        <a:t>15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</a:rPr>
                        <a:t>إطلاق النظام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 err="1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Cairo" pitchFamily="2" charset="-78"/>
                        </a:rPr>
                        <a:t>إختبارات</a:t>
                      </a:r>
                      <a:r>
                        <a:rPr lang="ar-SA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Cairo" pitchFamily="2" charset="-78"/>
                        </a:rPr>
                        <a:t> أداء النظام والفحص الامني/</a:t>
                      </a:r>
                      <a:r>
                        <a:rPr lang="ar-SA" sz="1000" b="1" kern="1200" dirty="0" err="1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Cairo" pitchFamily="2" charset="-78"/>
                        </a:rPr>
                        <a:t>الإختراق</a:t>
                      </a:r>
                      <a:r>
                        <a:rPr lang="ar-SA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Cairo" pitchFamily="2" charset="-78"/>
                        </a:rPr>
                        <a:t> (كامل النظام)</a:t>
                      </a:r>
                      <a:endParaRPr lang="en-US" sz="1000" b="1" kern="12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Cairo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</a:rPr>
                        <a:t>لم يبدأ</a:t>
                      </a:r>
                      <a:endParaRPr kumimoji="0" lang="ar-SA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63E35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1" i="0" u="none" strike="noStrike" kern="1200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1" i="0" u="none" strike="noStrike" kern="1200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20417"/>
                  </a:ext>
                </a:extLst>
              </a:tr>
              <a:tr h="360871"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  <a:sym typeface="Arial"/>
                        </a:rPr>
                        <a:t>16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إطلاق نظام إجراءات نزلاء السجون (</a:t>
                      </a: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MVP</a:t>
                      </a:r>
                      <a:r>
                        <a:rPr lang="ar-SA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)</a:t>
                      </a:r>
                      <a:endParaRPr lang="en-US" sz="1000" b="1" kern="12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Cairo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</a:rPr>
                        <a:t>لم يبدأ</a:t>
                      </a:r>
                      <a:endParaRPr kumimoji="0" lang="ar-SA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63E35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1" i="0" u="none" strike="noStrike" kern="1200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1" i="0" u="none" strike="noStrike" kern="1200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081799"/>
                  </a:ext>
                </a:extLst>
              </a:tr>
              <a:tr h="360871"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  <a:sym typeface="Arial"/>
                        </a:rPr>
                        <a:t>17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إطلاق نظام إجراءات نزلاء السجون (</a:t>
                      </a: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Full Scope + Dashboard</a:t>
                      </a:r>
                      <a:r>
                        <a:rPr lang="ar-SA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)</a:t>
                      </a:r>
                      <a:endParaRPr lang="en-US" sz="1000" b="1" kern="12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Cairo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</a:rPr>
                        <a:t>لم يبدأ</a:t>
                      </a:r>
                      <a:endParaRPr kumimoji="0" lang="ar-SA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63E35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1" i="0" u="none" strike="noStrike" kern="1200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1" i="0" u="none" strike="noStrike" kern="1200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03992"/>
                  </a:ext>
                </a:extLst>
              </a:tr>
              <a:tr h="360871"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  <a:sym typeface="Arial"/>
                        </a:rPr>
                        <a:t>18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</a:rPr>
                        <a:t>نقل المعرفة والدعم الفني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Cairo" pitchFamily="2" charset="-78"/>
                        </a:rPr>
                        <a:t>الدعم الفني والتشغيل</a:t>
                      </a:r>
                      <a:endParaRPr lang="en-US" sz="1000" b="1" kern="12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Cairo" pitchFamily="2" charset="-78"/>
                      </a:endParaRPr>
                    </a:p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Cairo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</a:rPr>
                        <a:t>لم يبدأ</a:t>
                      </a:r>
                      <a:endParaRPr kumimoji="0" lang="ar-SA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63E35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1" i="0" u="none" strike="noStrike" kern="1200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1" i="0" u="none" strike="noStrike" kern="1200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548512"/>
                  </a:ext>
                </a:extLst>
              </a:tr>
              <a:tr h="360871"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  <a:sym typeface="Arial"/>
                        </a:rPr>
                        <a:t>19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  <a:sym typeface="Cairo" pitchFamily="2" charset="-78"/>
                        </a:rPr>
                        <a:t>نقل المعرفة وتسليم وثائق المشروع</a:t>
                      </a:r>
                      <a:endParaRPr lang="en-US" sz="1000" b="1" kern="12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Cairo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Tahoma" panose="020B0604030504040204" pitchFamily="34" charset="0"/>
                          <a:cs typeface="Tajawal" panose="00000500000000000000" pitchFamily="2" charset="-78"/>
                        </a:rPr>
                        <a:t>لم يبدأ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63E35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Tahoma" panose="020B0604030504040204" pitchFamily="34" charset="0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cap="none" noProof="0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1" i="0" u="none" strike="noStrike" kern="1200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1" i="0" u="none" strike="noStrike" kern="1200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1000" b="1" i="0" u="none" strike="noStrike" cap="none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  <a:sym typeface="Arial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363025"/>
                  </a:ext>
                </a:extLst>
              </a:tr>
            </a:tbl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id="{7B06C53D-D300-A1A7-7392-06FB99AD069F}"/>
              </a:ext>
            </a:extLst>
          </p:cNvPr>
          <p:cNvGrpSpPr/>
          <p:nvPr/>
        </p:nvGrpSpPr>
        <p:grpSpPr>
          <a:xfrm>
            <a:off x="801261" y="6464027"/>
            <a:ext cx="3336322" cy="411194"/>
            <a:chOff x="801261" y="6464027"/>
            <a:chExt cx="3336322" cy="41119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3A34332-6E02-3E3C-B85D-25A31FC1713F}"/>
                </a:ext>
              </a:extLst>
            </p:cNvPr>
            <p:cNvSpPr txBox="1"/>
            <p:nvPr/>
          </p:nvSpPr>
          <p:spPr>
            <a:xfrm>
              <a:off x="2090022" y="6598222"/>
              <a:ext cx="76138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ar-JO" sz="800" kern="0">
                  <a:solidFill>
                    <a:schemeClr val="bg1"/>
                  </a:solidFill>
                </a:rPr>
                <a:t>تم الانتهاء</a:t>
              </a:r>
              <a:endParaRPr lang="en-US" sz="800" kern="0">
                <a:solidFill>
                  <a:schemeClr val="bg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AA5844B-EC06-C4E6-8CAA-1832C1DA5F52}"/>
                </a:ext>
              </a:extLst>
            </p:cNvPr>
            <p:cNvSpPr txBox="1"/>
            <p:nvPr/>
          </p:nvSpPr>
          <p:spPr>
            <a:xfrm>
              <a:off x="2733106" y="6598222"/>
              <a:ext cx="76138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ar-JO" sz="800" kern="0">
                  <a:solidFill>
                    <a:schemeClr val="bg1"/>
                  </a:solidFill>
                </a:rPr>
                <a:t>قيد التنفيذ</a:t>
              </a:r>
              <a:endParaRPr lang="en-US" sz="800" kern="0">
                <a:solidFill>
                  <a:schemeClr val="bg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766FFC1-C3AB-BB9C-E862-A89A2AA03DB8}"/>
                </a:ext>
              </a:extLst>
            </p:cNvPr>
            <p:cNvSpPr txBox="1"/>
            <p:nvPr/>
          </p:nvSpPr>
          <p:spPr>
            <a:xfrm>
              <a:off x="3376194" y="6598222"/>
              <a:ext cx="76138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ar-JO" sz="800" kern="0">
                  <a:solidFill>
                    <a:schemeClr val="bg1"/>
                  </a:solidFill>
                </a:rPr>
                <a:t>لم تبدأ</a:t>
              </a:r>
              <a:endParaRPr lang="en-US" sz="800" kern="0">
                <a:solidFill>
                  <a:schemeClr val="bg1"/>
                </a:solidFill>
              </a:endParaRPr>
            </a:p>
          </p:txBody>
        </p:sp>
        <p:sp>
          <p:nvSpPr>
            <p:cNvPr id="18" name="Arrow: Pentagon 4">
              <a:extLst>
                <a:ext uri="{FF2B5EF4-FFF2-40B4-BE49-F238E27FC236}">
                  <a16:creationId xmlns:a16="http://schemas.microsoft.com/office/drawing/2014/main" id="{CE99D64C-4A7E-1695-6836-81A10F14CAF2}"/>
                </a:ext>
              </a:extLst>
            </p:cNvPr>
            <p:cNvSpPr/>
            <p:nvPr/>
          </p:nvSpPr>
          <p:spPr>
            <a:xfrm>
              <a:off x="2353429" y="6464027"/>
              <a:ext cx="234574" cy="97972"/>
            </a:xfrm>
            <a:prstGeom prst="homePlate">
              <a:avLst/>
            </a:prstGeom>
            <a:solidFill>
              <a:srgbClr val="048B9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</a:endParaRPr>
            </a:p>
          </p:txBody>
        </p:sp>
        <p:sp>
          <p:nvSpPr>
            <p:cNvPr id="19" name="Arrow: Pentagon 59">
              <a:extLst>
                <a:ext uri="{FF2B5EF4-FFF2-40B4-BE49-F238E27FC236}">
                  <a16:creationId xmlns:a16="http://schemas.microsoft.com/office/drawing/2014/main" id="{9AE87104-2A57-8B0A-5BE3-58CE4502EC1F}"/>
                </a:ext>
              </a:extLst>
            </p:cNvPr>
            <p:cNvSpPr/>
            <p:nvPr/>
          </p:nvSpPr>
          <p:spPr>
            <a:xfrm>
              <a:off x="2996513" y="6464027"/>
              <a:ext cx="234574" cy="97972"/>
            </a:xfrm>
            <a:prstGeom prst="homePlate">
              <a:avLst/>
            </a:prstGeom>
            <a:solidFill>
              <a:srgbClr val="00746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</a:endParaRPr>
            </a:p>
          </p:txBody>
        </p:sp>
        <p:sp>
          <p:nvSpPr>
            <p:cNvPr id="20" name="Arrow: Pentagon 60">
              <a:extLst>
                <a:ext uri="{FF2B5EF4-FFF2-40B4-BE49-F238E27FC236}">
                  <a16:creationId xmlns:a16="http://schemas.microsoft.com/office/drawing/2014/main" id="{5AC665B5-B2D3-08FD-1974-9E8213DC5F84}"/>
                </a:ext>
              </a:extLst>
            </p:cNvPr>
            <p:cNvSpPr/>
            <p:nvPr/>
          </p:nvSpPr>
          <p:spPr>
            <a:xfrm>
              <a:off x="3639601" y="6464027"/>
              <a:ext cx="234574" cy="97972"/>
            </a:xfrm>
            <a:prstGeom prst="homePlate">
              <a:avLst/>
            </a:prstGeom>
            <a:solidFill>
              <a:srgbClr val="A6A6A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3015ABB-2317-937D-9451-C379A170B115}"/>
                </a:ext>
              </a:extLst>
            </p:cNvPr>
            <p:cNvSpPr txBox="1"/>
            <p:nvPr/>
          </p:nvSpPr>
          <p:spPr>
            <a:xfrm>
              <a:off x="1425775" y="6598222"/>
              <a:ext cx="76138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ar-JO" sz="800" kern="0">
                  <a:solidFill>
                    <a:schemeClr val="bg1"/>
                  </a:solidFill>
                </a:rPr>
                <a:t>متأخر</a:t>
              </a:r>
              <a:endParaRPr lang="en-US" sz="800" kern="0">
                <a:solidFill>
                  <a:schemeClr val="bg1"/>
                </a:solidFill>
              </a:endParaRPr>
            </a:p>
          </p:txBody>
        </p:sp>
        <p:sp>
          <p:nvSpPr>
            <p:cNvPr id="22" name="Arrow: Pentagon 74">
              <a:extLst>
                <a:ext uri="{FF2B5EF4-FFF2-40B4-BE49-F238E27FC236}">
                  <a16:creationId xmlns:a16="http://schemas.microsoft.com/office/drawing/2014/main" id="{947CA11A-F040-BAB4-71A3-DD11E80DE139}"/>
                </a:ext>
              </a:extLst>
            </p:cNvPr>
            <p:cNvSpPr/>
            <p:nvPr/>
          </p:nvSpPr>
          <p:spPr>
            <a:xfrm>
              <a:off x="1689182" y="6464027"/>
              <a:ext cx="234574" cy="97972"/>
            </a:xfrm>
            <a:prstGeom prst="homePlate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4A4D3AB-3B10-A643-EEB2-E0D1840A52A2}"/>
                </a:ext>
              </a:extLst>
            </p:cNvPr>
            <p:cNvSpPr txBox="1"/>
            <p:nvPr/>
          </p:nvSpPr>
          <p:spPr>
            <a:xfrm>
              <a:off x="801261" y="6536667"/>
              <a:ext cx="76138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ar-JO" sz="800" kern="0">
                  <a:solidFill>
                    <a:schemeClr val="bg1"/>
                  </a:solidFill>
                </a:rPr>
                <a:t>متأخر مع معوقات</a:t>
              </a:r>
              <a:endParaRPr lang="en-US" sz="800" kern="0">
                <a:solidFill>
                  <a:schemeClr val="bg1"/>
                </a:solidFill>
              </a:endParaRPr>
            </a:p>
          </p:txBody>
        </p:sp>
        <p:sp>
          <p:nvSpPr>
            <p:cNvPr id="24" name="Arrow: Pentagon 4">
              <a:extLst>
                <a:ext uri="{FF2B5EF4-FFF2-40B4-BE49-F238E27FC236}">
                  <a16:creationId xmlns:a16="http://schemas.microsoft.com/office/drawing/2014/main" id="{0E3C7887-D826-A12F-AC28-EA09F512B4C5}"/>
                </a:ext>
              </a:extLst>
            </p:cNvPr>
            <p:cNvSpPr/>
            <p:nvPr/>
          </p:nvSpPr>
          <p:spPr>
            <a:xfrm>
              <a:off x="1064668" y="6464027"/>
              <a:ext cx="234574" cy="97972"/>
            </a:xfrm>
            <a:prstGeom prst="homePlate">
              <a:avLst/>
            </a:prstGeom>
            <a:solidFill>
              <a:srgbClr val="FF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</a:endParaRPr>
            </a:p>
          </p:txBody>
        </p:sp>
      </p:grp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E54B064D-4A78-8F27-A70B-A3EC7BB71AC3}"/>
              </a:ext>
            </a:extLst>
          </p:cNvPr>
          <p:cNvSpPr txBox="1">
            <a:spLocks/>
          </p:cNvSpPr>
          <p:nvPr/>
        </p:nvSpPr>
        <p:spPr>
          <a:xfrm>
            <a:off x="4476894" y="470647"/>
            <a:ext cx="3931947" cy="4182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ar-SA" b="1" dirty="0">
                <a:latin typeface="Tajawal" panose="00000500000000000000" pitchFamily="2" charset="-78"/>
                <a:cs typeface="Tajawal" panose="00000500000000000000" pitchFamily="2" charset="-78"/>
              </a:rPr>
              <a:t>الجدول الزمني للمشروع</a:t>
            </a:r>
            <a:endParaRPr lang="en-US" b="1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3" name="Arrow: Pentagon 4">
            <a:extLst>
              <a:ext uri="{FF2B5EF4-FFF2-40B4-BE49-F238E27FC236}">
                <a16:creationId xmlns:a16="http://schemas.microsoft.com/office/drawing/2014/main" id="{7C360406-2F32-BFD2-64F1-D3C39460831D}"/>
              </a:ext>
            </a:extLst>
          </p:cNvPr>
          <p:cNvSpPr/>
          <p:nvPr/>
        </p:nvSpPr>
        <p:spPr>
          <a:xfrm flipH="1" flipV="1">
            <a:off x="3075709" y="2373434"/>
            <a:ext cx="704651" cy="159177"/>
          </a:xfrm>
          <a:prstGeom prst="homePlate">
            <a:avLst/>
          </a:prstGeom>
          <a:solidFill>
            <a:srgbClr val="A6A6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endParaRPr lang="en-US" sz="800" b="1" kern="0">
              <a:solidFill>
                <a:prstClr val="white"/>
              </a:solidFill>
              <a:cs typeface="Arial" panose="020B0604020202020204" pitchFamily="34" charset="0"/>
            </a:endParaRPr>
          </a:p>
        </p:txBody>
      </p:sp>
      <p:sp>
        <p:nvSpPr>
          <p:cNvPr id="4" name="Arrow: Pentagon 4">
            <a:extLst>
              <a:ext uri="{FF2B5EF4-FFF2-40B4-BE49-F238E27FC236}">
                <a16:creationId xmlns:a16="http://schemas.microsoft.com/office/drawing/2014/main" id="{8D048C40-DE76-0F1C-409F-D1250FE28D64}"/>
              </a:ext>
            </a:extLst>
          </p:cNvPr>
          <p:cNvSpPr/>
          <p:nvPr/>
        </p:nvSpPr>
        <p:spPr>
          <a:xfrm flipH="1" flipV="1">
            <a:off x="6350923" y="2736989"/>
            <a:ext cx="124298" cy="163460"/>
          </a:xfrm>
          <a:prstGeom prst="homePlate">
            <a:avLst/>
          </a:prstGeom>
          <a:solidFill>
            <a:srgbClr val="A6A6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endParaRPr lang="en-US" sz="800" b="1" kern="0">
              <a:solidFill>
                <a:prstClr val="white"/>
              </a:solidFill>
              <a:cs typeface="Arial" panose="020B0604020202020204" pitchFamily="34" charset="0"/>
            </a:endParaRPr>
          </a:p>
        </p:txBody>
      </p:sp>
      <p:sp>
        <p:nvSpPr>
          <p:cNvPr id="6" name="Arrow: Pentagon 4">
            <a:extLst>
              <a:ext uri="{FF2B5EF4-FFF2-40B4-BE49-F238E27FC236}">
                <a16:creationId xmlns:a16="http://schemas.microsoft.com/office/drawing/2014/main" id="{D92EE8F8-EB31-097C-1AA1-4432C604E056}"/>
              </a:ext>
            </a:extLst>
          </p:cNvPr>
          <p:cNvSpPr/>
          <p:nvPr/>
        </p:nvSpPr>
        <p:spPr>
          <a:xfrm flipH="1" flipV="1">
            <a:off x="2937164" y="3157093"/>
            <a:ext cx="200108" cy="159177"/>
          </a:xfrm>
          <a:prstGeom prst="homePlate">
            <a:avLst/>
          </a:prstGeom>
          <a:solidFill>
            <a:srgbClr val="A6A6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endParaRPr lang="en-US" sz="800" b="1" kern="0">
              <a:solidFill>
                <a:prstClr val="white"/>
              </a:solidFill>
              <a:cs typeface="Arial" panose="020B0604020202020204" pitchFamily="34" charset="0"/>
            </a:endParaRPr>
          </a:p>
        </p:txBody>
      </p:sp>
      <p:sp>
        <p:nvSpPr>
          <p:cNvPr id="37" name="Diamond 36">
            <a:extLst>
              <a:ext uri="{FF2B5EF4-FFF2-40B4-BE49-F238E27FC236}">
                <a16:creationId xmlns:a16="http://schemas.microsoft.com/office/drawing/2014/main" id="{DAE07562-F88E-6ADC-6685-D0E9D4584D7E}"/>
              </a:ext>
            </a:extLst>
          </p:cNvPr>
          <p:cNvSpPr/>
          <p:nvPr/>
        </p:nvSpPr>
        <p:spPr bwMode="auto">
          <a:xfrm>
            <a:off x="6281982" y="3957552"/>
            <a:ext cx="137882" cy="144463"/>
          </a:xfrm>
          <a:prstGeom prst="diamond">
            <a:avLst/>
          </a:prstGeom>
          <a:solidFill>
            <a:schemeClr val="tx2"/>
          </a:solidFill>
          <a:ln>
            <a:noFill/>
          </a:ln>
          <a:effectLst/>
        </p:spPr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Wingdings" pitchFamily="2" charset="2"/>
              <a:buNone/>
            </a:pPr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73DC0F-1DD3-15DF-C0D2-1DD5E445C35C}"/>
              </a:ext>
            </a:extLst>
          </p:cNvPr>
          <p:cNvSpPr txBox="1"/>
          <p:nvPr/>
        </p:nvSpPr>
        <p:spPr>
          <a:xfrm>
            <a:off x="4660670" y="3913909"/>
            <a:ext cx="169025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050" dirty="0">
                <a:latin typeface="Tajawal" panose="00000500000000000000" pitchFamily="2" charset="-78"/>
                <a:cs typeface="Tajawal" panose="00000500000000000000" pitchFamily="2" charset="-78"/>
              </a:rPr>
              <a:t>إطلاق المرحلة الأولى (</a:t>
            </a:r>
            <a:r>
              <a:rPr lang="en-US" sz="1050" dirty="0">
                <a:latin typeface="Tajawal" panose="00000500000000000000" pitchFamily="2" charset="-78"/>
                <a:cs typeface="Tajawal" panose="00000500000000000000" pitchFamily="2" charset="-78"/>
              </a:rPr>
              <a:t>MVP</a:t>
            </a:r>
            <a:r>
              <a:rPr lang="ar-SA" sz="1050" dirty="0">
                <a:latin typeface="Tajawal" panose="00000500000000000000" pitchFamily="2" charset="-78"/>
                <a:cs typeface="Tajawal" panose="00000500000000000000" pitchFamily="2" charset="-78"/>
              </a:rPr>
              <a:t>)</a:t>
            </a:r>
            <a:endParaRPr lang="en-US" sz="105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9F1B1FBA-5F0B-CD97-4BF8-0BE7DC24B35F}"/>
              </a:ext>
            </a:extLst>
          </p:cNvPr>
          <p:cNvSpPr/>
          <p:nvPr/>
        </p:nvSpPr>
        <p:spPr bwMode="auto">
          <a:xfrm>
            <a:off x="2749404" y="4399041"/>
            <a:ext cx="137882" cy="144463"/>
          </a:xfrm>
          <a:prstGeom prst="diamond">
            <a:avLst/>
          </a:prstGeom>
          <a:solidFill>
            <a:schemeClr val="tx2"/>
          </a:solidFill>
          <a:ln>
            <a:noFill/>
          </a:ln>
          <a:effectLst/>
        </p:spPr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Wingdings" pitchFamily="2" charset="2"/>
              <a:buNone/>
            </a:pPr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DAEE5C-D032-F168-8BDB-A8F28C44F1E1}"/>
              </a:ext>
            </a:extLst>
          </p:cNvPr>
          <p:cNvSpPr txBox="1"/>
          <p:nvPr/>
        </p:nvSpPr>
        <p:spPr>
          <a:xfrm>
            <a:off x="615140" y="4355398"/>
            <a:ext cx="220320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050" dirty="0">
                <a:latin typeface="Tajawal" panose="00000500000000000000" pitchFamily="2" charset="-78"/>
                <a:cs typeface="Tajawal" panose="00000500000000000000" pitchFamily="2" charset="-78"/>
              </a:rPr>
              <a:t>إطلاق المرحلة الثانية (</a:t>
            </a:r>
            <a:r>
              <a:rPr lang="en-US" sz="1050" dirty="0">
                <a:latin typeface="Tajawal" panose="00000500000000000000" pitchFamily="2" charset="-78"/>
                <a:cs typeface="Tajawal" panose="00000500000000000000" pitchFamily="2" charset="-78"/>
              </a:rPr>
              <a:t>Full Scope</a:t>
            </a:r>
            <a:r>
              <a:rPr lang="ar-SA" sz="1050" dirty="0">
                <a:latin typeface="Tajawal" panose="00000500000000000000" pitchFamily="2" charset="-78"/>
                <a:cs typeface="Tajawal" panose="00000500000000000000" pitchFamily="2" charset="-78"/>
              </a:rPr>
              <a:t>)</a:t>
            </a:r>
            <a:endParaRPr lang="en-US" sz="105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0" name="Arrow: Pentagon 4">
            <a:extLst>
              <a:ext uri="{FF2B5EF4-FFF2-40B4-BE49-F238E27FC236}">
                <a16:creationId xmlns:a16="http://schemas.microsoft.com/office/drawing/2014/main" id="{67A25A5E-A4D5-1F43-F9CD-DA6850711FFD}"/>
              </a:ext>
            </a:extLst>
          </p:cNvPr>
          <p:cNvSpPr/>
          <p:nvPr/>
        </p:nvSpPr>
        <p:spPr>
          <a:xfrm flipH="1" flipV="1">
            <a:off x="2812866" y="3559866"/>
            <a:ext cx="124298" cy="163460"/>
          </a:xfrm>
          <a:prstGeom prst="homePlate">
            <a:avLst/>
          </a:prstGeom>
          <a:solidFill>
            <a:srgbClr val="A6A6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endParaRPr lang="en-US" sz="800" b="1" kern="0">
              <a:solidFill>
                <a:prstClr val="white"/>
              </a:solidFill>
              <a:cs typeface="Arial" panose="020B0604020202020204" pitchFamily="34" charset="0"/>
            </a:endParaRPr>
          </a:p>
        </p:txBody>
      </p:sp>
      <p:sp>
        <p:nvSpPr>
          <p:cNvPr id="11" name="Arrow: Pentagon 4">
            <a:extLst>
              <a:ext uri="{FF2B5EF4-FFF2-40B4-BE49-F238E27FC236}">
                <a16:creationId xmlns:a16="http://schemas.microsoft.com/office/drawing/2014/main" id="{4D0FA9C4-1AD4-ADD5-84A4-6A9AB9661C60}"/>
              </a:ext>
            </a:extLst>
          </p:cNvPr>
          <p:cNvSpPr/>
          <p:nvPr/>
        </p:nvSpPr>
        <p:spPr>
          <a:xfrm flipH="1" flipV="1">
            <a:off x="1064667" y="4892190"/>
            <a:ext cx="5281553" cy="159177"/>
          </a:xfrm>
          <a:prstGeom prst="homePlate">
            <a:avLst/>
          </a:prstGeom>
          <a:solidFill>
            <a:srgbClr val="A6A6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endParaRPr lang="en-US" sz="800" b="1" kern="0">
              <a:solidFill>
                <a:prstClr val="white"/>
              </a:solidFill>
              <a:cs typeface="Arial" panose="020B0604020202020204" pitchFamily="34" charset="0"/>
            </a:endParaRPr>
          </a:p>
        </p:txBody>
      </p:sp>
      <p:sp>
        <p:nvSpPr>
          <p:cNvPr id="12" name="Arrow: Pentagon 4">
            <a:extLst>
              <a:ext uri="{FF2B5EF4-FFF2-40B4-BE49-F238E27FC236}">
                <a16:creationId xmlns:a16="http://schemas.microsoft.com/office/drawing/2014/main" id="{354C2ACF-8FD2-3029-5414-7903B025CC38}"/>
              </a:ext>
            </a:extLst>
          </p:cNvPr>
          <p:cNvSpPr/>
          <p:nvPr/>
        </p:nvSpPr>
        <p:spPr>
          <a:xfrm flipH="1" flipV="1">
            <a:off x="2477192" y="5276835"/>
            <a:ext cx="317479" cy="171601"/>
          </a:xfrm>
          <a:prstGeom prst="homePlate">
            <a:avLst/>
          </a:prstGeom>
          <a:solidFill>
            <a:srgbClr val="A6A6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endParaRPr lang="en-US" sz="800" b="1" kern="0">
              <a:solidFill>
                <a:prstClr val="white"/>
              </a:solidFill>
              <a:cs typeface="Arial" panose="020B0604020202020204" pitchFamily="34" charset="0"/>
            </a:endParaRPr>
          </a:p>
        </p:txBody>
      </p:sp>
      <p:sp>
        <p:nvSpPr>
          <p:cNvPr id="13" name="Arrow: Pentagon 4">
            <a:extLst>
              <a:ext uri="{FF2B5EF4-FFF2-40B4-BE49-F238E27FC236}">
                <a16:creationId xmlns:a16="http://schemas.microsoft.com/office/drawing/2014/main" id="{8C0010DC-E919-C12D-C7FB-2174D814844A}"/>
              </a:ext>
            </a:extLst>
          </p:cNvPr>
          <p:cNvSpPr/>
          <p:nvPr/>
        </p:nvSpPr>
        <p:spPr>
          <a:xfrm flipH="1" flipV="1">
            <a:off x="5791200" y="2026101"/>
            <a:ext cx="792426" cy="163460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endParaRPr lang="en-US" sz="800" b="1" kern="0">
              <a:solidFill>
                <a:prstClr val="white"/>
              </a:solidFill>
              <a:cs typeface="Arial" panose="020B0604020202020204" pitchFamily="34" charset="0"/>
            </a:endParaRPr>
          </a:p>
        </p:txBody>
      </p:sp>
      <p:sp>
        <p:nvSpPr>
          <p:cNvPr id="25" name="Arrow: Pentagon 4">
            <a:extLst>
              <a:ext uri="{FF2B5EF4-FFF2-40B4-BE49-F238E27FC236}">
                <a16:creationId xmlns:a16="http://schemas.microsoft.com/office/drawing/2014/main" id="{CCE77BFD-2C50-157D-45B3-D6BA415A81AB}"/>
              </a:ext>
            </a:extLst>
          </p:cNvPr>
          <p:cNvSpPr/>
          <p:nvPr/>
        </p:nvSpPr>
        <p:spPr>
          <a:xfrm flipH="1" flipV="1">
            <a:off x="6442867" y="2029041"/>
            <a:ext cx="281518" cy="163460"/>
          </a:xfrm>
          <a:prstGeom prst="homePlate">
            <a:avLst/>
          </a:prstGeom>
          <a:solidFill>
            <a:srgbClr val="F04C3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endParaRPr lang="en-US" sz="800" b="1" kern="0">
              <a:solidFill>
                <a:prstClr val="white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5955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2F657850-5D14-072A-4C88-EA1CCB732BC2}"/>
              </a:ext>
            </a:extLst>
          </p:cNvPr>
          <p:cNvSpPr txBox="1">
            <a:spLocks/>
          </p:cNvSpPr>
          <p:nvPr/>
        </p:nvSpPr>
        <p:spPr>
          <a:xfrm>
            <a:off x="6026332" y="2472986"/>
            <a:ext cx="5556068" cy="168342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1" kern="1200">
                <a:solidFill>
                  <a:schemeClr val="accent2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ar-SA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المخاطر / التحديات</a:t>
            </a:r>
            <a:endParaRPr lang="en-US" dirty="0">
              <a:solidFill>
                <a:schemeClr val="bg1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A627EB-940D-A70F-CE2D-459C357D6C8D}"/>
              </a:ext>
            </a:extLst>
          </p:cNvPr>
          <p:cNvSpPr txBox="1"/>
          <p:nvPr/>
        </p:nvSpPr>
        <p:spPr>
          <a:xfrm>
            <a:off x="609600" y="4000143"/>
            <a:ext cx="2133918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IN Next LT Arabic"/>
                <a:cs typeface="ntaqat"/>
              </a:rPr>
              <a:t>0</a:t>
            </a:r>
            <a:r>
              <a:rPr lang="ar-SA" sz="15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IN Next LT Arabic"/>
                <a:cs typeface="ntaqat"/>
              </a:rPr>
              <a:t>3</a:t>
            </a:r>
            <a:endParaRPr kumimoji="0" lang="en-US" sz="15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DIN Next LT Arabic"/>
              <a:ea typeface="+mn-ea"/>
              <a:cs typeface="ntaqat"/>
            </a:endParaRPr>
          </a:p>
        </p:txBody>
      </p:sp>
    </p:spTree>
    <p:extLst>
      <p:ext uri="{BB962C8B-B14F-4D97-AF65-F5344CB8AC3E}">
        <p14:creationId xmlns:p14="http://schemas.microsoft.com/office/powerpoint/2010/main" val="284637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6080FC2-E039-78C6-B86B-C4B8EA0E6397}"/>
              </a:ext>
            </a:extLst>
          </p:cNvPr>
          <p:cNvSpPr txBox="1">
            <a:spLocks/>
          </p:cNvSpPr>
          <p:nvPr/>
        </p:nvSpPr>
        <p:spPr>
          <a:xfrm>
            <a:off x="11431560" y="6433840"/>
            <a:ext cx="442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en-US" sz="1100" b="0" i="0" kern="1200" smtClean="0">
                <a:solidFill>
                  <a:srgbClr val="173C69"/>
                </a:solidFill>
                <a:latin typeface="DIN Next LT Arabic Medium" panose="020B0503020203050203" pitchFamily="34" charset="-78"/>
                <a:ea typeface="Bahij TheSansArabic Plain" charset="0"/>
                <a:cs typeface="DIN Next LT Arabic Medium" panose="020B0503020203050203" pitchFamily="34" charset="-78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14BB5C-DD13-40B9-AE81-E3136D21A8E4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3C69"/>
                </a:solidFill>
                <a:effectLst/>
                <a:uLnTx/>
                <a:uFillTx/>
                <a:latin typeface="DIN Next LT Arabic Medium" panose="020B0503020203050203" pitchFamily="34" charset="-78"/>
                <a:cs typeface="DIN Next LT Arabic Medium" panose="020B0503020203050203" pitchFamily="34" charset="-78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173C69"/>
              </a:solidFill>
              <a:effectLst/>
              <a:uLnTx/>
              <a:uFillTx/>
              <a:latin typeface="DIN Next LT Arabic Medium" panose="020B0503020203050203" pitchFamily="34" charset="-78"/>
              <a:cs typeface="DIN Next LT Arabic Medium" panose="020B0503020203050203" pitchFamily="34" charset="-78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5D7F4BF-25A8-8B76-1AFA-DC45F3097A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411783"/>
              </p:ext>
            </p:extLst>
          </p:nvPr>
        </p:nvGraphicFramePr>
        <p:xfrm>
          <a:off x="129752" y="1323391"/>
          <a:ext cx="11744248" cy="3297276"/>
        </p:xfrm>
        <a:graphic>
          <a:graphicData uri="http://schemas.openxmlformats.org/drawingml/2006/table">
            <a:tbl>
              <a:tblPr rtl="1"/>
              <a:tblGrid>
                <a:gridCol w="395284">
                  <a:extLst>
                    <a:ext uri="{9D8B030D-6E8A-4147-A177-3AD203B41FA5}">
                      <a16:colId xmlns:a16="http://schemas.microsoft.com/office/drawing/2014/main" val="3084839455"/>
                    </a:ext>
                  </a:extLst>
                </a:gridCol>
                <a:gridCol w="2446031">
                  <a:extLst>
                    <a:ext uri="{9D8B030D-6E8A-4147-A177-3AD203B41FA5}">
                      <a16:colId xmlns:a16="http://schemas.microsoft.com/office/drawing/2014/main" val="3538399608"/>
                    </a:ext>
                  </a:extLst>
                </a:gridCol>
                <a:gridCol w="732272">
                  <a:extLst>
                    <a:ext uri="{9D8B030D-6E8A-4147-A177-3AD203B41FA5}">
                      <a16:colId xmlns:a16="http://schemas.microsoft.com/office/drawing/2014/main" val="1117559397"/>
                    </a:ext>
                  </a:extLst>
                </a:gridCol>
                <a:gridCol w="740006">
                  <a:extLst>
                    <a:ext uri="{9D8B030D-6E8A-4147-A177-3AD203B41FA5}">
                      <a16:colId xmlns:a16="http://schemas.microsoft.com/office/drawing/2014/main" val="1786511032"/>
                    </a:ext>
                  </a:extLst>
                </a:gridCol>
                <a:gridCol w="936987">
                  <a:extLst>
                    <a:ext uri="{9D8B030D-6E8A-4147-A177-3AD203B41FA5}">
                      <a16:colId xmlns:a16="http://schemas.microsoft.com/office/drawing/2014/main" val="3477820403"/>
                    </a:ext>
                  </a:extLst>
                </a:gridCol>
                <a:gridCol w="899720">
                  <a:extLst>
                    <a:ext uri="{9D8B030D-6E8A-4147-A177-3AD203B41FA5}">
                      <a16:colId xmlns:a16="http://schemas.microsoft.com/office/drawing/2014/main" val="1756986282"/>
                    </a:ext>
                  </a:extLst>
                </a:gridCol>
                <a:gridCol w="692092">
                  <a:extLst>
                    <a:ext uri="{9D8B030D-6E8A-4147-A177-3AD203B41FA5}">
                      <a16:colId xmlns:a16="http://schemas.microsoft.com/office/drawing/2014/main" val="304140057"/>
                    </a:ext>
                  </a:extLst>
                </a:gridCol>
                <a:gridCol w="2284209">
                  <a:extLst>
                    <a:ext uri="{9D8B030D-6E8A-4147-A177-3AD203B41FA5}">
                      <a16:colId xmlns:a16="http://schemas.microsoft.com/office/drawing/2014/main" val="606843151"/>
                    </a:ext>
                  </a:extLst>
                </a:gridCol>
                <a:gridCol w="950249">
                  <a:extLst>
                    <a:ext uri="{9D8B030D-6E8A-4147-A177-3AD203B41FA5}">
                      <a16:colId xmlns:a16="http://schemas.microsoft.com/office/drawing/2014/main" val="123063880"/>
                    </a:ext>
                  </a:extLst>
                </a:gridCol>
                <a:gridCol w="824016">
                  <a:extLst>
                    <a:ext uri="{9D8B030D-6E8A-4147-A177-3AD203B41FA5}">
                      <a16:colId xmlns:a16="http://schemas.microsoft.com/office/drawing/2014/main" val="1051928365"/>
                    </a:ext>
                  </a:extLst>
                </a:gridCol>
                <a:gridCol w="843382">
                  <a:extLst>
                    <a:ext uri="{9D8B030D-6E8A-4147-A177-3AD203B41FA5}">
                      <a16:colId xmlns:a16="http://schemas.microsoft.com/office/drawing/2014/main" val="3838902602"/>
                    </a:ext>
                  </a:extLst>
                </a:gridCol>
              </a:tblGrid>
              <a:tr h="3295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9pPr>
                    </a:lstStyle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#</a:t>
                      </a: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94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9pPr>
                    </a:lstStyle>
                    <a:p>
                      <a:pPr algn="ctr" fontAlgn="ctr"/>
                      <a:r>
                        <a:rPr lang="ar-JO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وصف الخطر / </a:t>
                      </a:r>
                      <a:r>
                        <a:rPr lang="ar-SA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التحدي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94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r-SA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التصنيف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94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9pPr>
                    </a:lstStyle>
                    <a:p>
                      <a:pPr algn="ctr" fontAlgn="ctr"/>
                      <a:r>
                        <a:rPr lang="ar-JO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النطاق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94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9pPr>
                    </a:lstStyle>
                    <a:p>
                      <a:pPr algn="ctr" fontAlgn="ctr"/>
                      <a:r>
                        <a:rPr lang="ar-JO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الفئة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94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9pPr>
                    </a:lstStyle>
                    <a:p>
                      <a:pPr algn="ctr" fontAlgn="ctr"/>
                      <a:r>
                        <a:rPr lang="ar-JO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الاحتمالية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94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9pPr>
                    </a:lstStyle>
                    <a:p>
                      <a:pPr algn="ctr" fontAlgn="ctr"/>
                      <a:r>
                        <a:rPr lang="ar-JO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التأثير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94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9pPr>
                    </a:lstStyle>
                    <a:p>
                      <a:pPr algn="ctr" fontAlgn="ctr"/>
                      <a:r>
                        <a:rPr lang="ar-JO" sz="900" b="1" strike="noStrike" kern="100" dirty="0">
                          <a:solidFill>
                            <a:schemeClr val="bg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خطة المعالجة</a:t>
                      </a:r>
                      <a:endParaRPr lang="en-US" sz="900" b="1" strike="noStrike" kern="100" dirty="0">
                        <a:solidFill>
                          <a:schemeClr val="bg1"/>
                        </a:solidFill>
                        <a:effectLst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94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r-SA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تاريخ الإغلاق المستهدف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94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9pPr>
                    </a:lstStyle>
                    <a:p>
                      <a:pPr algn="ctr" fontAlgn="ctr"/>
                      <a:r>
                        <a:rPr lang="ar-JO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المسؤول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94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r-JO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الحالة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9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802366"/>
                  </a:ext>
                </a:extLst>
              </a:tr>
              <a:tr h="681984">
                <a:tc>
                  <a:txBody>
                    <a:bodyPr/>
                    <a:lstStyle/>
                    <a:p>
                      <a:pPr marL="0" marR="0" algn="ctr" rtl="1">
                        <a:buNone/>
                      </a:pPr>
                      <a:r>
                        <a:rPr lang="en-US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Careem" panose="00000500000000000000" pitchFamily="50" charset="-78"/>
                          <a:cs typeface="Tajawal" panose="00000500000000000000" pitchFamily="2" charset="-78"/>
                        </a:rPr>
                        <a:t>1</a:t>
                      </a: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buNone/>
                      </a:pP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Careem" panose="00000500000000000000" pitchFamily="50" charset="-78"/>
                          <a:cs typeface="Tajawal" panose="00000500000000000000" pitchFamily="2" charset="-78"/>
                        </a:rPr>
                        <a:t>عدم جاهزية بيئات العمل التشغيلية</a:t>
                      </a:r>
                      <a:endParaRPr lang="en-US" sz="9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80250" marR="80250" marT="40125" marB="401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buNone/>
                      </a:pP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Careem" panose="00000500000000000000" pitchFamily="50" charset="-78"/>
                          <a:cs typeface="Tajawal" panose="00000500000000000000" pitchFamily="2" charset="-78"/>
                        </a:rPr>
                        <a:t>تحدي</a:t>
                      </a:r>
                      <a:endParaRPr lang="en-US" sz="9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buNone/>
                      </a:pP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Careem" panose="00000500000000000000" pitchFamily="50" charset="-78"/>
                          <a:cs typeface="Tajawal" panose="00000500000000000000" pitchFamily="2" charset="-78"/>
                        </a:rPr>
                        <a:t>الجدول الزمني</a:t>
                      </a:r>
                      <a:endParaRPr lang="en-US" sz="9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Careem" panose="00000500000000000000" pitchFamily="50" charset="-78"/>
                          <a:cs typeface="Tajawal" panose="00000500000000000000" pitchFamily="2" charset="-78"/>
                        </a:rPr>
                        <a:t>متطلبات تقنية</a:t>
                      </a:r>
                      <a:endParaRPr lang="en-US" sz="9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Careem" panose="00000500000000000000" pitchFamily="50" charset="-78"/>
                          <a:cs typeface="Tajawal" panose="00000500000000000000" pitchFamily="2" charset="-78"/>
                        </a:rPr>
                        <a:t>عالي</a:t>
                      </a:r>
                      <a:endParaRPr lang="en-US" sz="9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buNone/>
                      </a:pP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Careem" panose="00000500000000000000" pitchFamily="50" charset="-78"/>
                          <a:cs typeface="Tajawal" panose="00000500000000000000" pitchFamily="2" charset="-78"/>
                        </a:rPr>
                        <a:t>عالي</a:t>
                      </a:r>
                      <a:endParaRPr lang="en-US" sz="9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2860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>
                          <a:srgbClr val="D7AD3A"/>
                        </a:buClr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ar-SA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استكمال تجهيز البي</a:t>
                      </a: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ئة </a:t>
                      </a:r>
                      <a:r>
                        <a:rPr lang="ar-SA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التشغيلية</a:t>
                      </a:r>
                      <a:r>
                        <a:rPr lang="en-US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 </a:t>
                      </a: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 بشكل عاجل وأستكمال المتطلبات التقنية </a:t>
                      </a:r>
                      <a:r>
                        <a:rPr lang="ar-LB" sz="900" b="1" kern="100" dirty="0">
                          <a:solidFill>
                            <a:srgbClr val="2D2D0E"/>
                          </a:solidFill>
                          <a:cs typeface="Tajawal" panose="00000500000000000000"/>
                        </a:rPr>
                        <a:t>والتي تشمل (تجهيز خادم </a:t>
                      </a:r>
                      <a:r>
                        <a:rPr lang="en-US" sz="900" b="1" kern="100" dirty="0">
                          <a:solidFill>
                            <a:srgbClr val="2D2D0E"/>
                          </a:solidFill>
                          <a:cs typeface="Tajawal" panose="00000500000000000000"/>
                        </a:rPr>
                        <a:t>ADFS، </a:t>
                      </a:r>
                      <a:r>
                        <a:rPr lang="ar-LB" sz="900" b="1" kern="100" dirty="0">
                          <a:solidFill>
                            <a:srgbClr val="2D2D0E"/>
                          </a:solidFill>
                          <a:cs typeface="Tajawal" panose="00000500000000000000"/>
                        </a:rPr>
                        <a:t>إعدادات </a:t>
                      </a:r>
                      <a:r>
                        <a:rPr lang="en-US" sz="900" b="1" kern="100" dirty="0">
                          <a:solidFill>
                            <a:srgbClr val="2D2D0E"/>
                          </a:solidFill>
                          <a:cs typeface="Tajawal" panose="00000500000000000000"/>
                        </a:rPr>
                        <a:t>SPN، </a:t>
                      </a:r>
                      <a:r>
                        <a:rPr lang="ar-LB" sz="900" b="1" kern="100" dirty="0">
                          <a:solidFill>
                            <a:srgbClr val="2D2D0E"/>
                          </a:solidFill>
                          <a:cs typeface="Tajawal" panose="00000500000000000000"/>
                        </a:rPr>
                        <a:t>وتجهيز المنافذ)</a:t>
                      </a:r>
                      <a:endParaRPr lang="en-US" sz="900" b="1" kern="100" dirty="0">
                        <a:solidFill>
                          <a:srgbClr val="2D2D0E"/>
                        </a:solidFill>
                        <a:cs typeface="Tajawal" panose="00000500000000000000"/>
                      </a:endParaRPr>
                    </a:p>
                  </a:txBody>
                  <a:tcPr marL="80250" marR="80250" marT="40125" marB="401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900" b="1" strike="sng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11 فبراير 2026</a:t>
                      </a:r>
                    </a:p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strike="sng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19</a:t>
                      </a:r>
                      <a:r>
                        <a:rPr lang="ar-LB" sz="900" b="1" strike="sng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 فبراير 2026</a:t>
                      </a:r>
                    </a:p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900" b="1" strike="sng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05 مارس 2026</a:t>
                      </a:r>
                    </a:p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900" b="1" strike="sng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15 مارس2026 </a:t>
                      </a:r>
                    </a:p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900" b="1" u="sng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5 أبريل 2026</a:t>
                      </a:r>
                      <a:endParaRPr lang="en-US" sz="900" b="1" u="sng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23 أبريل 2026</a:t>
                      </a:r>
                      <a:endParaRPr lang="en-US" sz="9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نايف السبيعي </a:t>
                      </a:r>
                      <a:r>
                        <a:rPr lang="en-US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(PGD)</a:t>
                      </a:r>
                      <a:endParaRPr lang="ar-LB" sz="9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قيد المعالجة</a:t>
                      </a:r>
                      <a:endParaRPr lang="en-US" sz="9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027175"/>
                  </a:ext>
                </a:extLst>
              </a:tr>
              <a:tr h="681984">
                <a:tc>
                  <a:txBody>
                    <a:bodyPr/>
                    <a:lstStyle/>
                    <a:p>
                      <a:pPr marL="0" marR="0" algn="ctr" rtl="1">
                        <a:buNone/>
                      </a:pP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Careem" panose="00000500000000000000" pitchFamily="50" charset="-78"/>
                          <a:cs typeface="Tajawal" panose="00000500000000000000" pitchFamily="2" charset="-78"/>
                        </a:rPr>
                        <a:t>2</a:t>
                      </a:r>
                      <a:endParaRPr lang="en-US" sz="9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عدم </a:t>
                      </a:r>
                      <a:r>
                        <a:rPr lang="ar-SA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الالتزام بالجدول الزمني المعتمد</a:t>
                      </a:r>
                      <a:endParaRPr lang="en-US" sz="9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80250" marR="80250" marT="40125" marB="401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buNone/>
                      </a:pP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Careem" panose="00000500000000000000" pitchFamily="50" charset="-78"/>
                          <a:cs typeface="Tajawal" panose="00000500000000000000" pitchFamily="2" charset="-78"/>
                        </a:rPr>
                        <a:t>تحدي</a:t>
                      </a:r>
                      <a:endParaRPr lang="en-US" sz="9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Careem" panose="00000500000000000000" pitchFamily="50" charset="-78"/>
                          <a:cs typeface="Tajawal" panose="00000500000000000000" pitchFamily="2" charset="-78"/>
                        </a:rPr>
                        <a:t>الجدول الزمني</a:t>
                      </a:r>
                      <a:endParaRPr lang="en-US" sz="9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Careem" panose="00000500000000000000" pitchFamily="50" charset="-78"/>
                          <a:cs typeface="Tajawal" panose="00000500000000000000" pitchFamily="2" charset="-78"/>
                        </a:rPr>
                        <a:t>إدارة المشروع</a:t>
                      </a:r>
                      <a:endParaRPr lang="en-US" sz="9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Careem" panose="00000500000000000000" pitchFamily="50" charset="-78"/>
                          <a:cs typeface="Tajawal" panose="00000500000000000000" pitchFamily="2" charset="-78"/>
                        </a:rPr>
                        <a:t>عالي</a:t>
                      </a:r>
                      <a:endParaRPr lang="en-US" sz="9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buNone/>
                      </a:pP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Careem" panose="00000500000000000000" pitchFamily="50" charset="-78"/>
                          <a:cs typeface="Tajawal" panose="00000500000000000000" pitchFamily="2" charset="-78"/>
                        </a:rPr>
                        <a:t>عالي</a:t>
                      </a:r>
                      <a:endParaRPr lang="en-US" sz="9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Careem" panose="00000500000000000000" pitchFamily="50" charset="-78"/>
                          <a:cs typeface="Tajawal" panose="00000500000000000000" pitchFamily="2" charset="-78"/>
                        </a:rPr>
                        <a:t>المتابعة الدورية مع أصحاب المصلحة، والتصعيد المبكر في حال وجود أي تأخير مؤثر على الجدول الزمني المعتمد.</a:t>
                      </a:r>
                      <a:endParaRPr lang="en-US" sz="9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تنفيذ بعض أنشطة المشروع بشكل متوازي لتسريع تنفيذ الأعمال</a:t>
                      </a:r>
                      <a:endParaRPr lang="en-US" sz="9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80250" marR="80250" marT="40125" marB="401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مستمر</a:t>
                      </a:r>
                      <a:endParaRPr lang="en-US" sz="9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طوعة السندي</a:t>
                      </a:r>
                      <a:endParaRPr lang="en-US" sz="9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معاذ البكر</a:t>
                      </a: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قيد المعالجة</a:t>
                      </a:r>
                      <a:endParaRPr lang="en-US" sz="9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127274"/>
                  </a:ext>
                </a:extLst>
              </a:tr>
              <a:tr h="681984">
                <a:tc>
                  <a:txBody>
                    <a:bodyPr/>
                    <a:lstStyle/>
                    <a:p>
                      <a:pPr marL="0" marR="0" algn="ctr" rtl="1">
                        <a:buNone/>
                      </a:pPr>
                      <a:r>
                        <a:rPr lang="en-US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Careem" panose="00000500000000000000" pitchFamily="50" charset="-78"/>
                          <a:cs typeface="Tajawal" panose="00000500000000000000" pitchFamily="2" charset="-78"/>
                        </a:rPr>
                        <a:t>3</a:t>
                      </a: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التأخير في تفعيل رخص </a:t>
                      </a:r>
                      <a:r>
                        <a:rPr lang="en-US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Microsoft </a:t>
                      </a: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 </a:t>
                      </a:r>
                      <a:r>
                        <a:rPr lang="ar-SA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اللازمة </a:t>
                      </a: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لتثبيت نظام </a:t>
                      </a:r>
                      <a:r>
                        <a:rPr lang="en-US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CRM</a:t>
                      </a:r>
                    </a:p>
                  </a:txBody>
                  <a:tcPr marL="80250" marR="80250" marT="40125" marB="401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buNone/>
                      </a:pP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Careem" panose="00000500000000000000" pitchFamily="50" charset="-78"/>
                          <a:cs typeface="Tajawal" panose="00000500000000000000" pitchFamily="2" charset="-78"/>
                        </a:rPr>
                        <a:t>تحدي</a:t>
                      </a:r>
                      <a:endParaRPr lang="en-US" sz="9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Careem" panose="00000500000000000000" pitchFamily="50" charset="-78"/>
                          <a:cs typeface="Tajawal" panose="00000500000000000000" pitchFamily="2" charset="-78"/>
                        </a:rPr>
                        <a:t>الجدول الزمني</a:t>
                      </a:r>
                      <a:endParaRPr lang="en-US" sz="9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Careem" panose="00000500000000000000" pitchFamily="50" charset="-78"/>
                          <a:cs typeface="Tajawal" panose="00000500000000000000" pitchFamily="2" charset="-78"/>
                        </a:rPr>
                        <a:t>متطلبات تقنية</a:t>
                      </a:r>
                      <a:endParaRPr lang="en-US" sz="9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Careem" panose="00000500000000000000" pitchFamily="50" charset="-78"/>
                          <a:cs typeface="Tajawal" panose="00000500000000000000" pitchFamily="2" charset="-78"/>
                        </a:rPr>
                        <a:t>عالي</a:t>
                      </a:r>
                      <a:endParaRPr lang="en-US" sz="9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buNone/>
                      </a:pP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Careem" panose="00000500000000000000" pitchFamily="50" charset="-78"/>
                          <a:cs typeface="Tajawal" panose="00000500000000000000" pitchFamily="2" charset="-78"/>
                        </a:rPr>
                        <a:t>عالي</a:t>
                      </a:r>
                      <a:endParaRPr lang="en-US" sz="9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التنسيق المباشر مع فريق </a:t>
                      </a: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المديرية والمشتريات في نتويز </a:t>
                      </a:r>
                      <a:r>
                        <a:rPr lang="ar-SA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لتسريع إجراءات شراء وتفعيل رخص </a:t>
                      </a:r>
                      <a:r>
                        <a:rPr lang="en-US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 Microsoft</a:t>
                      </a:r>
                      <a:r>
                        <a:rPr lang="ar-SA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بشكل عاجل</a:t>
                      </a:r>
                      <a:endParaRPr lang="en-US" sz="9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80250" marR="80250" marT="40125" marB="401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23 أبريل 2026</a:t>
                      </a:r>
                      <a:endParaRPr lang="en-US" sz="9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طوعة السندي</a:t>
                      </a:r>
                      <a:endParaRPr lang="en-US" sz="9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قيد المعالجة</a:t>
                      </a:r>
                      <a:endParaRPr lang="en-US" sz="9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404742"/>
                  </a:ext>
                </a:extLst>
              </a:tr>
              <a:tr h="681984">
                <a:tc>
                  <a:txBody>
                    <a:bodyPr/>
                    <a:lstStyle/>
                    <a:p>
                      <a:pPr marL="0" marR="0" algn="ctr" rtl="1">
                        <a:buNone/>
                      </a:pPr>
                      <a:r>
                        <a:rPr lang="en-US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4</a:t>
                      </a: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إجراء تعديلات على</a:t>
                      </a: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 سير الأعمال المعتمدة بعد تطويرها.</a:t>
                      </a:r>
                      <a:endParaRPr lang="en-US" sz="9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80250" marR="80250" marT="40125" marB="401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Careem" panose="00000500000000000000" pitchFamily="50" charset="-78"/>
                          <a:cs typeface="Tajawal" panose="00000500000000000000" pitchFamily="2" charset="-78"/>
                        </a:rPr>
                        <a:t>تحدي</a:t>
                      </a:r>
                      <a:endParaRPr lang="en-US" sz="9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Careem" panose="00000500000000000000" pitchFamily="50" charset="-78"/>
                          <a:cs typeface="Tajawal" panose="00000500000000000000" pitchFamily="2" charset="-78"/>
                        </a:rPr>
                        <a:t>الجدول الزمني</a:t>
                      </a:r>
                      <a:endParaRPr lang="en-US" sz="9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Careem" panose="00000500000000000000" pitchFamily="50" charset="-78"/>
                          <a:cs typeface="Tajawal" panose="00000500000000000000" pitchFamily="2" charset="-78"/>
                        </a:rPr>
                        <a:t>نطاق المشروع</a:t>
                      </a:r>
                      <a:endParaRPr lang="en-US" sz="9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Careem" panose="00000500000000000000" pitchFamily="50" charset="-78"/>
                          <a:cs typeface="Tajawal" panose="00000500000000000000" pitchFamily="2" charset="-78"/>
                        </a:rPr>
                        <a:t>متوسط</a:t>
                      </a:r>
                      <a:endParaRPr lang="en-US" sz="9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buNone/>
                      </a:pP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Careem" panose="00000500000000000000" pitchFamily="50" charset="-78"/>
                          <a:cs typeface="Tajawal" panose="00000500000000000000" pitchFamily="2" charset="-78"/>
                        </a:rPr>
                        <a:t>عالي</a:t>
                      </a:r>
                      <a:endParaRPr lang="en-US" sz="9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مراجعة سير الأعمال المعتمدة للخدمات المطلوبة مع أصحاب المصلحة للتأكد من صحة المتطلبات قبل البدء بالتطوير.</a:t>
                      </a:r>
                    </a:p>
                  </a:txBody>
                  <a:tcPr marL="80250" marR="80250" marT="40125" marB="401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23 أبريل 2026</a:t>
                      </a:r>
                      <a:endParaRPr lang="en-US" sz="9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900" b="1" strike="noStrike" kern="10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عبدالله عليوات</a:t>
                      </a:r>
                      <a:endParaRPr lang="en-US" sz="9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LB" sz="9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قيد المعالجة</a:t>
                      </a:r>
                      <a:endParaRPr lang="en-US" sz="9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423927"/>
                  </a:ext>
                </a:extLst>
              </a:tr>
            </a:tbl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B94E41-8B8A-AA61-6760-8C1B0A79956D}"/>
              </a:ext>
            </a:extLst>
          </p:cNvPr>
          <p:cNvSpPr txBox="1">
            <a:spLocks/>
          </p:cNvSpPr>
          <p:nvPr/>
        </p:nvSpPr>
        <p:spPr>
          <a:xfrm>
            <a:off x="4476894" y="470647"/>
            <a:ext cx="3931947" cy="4182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ar-SA" b="1" dirty="0">
                <a:latin typeface="Tajawal" panose="00000500000000000000" pitchFamily="2" charset="-78"/>
                <a:cs typeface="Tajawal" panose="00000500000000000000" pitchFamily="2" charset="-78"/>
              </a:rPr>
              <a:t>التحديات والمخاطر</a:t>
            </a:r>
            <a:endParaRPr lang="en-US" b="1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53503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A13BE-B672-674B-61B3-92A35D005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944B0BF-5A0E-12A0-BEAB-BAC1BD2FED15}"/>
              </a:ext>
            </a:extLst>
          </p:cNvPr>
          <p:cNvSpPr txBox="1">
            <a:spLocks/>
          </p:cNvSpPr>
          <p:nvPr/>
        </p:nvSpPr>
        <p:spPr>
          <a:xfrm>
            <a:off x="11431560" y="6433840"/>
            <a:ext cx="442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en-US" sz="1100" b="0" i="0" kern="1200" smtClean="0">
                <a:solidFill>
                  <a:srgbClr val="173C69"/>
                </a:solidFill>
                <a:latin typeface="DIN Next LT Arabic Medium" panose="020B0503020203050203" pitchFamily="34" charset="-78"/>
                <a:ea typeface="Bahij TheSansArabic Plain" charset="0"/>
                <a:cs typeface="DIN Next LT Arabic Medium" panose="020B0503020203050203" pitchFamily="34" charset="-78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14BB5C-DD13-40B9-AE81-E3136D21A8E4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3C69"/>
                </a:solidFill>
                <a:effectLst/>
                <a:uLnTx/>
                <a:uFillTx/>
                <a:latin typeface="DIN Next LT Arabic Medium" panose="020B0503020203050203" pitchFamily="34" charset="-78"/>
                <a:cs typeface="DIN Next LT Arabic Medium" panose="020B0503020203050203" pitchFamily="34" charset="-78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173C69"/>
              </a:solidFill>
              <a:effectLst/>
              <a:uLnTx/>
              <a:uFillTx/>
              <a:latin typeface="DIN Next LT Arabic Medium" panose="020B0503020203050203" pitchFamily="34" charset="-78"/>
              <a:cs typeface="DIN Next LT Arabic Medium" panose="020B0503020203050203" pitchFamily="34" charset="-78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D79F21F-35E6-5ED6-BE67-D228BC4649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58552"/>
              </p:ext>
            </p:extLst>
          </p:nvPr>
        </p:nvGraphicFramePr>
        <p:xfrm>
          <a:off x="129752" y="967791"/>
          <a:ext cx="11744248" cy="3098205"/>
        </p:xfrm>
        <a:graphic>
          <a:graphicData uri="http://schemas.openxmlformats.org/drawingml/2006/table">
            <a:tbl>
              <a:tblPr rtl="1"/>
              <a:tblGrid>
                <a:gridCol w="395284">
                  <a:extLst>
                    <a:ext uri="{9D8B030D-6E8A-4147-A177-3AD203B41FA5}">
                      <a16:colId xmlns:a16="http://schemas.microsoft.com/office/drawing/2014/main" val="3084839455"/>
                    </a:ext>
                  </a:extLst>
                </a:gridCol>
                <a:gridCol w="2446031">
                  <a:extLst>
                    <a:ext uri="{9D8B030D-6E8A-4147-A177-3AD203B41FA5}">
                      <a16:colId xmlns:a16="http://schemas.microsoft.com/office/drawing/2014/main" val="3538399608"/>
                    </a:ext>
                  </a:extLst>
                </a:gridCol>
                <a:gridCol w="732272">
                  <a:extLst>
                    <a:ext uri="{9D8B030D-6E8A-4147-A177-3AD203B41FA5}">
                      <a16:colId xmlns:a16="http://schemas.microsoft.com/office/drawing/2014/main" val="1117559397"/>
                    </a:ext>
                  </a:extLst>
                </a:gridCol>
                <a:gridCol w="740006">
                  <a:extLst>
                    <a:ext uri="{9D8B030D-6E8A-4147-A177-3AD203B41FA5}">
                      <a16:colId xmlns:a16="http://schemas.microsoft.com/office/drawing/2014/main" val="1786511032"/>
                    </a:ext>
                  </a:extLst>
                </a:gridCol>
                <a:gridCol w="936987">
                  <a:extLst>
                    <a:ext uri="{9D8B030D-6E8A-4147-A177-3AD203B41FA5}">
                      <a16:colId xmlns:a16="http://schemas.microsoft.com/office/drawing/2014/main" val="3477820403"/>
                    </a:ext>
                  </a:extLst>
                </a:gridCol>
                <a:gridCol w="899720">
                  <a:extLst>
                    <a:ext uri="{9D8B030D-6E8A-4147-A177-3AD203B41FA5}">
                      <a16:colId xmlns:a16="http://schemas.microsoft.com/office/drawing/2014/main" val="1756986282"/>
                    </a:ext>
                  </a:extLst>
                </a:gridCol>
                <a:gridCol w="692092">
                  <a:extLst>
                    <a:ext uri="{9D8B030D-6E8A-4147-A177-3AD203B41FA5}">
                      <a16:colId xmlns:a16="http://schemas.microsoft.com/office/drawing/2014/main" val="304140057"/>
                    </a:ext>
                  </a:extLst>
                </a:gridCol>
                <a:gridCol w="2284209">
                  <a:extLst>
                    <a:ext uri="{9D8B030D-6E8A-4147-A177-3AD203B41FA5}">
                      <a16:colId xmlns:a16="http://schemas.microsoft.com/office/drawing/2014/main" val="606843151"/>
                    </a:ext>
                  </a:extLst>
                </a:gridCol>
                <a:gridCol w="950249">
                  <a:extLst>
                    <a:ext uri="{9D8B030D-6E8A-4147-A177-3AD203B41FA5}">
                      <a16:colId xmlns:a16="http://schemas.microsoft.com/office/drawing/2014/main" val="123063880"/>
                    </a:ext>
                  </a:extLst>
                </a:gridCol>
                <a:gridCol w="824016">
                  <a:extLst>
                    <a:ext uri="{9D8B030D-6E8A-4147-A177-3AD203B41FA5}">
                      <a16:colId xmlns:a16="http://schemas.microsoft.com/office/drawing/2014/main" val="1051928365"/>
                    </a:ext>
                  </a:extLst>
                </a:gridCol>
                <a:gridCol w="843382">
                  <a:extLst>
                    <a:ext uri="{9D8B030D-6E8A-4147-A177-3AD203B41FA5}">
                      <a16:colId xmlns:a16="http://schemas.microsoft.com/office/drawing/2014/main" val="3838902602"/>
                    </a:ext>
                  </a:extLst>
                </a:gridCol>
              </a:tblGrid>
              <a:tr h="3295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9pPr>
                    </a:lstStyle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#</a:t>
                      </a: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94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9pPr>
                    </a:lstStyle>
                    <a:p>
                      <a:pPr algn="ctr" fontAlgn="ctr"/>
                      <a:r>
                        <a:rPr lang="ar-J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وصف الخطر / </a:t>
                      </a:r>
                      <a:r>
                        <a:rPr lang="ar-SA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التحدي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94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r-SA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التصنيف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94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9pPr>
                    </a:lstStyle>
                    <a:p>
                      <a:pPr algn="ctr" fontAlgn="ctr"/>
                      <a:r>
                        <a:rPr lang="ar-J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النطاق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94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9pPr>
                    </a:lstStyle>
                    <a:p>
                      <a:pPr algn="ctr" fontAlgn="ctr"/>
                      <a:r>
                        <a:rPr lang="ar-J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الفئة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94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9pPr>
                    </a:lstStyle>
                    <a:p>
                      <a:pPr algn="ctr" fontAlgn="ctr"/>
                      <a:r>
                        <a:rPr lang="ar-J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الاحتمالية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94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9pPr>
                    </a:lstStyle>
                    <a:p>
                      <a:pPr algn="ctr" fontAlgn="ctr"/>
                      <a:r>
                        <a:rPr lang="ar-J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التأثير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94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9pPr>
                    </a:lstStyle>
                    <a:p>
                      <a:pPr algn="ctr" fontAlgn="ctr"/>
                      <a:r>
                        <a:rPr lang="ar-J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خطة المعالجة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94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r-SA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تاريخ الإغلاق المستهدف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94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</a:defRPr>
                      </a:lvl9pPr>
                    </a:lstStyle>
                    <a:p>
                      <a:pPr algn="ctr" fontAlgn="ctr"/>
                      <a:r>
                        <a:rPr lang="ar-J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المسؤول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94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r-J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الحالة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9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802366"/>
                  </a:ext>
                </a:extLst>
              </a:tr>
              <a:tr h="681984">
                <a:tc>
                  <a:txBody>
                    <a:bodyPr/>
                    <a:lstStyle/>
                    <a:p>
                      <a:pPr marL="0" marR="0" algn="ctr" rtl="1">
                        <a:buNone/>
                      </a:pPr>
                      <a:r>
                        <a:rPr lang="ar-LB" sz="10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Careem" panose="00000500000000000000" pitchFamily="50" charset="-78"/>
                          <a:cs typeface="Tajawal" panose="00000500000000000000" pitchFamily="2" charset="-78"/>
                        </a:rPr>
                        <a:t>6</a:t>
                      </a:r>
                      <a:endParaRPr lang="en-US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buNone/>
                      </a:pPr>
                      <a:endParaRPr lang="en-US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80250" marR="80250" marT="40125" marB="401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buNone/>
                      </a:pPr>
                      <a:endParaRPr lang="en-US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buNone/>
                      </a:pPr>
                      <a:endParaRPr lang="en-US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buNone/>
                      </a:pPr>
                      <a:endParaRPr lang="en-US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buNone/>
                      </a:pPr>
                      <a:endParaRPr lang="en-US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80250" marR="80250" marT="40125" marB="401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LB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027175"/>
                  </a:ext>
                </a:extLst>
              </a:tr>
              <a:tr h="681984">
                <a:tc>
                  <a:txBody>
                    <a:bodyPr/>
                    <a:lstStyle/>
                    <a:p>
                      <a:pPr marL="0" marR="0" algn="ctr" rtl="1">
                        <a:buNone/>
                      </a:pPr>
                      <a:r>
                        <a:rPr lang="ar-LB" sz="10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Careem" panose="00000500000000000000" pitchFamily="50" charset="-78"/>
                          <a:cs typeface="Tajawal" panose="00000500000000000000" pitchFamily="2" charset="-78"/>
                        </a:rPr>
                        <a:t>7</a:t>
                      </a:r>
                      <a:endParaRPr lang="en-US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80250" marR="80250" marT="40125" marB="401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buNone/>
                      </a:pPr>
                      <a:endParaRPr lang="en-US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buNone/>
                      </a:pPr>
                      <a:endParaRPr lang="en-US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buNone/>
                      </a:pPr>
                      <a:endParaRPr lang="en-US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endParaRPr lang="ar-SA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0250" marR="80250" marT="40125" marB="401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LB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488626"/>
                  </a:ext>
                </a:extLst>
              </a:tr>
              <a:tr h="681984">
                <a:tc>
                  <a:txBody>
                    <a:bodyPr/>
                    <a:lstStyle/>
                    <a:p>
                      <a:pPr marL="0" marR="0" algn="ctr" rtl="1">
                        <a:buNone/>
                      </a:pPr>
                      <a:r>
                        <a:rPr lang="ar-LB" sz="10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Careem" panose="00000500000000000000" pitchFamily="50" charset="-78"/>
                          <a:cs typeface="Tajawal" panose="00000500000000000000" pitchFamily="2" charset="-78"/>
                        </a:rPr>
                        <a:t>8</a:t>
                      </a:r>
                      <a:endParaRPr lang="en-US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buNone/>
                      </a:pPr>
                      <a:endParaRPr lang="en-US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80250" marR="80250" marT="40125" marB="401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buNone/>
                      </a:pPr>
                      <a:endParaRPr lang="en-US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buNone/>
                      </a:pPr>
                      <a:endParaRPr lang="en-US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buNone/>
                      </a:pPr>
                      <a:endParaRPr lang="en-US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80250" marR="80250" marT="40125" marB="401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LB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676041"/>
                  </a:ext>
                </a:extLst>
              </a:tr>
              <a:tr h="681984">
                <a:tc>
                  <a:txBody>
                    <a:bodyPr/>
                    <a:lstStyle/>
                    <a:p>
                      <a:pPr marL="0" marR="0" algn="ctr" rtl="1">
                        <a:buNone/>
                      </a:pPr>
                      <a:r>
                        <a:rPr lang="ar-LB" sz="1000" b="1" strike="noStrike" kern="100" dirty="0">
                          <a:solidFill>
                            <a:schemeClr val="tx1"/>
                          </a:solidFill>
                          <a:effectLst/>
                          <a:latin typeface="Tajawal" panose="00000500000000000000" pitchFamily="2" charset="-78"/>
                          <a:ea typeface="Careem" panose="00000500000000000000" pitchFamily="50" charset="-78"/>
                          <a:cs typeface="Tajawal" panose="00000500000000000000" pitchFamily="2" charset="-78"/>
                        </a:rPr>
                        <a:t>9</a:t>
                      </a:r>
                      <a:endParaRPr lang="en-US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80250" marR="80250" marT="40125" marB="401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buNone/>
                      </a:pPr>
                      <a:endParaRPr lang="en-US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buNone/>
                      </a:pPr>
                      <a:endParaRPr lang="en-US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3901" marR="3901" marT="39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Careem" panose="00000500000000000000" pitchFamily="50" charset="-78"/>
                        <a:cs typeface="Tajawal" panose="00000500000000000000" pitchFamily="2" charset="-78"/>
                      </a:endParaRPr>
                    </a:p>
                  </a:txBody>
                  <a:tcPr marL="80250" marR="80250" marT="40125" marB="401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LB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strike="noStrike" kern="100" dirty="0">
                        <a:solidFill>
                          <a:schemeClr val="tx1"/>
                        </a:solidFill>
                        <a:effectLst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4509" marR="4509" marT="45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200332"/>
                  </a:ext>
                </a:extLst>
              </a:tr>
            </a:tbl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28D187-CF38-AC7D-8220-A8EA55B0712E}"/>
              </a:ext>
            </a:extLst>
          </p:cNvPr>
          <p:cNvSpPr txBox="1">
            <a:spLocks/>
          </p:cNvSpPr>
          <p:nvPr/>
        </p:nvSpPr>
        <p:spPr>
          <a:xfrm>
            <a:off x="4476894" y="470647"/>
            <a:ext cx="3931947" cy="4182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ar-SA" b="1" dirty="0">
                <a:latin typeface="Tajawal" panose="00000500000000000000" pitchFamily="2" charset="-78"/>
                <a:cs typeface="Tajawal" panose="00000500000000000000" pitchFamily="2" charset="-78"/>
              </a:rPr>
              <a:t>التحديات والمخاطر</a:t>
            </a:r>
            <a:endParaRPr lang="en-US" b="1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75134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AC85EB2C-D32B-56F9-A5DF-DAE961B199DB}"/>
              </a:ext>
            </a:extLst>
          </p:cNvPr>
          <p:cNvSpPr txBox="1">
            <a:spLocks/>
          </p:cNvSpPr>
          <p:nvPr/>
        </p:nvSpPr>
        <p:spPr>
          <a:xfrm>
            <a:off x="5981700" y="2701586"/>
            <a:ext cx="5556068" cy="168342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1" kern="1200">
                <a:solidFill>
                  <a:schemeClr val="accent2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ar-JO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شكراً</a:t>
            </a:r>
            <a:endParaRPr lang="en-US" dirty="0">
              <a:solidFill>
                <a:schemeClr val="bg1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25610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BOX" val="Text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heme/theme1.xml><?xml version="1.0" encoding="utf-8"?>
<a:theme xmlns:a="http://schemas.openxmlformats.org/drawingml/2006/main" name="15_Custom Design">
  <a:themeElements>
    <a:clrScheme name="sami COLORS">
      <a:dk1>
        <a:sysClr val="windowText" lastClr="000000"/>
      </a:dk1>
      <a:lt1>
        <a:sysClr val="window" lastClr="FFFFFF"/>
      </a:lt1>
      <a:dk2>
        <a:srgbClr val="758592"/>
      </a:dk2>
      <a:lt2>
        <a:srgbClr val="EFF1F2"/>
      </a:lt2>
      <a:accent1>
        <a:srgbClr val="264B59"/>
      </a:accent1>
      <a:accent2>
        <a:srgbClr val="67818A"/>
      </a:accent2>
      <a:accent3>
        <a:srgbClr val="A8B7BD"/>
      </a:accent3>
      <a:accent4>
        <a:srgbClr val="60A731"/>
      </a:accent4>
      <a:accent5>
        <a:srgbClr val="8FC16E"/>
      </a:accent5>
      <a:accent6>
        <a:srgbClr val="BFDCAD"/>
      </a:accent6>
      <a:hlink>
        <a:srgbClr val="0563C1"/>
      </a:hlink>
      <a:folHlink>
        <a:srgbClr val="954F72"/>
      </a:folHlink>
    </a:clrScheme>
    <a:fontScheme name="Smar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C000"/>
        </a:solidFill>
        <a:ln>
          <a:noFill/>
        </a:ln>
        <a:effectLst/>
      </a:spPr>
      <a:bodyPr/>
      <a:lstStyle>
        <a:defPPr eaLnBrk="0" fontAlgn="base" hangingPunct="0">
          <a:spcBef>
            <a:spcPct val="0"/>
          </a:spcBef>
          <a:spcAft>
            <a:spcPct val="0"/>
          </a:spcAft>
          <a:buClr>
            <a:srgbClr val="000000"/>
          </a:buClr>
          <a:buFont typeface="Wingdings" pitchFamily="2" charset="2"/>
          <a:buNone/>
          <a:defRPr sz="1200" dirty="0" smtClean="0">
            <a:solidFill>
              <a:srgbClr val="000000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ction-Cover">
  <a:themeElements>
    <a:clrScheme name="Custom 2">
      <a:dk1>
        <a:sysClr val="windowText" lastClr="000000"/>
      </a:dk1>
      <a:lt1>
        <a:sysClr val="window" lastClr="FFFFFF"/>
      </a:lt1>
      <a:dk2>
        <a:srgbClr val="274E5A"/>
      </a:dk2>
      <a:lt2>
        <a:srgbClr val="E7E6E6"/>
      </a:lt2>
      <a:accent1>
        <a:srgbClr val="274E5A"/>
      </a:accent1>
      <a:accent2>
        <a:srgbClr val="64A830"/>
      </a:accent2>
      <a:accent3>
        <a:srgbClr val="16393F"/>
      </a:accent3>
      <a:accent4>
        <a:srgbClr val="A7AFAF"/>
      </a:accent4>
      <a:accent5>
        <a:srgbClr val="E15D1A"/>
      </a:accent5>
      <a:accent6>
        <a:srgbClr val="E3C11C"/>
      </a:accent6>
      <a:hlink>
        <a:srgbClr val="0563C1"/>
      </a:hlink>
      <a:folHlink>
        <a:srgbClr val="954F72"/>
      </a:folHlink>
    </a:clrScheme>
    <a:fontScheme name="AEC-Font">
      <a:majorFont>
        <a:latin typeface="DIN Next LT Arabic"/>
        <a:ea typeface=""/>
        <a:cs typeface="DIN Next LT Arabic"/>
      </a:majorFont>
      <a:minorFont>
        <a:latin typeface="DIN Next LT Arabic Light"/>
        <a:ea typeface=""/>
        <a:cs typeface="DIN Next LT Arabic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titus xmlns="http://schemas.titus.com/TitusProperties/">
  <TitusGUID xmlns="">da3fd4bd-3c74-41fb-aefe-bdea1505ffcb</TitusGUID>
  <TitusMetadata xmlns="">eyJucyI6Imh0dHA6XC9cL3d3dy50aXR1cy5jb21cL25zXC9BRUNMIiwicHJvcHMiOlt7Im4iOiJDbGFzc2lmaWNhdGlvbiIsInZhbHMiOlt7InZhbHVlIjoiUHVibGljIn1dfSx7Im4iOiJTdWJDbGFzc2lmaWNhdGlvbnMiLCJ2YWxzIjpbXX0seyJuIjoiUTEiLCJ2YWxzIjpbXX0seyJuIjoiUTIiLCJ2YWxzIjpbXX0seyJuIjoiUTMiLCJ2YWxzIjpbXX1dfQ==</TitusMetadata>
</titu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81E8A2C7F4D73409E726A83D9035E32" ma:contentTypeVersion="20" ma:contentTypeDescription="Create a new document." ma:contentTypeScope="" ma:versionID="4dc0d797b480c96348fd580e02a3b9f5">
  <xsd:schema xmlns:xsd="http://www.w3.org/2001/XMLSchema" xmlns:xs="http://www.w3.org/2001/XMLSchema" xmlns:p="http://schemas.microsoft.com/office/2006/metadata/properties" xmlns:ns2="75c39eae-9c93-41b1-b8c9-ae8f1746711e" xmlns:ns3="0d596873-1791-4cfb-94b2-4eba9b024fb9" targetNamespace="http://schemas.microsoft.com/office/2006/metadata/properties" ma:root="true" ma:fieldsID="21048fedbccc4335d5466b3adbef5022" ns2:_="" ns3:_="">
    <xsd:import namespace="75c39eae-9c93-41b1-b8c9-ae8f1746711e"/>
    <xsd:import namespace="0d596873-1791-4cfb-94b2-4eba9b024f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ShowOnline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c39eae-9c93-41b1-b8c9-ae8f174671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ShowOnline" ma:index="18" nillable="true" ma:displayName="Show Online" ma:format="Dropdown" ma:internalName="ShowOnline">
      <xsd:simpleType>
        <xsd:restriction base="dms:Choice">
          <xsd:enumeration value="Yes"/>
          <xsd:enumeration value="No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5b3b2153-8899-49fd-bb67-1ae31c83c0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6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596873-1791-4cfb-94b2-4eba9b024fb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e0eed8e5-7b46-49c6-9ec7-4835dddce3c2}" ma:internalName="TaxCatchAll" ma:showField="CatchAllData" ma:web="0d596873-1791-4cfb-94b2-4eba9b024f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sisl xmlns:xsd="http://www.w3.org/2001/XMLSchema" xmlns:xsi="http://www.w3.org/2001/XMLSchema-instance" xmlns="http://www.boldonjames.com/2008/01/sie/internal/label" sislVersion="0" policy="0f0093bf-7bd3-4a50-b8f1-ade39314890d" origin="userSelected">
  <element uid="id_classification_nonbusiness" value=""/>
</sisl>
</file>

<file path=customXml/item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d596873-1791-4cfb-94b2-4eba9b024fb9" xsi:nil="true"/>
    <ShowOnline xmlns="75c39eae-9c93-41b1-b8c9-ae8f1746711e" xsi:nil="true"/>
    <lcf76f155ced4ddcb4097134ff3c332f xmlns="75c39eae-9c93-41b1-b8c9-ae8f1746711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1B49181-D8E0-446B-9827-0431DADBB668}">
  <ds:schemaRefs>
    <ds:schemaRef ds:uri="http://schemas.titus.com/TitusProperties/"/>
    <ds:schemaRef ds:uri=""/>
  </ds:schemaRefs>
</ds:datastoreItem>
</file>

<file path=customXml/itemProps2.xml><?xml version="1.0" encoding="utf-8"?>
<ds:datastoreItem xmlns:ds="http://schemas.openxmlformats.org/officeDocument/2006/customXml" ds:itemID="{0D6FEBA2-E52A-4A81-B390-8EC99BDA36C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00BA57-CD0B-47E5-AAC0-893EEF79E7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c39eae-9c93-41b1-b8c9-ae8f1746711e"/>
    <ds:schemaRef ds:uri="0d596873-1791-4cfb-94b2-4eba9b024f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C8F85322-69A5-47FB-94AC-1F9B08E9726E}">
  <ds:schemaRefs>
    <ds:schemaRef ds:uri="http://www.boldonjames.com/2008/01/sie/internal/label"/>
    <ds:schemaRef ds:uri="http://www.w3.org/2001/XMLSchema"/>
  </ds:schemaRefs>
</ds:datastoreItem>
</file>

<file path=customXml/itemProps5.xml><?xml version="1.0" encoding="utf-8"?>
<ds:datastoreItem xmlns:ds="http://schemas.openxmlformats.org/officeDocument/2006/customXml" ds:itemID="{0328ABCE-D074-454F-8400-19DB35CBF3B2}">
  <ds:schemaRefs>
    <ds:schemaRef ds:uri="http://www.w3.org/XML/1998/namespace"/>
    <ds:schemaRef ds:uri="http://purl.org/dc/elements/1.1/"/>
    <ds:schemaRef ds:uri="http://schemas.microsoft.com/office/2006/documentManagement/types"/>
    <ds:schemaRef ds:uri="0d596873-1791-4cfb-94b2-4eba9b024fb9"/>
    <ds:schemaRef ds:uri="http://purl.org/dc/terms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75c39eae-9c93-41b1-b8c9-ae8f1746711e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2ab2b5d0-18af-4aa0-9010-cb69d0c7b92f}" enabled="0" method="" siteId="{2ab2b5d0-18af-4aa0-9010-cb69d0c7b92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17604</TotalTime>
  <Words>1936</Words>
  <Application>Microsoft Office PowerPoint</Application>
  <PresentationFormat>Widescreen</PresentationFormat>
  <Paragraphs>691</Paragraphs>
  <Slides>16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30" baseType="lpstr">
      <vt:lpstr>Sakkal Majalla</vt:lpstr>
      <vt:lpstr>DIN Next LT Arabic Light</vt:lpstr>
      <vt:lpstr>Arial</vt:lpstr>
      <vt:lpstr>DIN Next LT Arabic</vt:lpstr>
      <vt:lpstr>DIN Next LT Arabic Medium</vt:lpstr>
      <vt:lpstr>Tajawal</vt:lpstr>
      <vt:lpstr>Symbol</vt:lpstr>
      <vt:lpstr>Wingdings</vt:lpstr>
      <vt:lpstr>Microsoft Sans Serif</vt:lpstr>
      <vt:lpstr>Tahoma</vt:lpstr>
      <vt:lpstr>Calibri</vt:lpstr>
      <vt:lpstr>15_Custom Design</vt:lpstr>
      <vt:lpstr>Section-Cover</vt:lpstr>
      <vt:lpstr>think-cell Slide</vt:lpstr>
      <vt:lpstr>مشروع اتمتة إجراءات نزلاء السجون</vt:lpstr>
      <vt:lpstr>جدول الأعمال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 Faisal Hasan</dc:creator>
  <cp:keywords>Public</cp:keywords>
  <cp:lastModifiedBy>Tawah Hussain Alsindi</cp:lastModifiedBy>
  <cp:revision>46</cp:revision>
  <cp:lastPrinted>2022-04-20T13:48:27Z</cp:lastPrinted>
  <dcterms:created xsi:type="dcterms:W3CDTF">2022-02-03T07:03:21Z</dcterms:created>
  <dcterms:modified xsi:type="dcterms:W3CDTF">2026-04-21T14:00:30Z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411874e8-b541-43bc-b15f-091ef28bad87</vt:lpwstr>
  </property>
  <property fmtid="{D5CDD505-2E9C-101B-9397-08002B2CF9AE}" pid="3" name="bjClsUserRVM">
    <vt:lpwstr>[]</vt:lpwstr>
  </property>
  <property fmtid="{D5CDD505-2E9C-101B-9397-08002B2CF9AE}" pid="4" name="bjSaver">
    <vt:lpwstr>IuC2d3OPmEj8hCY526hD6329m6sjwQVm</vt:lpwstr>
  </property>
  <property fmtid="{D5CDD505-2E9C-101B-9397-08002B2CF9AE}" pid="5" name="_dlc_DocIdItemGuid">
    <vt:lpwstr>d819ca3c-d16c-45b8-8b64-a17aabb08a70</vt:lpwstr>
  </property>
  <property fmtid="{D5CDD505-2E9C-101B-9397-08002B2CF9AE}" pid="6" name="ContentTypeId">
    <vt:lpwstr>0x010100F81E8A2C7F4D73409E726A83D9035E32</vt:lpwstr>
  </property>
  <property fmtid="{D5CDD505-2E9C-101B-9397-08002B2CF9AE}" pid="7" name="bjDocumentLabelXML">
    <vt:lpwstr>&lt;?xml version="1.0" encoding="us-ascii"?&gt;&lt;sisl xmlns:xsd="http://www.w3.org/2001/XMLSchema" xmlns:xsi="http://www.w3.org/2001/XMLSchema-instance" sislVersion="0" policy="0f0093bf-7bd3-4a50-b8f1-ade39314890d" origin="userSelected" xmlns="http://www.boldonj</vt:lpwstr>
  </property>
  <property fmtid="{D5CDD505-2E9C-101B-9397-08002B2CF9AE}" pid="8" name="bjDocumentLabelXML-0">
    <vt:lpwstr>ames.com/2008/01/sie/internal/label"&gt;&lt;element uid="id_classification_nonbusiness" value="" /&gt;&lt;/sisl&gt;</vt:lpwstr>
  </property>
  <property fmtid="{D5CDD505-2E9C-101B-9397-08002B2CF9AE}" pid="9" name="DLP_Prop">
    <vt:lpwstr>GENERALaec123654789</vt:lpwstr>
  </property>
  <property fmtid="{D5CDD505-2E9C-101B-9397-08002B2CF9AE}" pid="10" name="_2015_ms_pID_725343">
    <vt:lpwstr>(2)sAV9L5ptbExdnzgcrvHkR2ohRzXB6by5PitS2e18m2375tEe1dOp2OfEJgQDLoESmxzXzlx/
+9hXlX2o7szRdmcYseJbc1YGucp/IugdKhBIOXTMcBwJWNiomuweXEnYRVejHVPib4ZCi1u7
czN068NCES29Cje/9qcB8jku0cMTfQYSOqF0PzpM915B3VT5hkpBdJ5pDYMzHsZ9DntTBhLr
nL4IyMrtbP8nHq3hEt</vt:lpwstr>
  </property>
  <property fmtid="{D5CDD505-2E9C-101B-9397-08002B2CF9AE}" pid="11" name="_2015_ms_pID_7253431">
    <vt:lpwstr>Jbq0/uxGRzXA83jnsp1j8V6GWT1Tbsfp/RFmxckfBfGZsnx0yXtU6d
q9c7fv2vzR5sei7JVyjkxyZuHDRSi2tYwSwE8NOOSuSEbCsMKwUL6mkerIBaHxVduC2tlvbV
FT7C2QpTQ3bL/vwtnvBO9chmnzdg4f4hTJZGITtTcHXzxvULQhKnqpo1DcnoZJYn6us=</vt:lpwstr>
  </property>
  <property fmtid="{D5CDD505-2E9C-101B-9397-08002B2CF9AE}" pid="12" name="bjDocumentSecurityLabel">
    <vt:lpwstr>AEC General</vt:lpwstr>
  </property>
  <property fmtid="{D5CDD505-2E9C-101B-9397-08002B2CF9AE}" pid="13" name="MSIP_Label_ce7ded32-6a8c-48b8-8009-ebf9a4e0e083_Enabled">
    <vt:lpwstr>true</vt:lpwstr>
  </property>
  <property fmtid="{D5CDD505-2E9C-101B-9397-08002B2CF9AE}" pid="14" name="MSIP_Label_ce7ded32-6a8c-48b8-8009-ebf9a4e0e083_SetDate">
    <vt:lpwstr>2024-08-27T08:47:30Z</vt:lpwstr>
  </property>
  <property fmtid="{D5CDD505-2E9C-101B-9397-08002B2CF9AE}" pid="15" name="MSIP_Label_ce7ded32-6a8c-48b8-8009-ebf9a4e0e083_Method">
    <vt:lpwstr>Privileged</vt:lpwstr>
  </property>
  <property fmtid="{D5CDD505-2E9C-101B-9397-08002B2CF9AE}" pid="16" name="MSIP_Label_ce7ded32-6a8c-48b8-8009-ebf9a4e0e083_Name">
    <vt:lpwstr>Public - Public</vt:lpwstr>
  </property>
  <property fmtid="{D5CDD505-2E9C-101B-9397-08002B2CF9AE}" pid="17" name="MSIP_Label_ce7ded32-6a8c-48b8-8009-ebf9a4e0e083_SiteId">
    <vt:lpwstr>258ac4e4-146a-411e-9dc8-79a9e12fd6da</vt:lpwstr>
  </property>
  <property fmtid="{D5CDD505-2E9C-101B-9397-08002B2CF9AE}" pid="18" name="MSIP_Label_ce7ded32-6a8c-48b8-8009-ebf9a4e0e083_ActionId">
    <vt:lpwstr>49cc7c57-2ab0-4c86-bc1d-963966a18741</vt:lpwstr>
  </property>
  <property fmtid="{D5CDD505-2E9C-101B-9397-08002B2CF9AE}" pid="19" name="MSIP_Label_ce7ded32-6a8c-48b8-8009-ebf9a4e0e083_ContentBits">
    <vt:lpwstr>2</vt:lpwstr>
  </property>
  <property fmtid="{D5CDD505-2E9C-101B-9397-08002B2CF9AE}" pid="20" name="ClassificationContentMarkingFooterLocations">
    <vt:lpwstr>15_Custom Design:5\Section-Cover:5</vt:lpwstr>
  </property>
  <property fmtid="{D5CDD505-2E9C-101B-9397-08002B2CF9AE}" pid="21" name="ClassificationContentMarkingFooterText">
    <vt:lpwstr>Public</vt:lpwstr>
  </property>
  <property fmtid="{D5CDD505-2E9C-101B-9397-08002B2CF9AE}" pid="22" name="MediaServiceImageTags">
    <vt:lpwstr/>
  </property>
  <property fmtid="{D5CDD505-2E9C-101B-9397-08002B2CF9AE}" pid="23" name="MSIP_Label_b2fae407-4b8d-49dd-87fa-7fc033d56e94_Enabled">
    <vt:lpwstr>true</vt:lpwstr>
  </property>
  <property fmtid="{D5CDD505-2E9C-101B-9397-08002B2CF9AE}" pid="24" name="MSIP_Label_b2fae407-4b8d-49dd-87fa-7fc033d56e94_SetDate">
    <vt:lpwstr>2025-06-23T16:47:36Z</vt:lpwstr>
  </property>
  <property fmtid="{D5CDD505-2E9C-101B-9397-08002B2CF9AE}" pid="25" name="MSIP_Label_b2fae407-4b8d-49dd-87fa-7fc033d56e94_Method">
    <vt:lpwstr>Standard</vt:lpwstr>
  </property>
  <property fmtid="{D5CDD505-2E9C-101B-9397-08002B2CF9AE}" pid="26" name="MSIP_Label_b2fae407-4b8d-49dd-87fa-7fc033d56e94_Name">
    <vt:lpwstr>Internal</vt:lpwstr>
  </property>
  <property fmtid="{D5CDD505-2E9C-101B-9397-08002B2CF9AE}" pid="27" name="MSIP_Label_b2fae407-4b8d-49dd-87fa-7fc033d56e94_SiteId">
    <vt:lpwstr>8fe94e75-6aa9-404b-9267-693f48be5081</vt:lpwstr>
  </property>
  <property fmtid="{D5CDD505-2E9C-101B-9397-08002B2CF9AE}" pid="28" name="MSIP_Label_b2fae407-4b8d-49dd-87fa-7fc033d56e94_ActionId">
    <vt:lpwstr>1f289f94-5ccc-4466-aab6-326fdb554d90</vt:lpwstr>
  </property>
  <property fmtid="{D5CDD505-2E9C-101B-9397-08002B2CF9AE}" pid="29" name="MSIP_Label_b2fae407-4b8d-49dd-87fa-7fc033d56e94_ContentBits">
    <vt:lpwstr>0</vt:lpwstr>
  </property>
  <property fmtid="{D5CDD505-2E9C-101B-9397-08002B2CF9AE}" pid="30" name="TaxKeyword">
    <vt:lpwstr>1;#AEC General|8a73b0a6-2ad2-4d74-9866-d7da8cc6e93f</vt:lpwstr>
  </property>
  <property fmtid="{D5CDD505-2E9C-101B-9397-08002B2CF9AE}" pid="31" name="TitusGUID">
    <vt:lpwstr>da3fd4bd-3c74-41fb-aefe-bdea1505ffcb</vt:lpwstr>
  </property>
  <property fmtid="{D5CDD505-2E9C-101B-9397-08002B2CF9AE}" pid="32" name="Classification">
    <vt:lpwstr>Public</vt:lpwstr>
  </property>
</Properties>
</file>